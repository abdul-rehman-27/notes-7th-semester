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940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096183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means designing a system so that people with different abilities can access its information and use its functions.</a:t>
            </a:r>
            <a:endParaRPr lang="en-US" sz="1200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1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3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4.png"/><Relationship Id="rId4" Type="http://schemas.openxmlformats.org/officeDocument/2006/relationships/image" Target="../media/image2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26.png"/><Relationship Id="rId4" Type="http://schemas.openxmlformats.org/officeDocument/2006/relationships/image" Target="../media/image18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5" Type="http://schemas.openxmlformats.org/officeDocument/2006/relationships/image" Target="../media/image17.png"/><Relationship Id="rId4" Type="http://schemas.openxmlformats.org/officeDocument/2006/relationships/image" Target="../media/image28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18.png"/><Relationship Id="rId4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88952" cy="1965960"/>
          </a:xfrm>
          <a:prstGeom prst="rect">
            <a:avLst/>
          </a:prstGeom>
          <a:solidFill>
            <a:srgbClr val="16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4" name="Image 0" descr="/home/claude/work/icons/universalAcc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3486" y="913486"/>
            <a:ext cx="641909" cy="641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HUMAN-COMPUTER INTERACTION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Guidelines in HCI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digital systems that work for people of every ability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5257800"/>
            <a:ext cx="2011680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440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Perceivable  ·  Operable  ·  Understandable  ·  Robust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We’ll Cover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OUTLINE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roadmap through why accessibility matters, the POUR framework, and how to put it into practice.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49808" y="183794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EC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1508760" y="1837944"/>
            <a:ext cx="4174236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Accessibility Matters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508760" y="2221992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Foundations, definitions, and who accessibility is really for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323076" y="1691640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524244" y="1837944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EC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7283196" y="1837944"/>
            <a:ext cx="4174236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vs. Usability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7283196" y="2221992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the two ideas relate — and where they differ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090672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49808" y="32369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EC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3000" dirty="0"/>
          </a:p>
        </p:txBody>
      </p:sp>
      <p:sp>
        <p:nvSpPr>
          <p:cNvPr id="15" name="Text 13"/>
          <p:cNvSpPr/>
          <p:nvPr/>
        </p:nvSpPr>
        <p:spPr>
          <a:xfrm>
            <a:off x="1508760" y="3236976"/>
            <a:ext cx="4174236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Types of Accessibility Needs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1508760" y="3621024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Visual, auditory, motor, cognitive, and speech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6323076" y="3090672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524244" y="3236976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EC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3000" dirty="0"/>
          </a:p>
        </p:txBody>
      </p:sp>
      <p:sp>
        <p:nvSpPr>
          <p:cNvPr id="19" name="Text 17"/>
          <p:cNvSpPr/>
          <p:nvPr/>
        </p:nvSpPr>
        <p:spPr>
          <a:xfrm>
            <a:off x="7283196" y="3236976"/>
            <a:ext cx="4174236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&amp; the POUR Framework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283196" y="3621024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Perceivable, Operable, Understandable, Robust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48640" y="4489704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749808" y="4636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EC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05</a:t>
            </a:r>
            <a:endParaRPr lang="en-US" sz="3000" dirty="0"/>
          </a:p>
        </p:txBody>
      </p:sp>
      <p:sp>
        <p:nvSpPr>
          <p:cNvPr id="23" name="Text 21"/>
          <p:cNvSpPr/>
          <p:nvPr/>
        </p:nvSpPr>
        <p:spPr>
          <a:xfrm>
            <a:off x="1508760" y="4636008"/>
            <a:ext cx="4174236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Assistive Technology &amp; Conformance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508760" y="5020056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people use, and how standards are graded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6323076" y="4489704"/>
            <a:ext cx="5317236" cy="1234440"/>
          </a:xfrm>
          <a:prstGeom prst="roundRect">
            <a:avLst>
              <a:gd name="adj" fmla="val 5926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524244" y="4636008"/>
            <a:ext cx="8229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AEC3E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06</a:t>
            </a:r>
            <a:endParaRPr lang="en-US" sz="3000" dirty="0"/>
          </a:p>
        </p:txBody>
      </p:sp>
      <p:sp>
        <p:nvSpPr>
          <p:cNvPr id="27" name="Text 25"/>
          <p:cNvSpPr/>
          <p:nvPr/>
        </p:nvSpPr>
        <p:spPr>
          <a:xfrm>
            <a:off x="7283196" y="4636008"/>
            <a:ext cx="4174236" cy="384048"/>
          </a:xfrm>
          <a:prstGeom prst="rect">
            <a:avLst/>
          </a:prstGeom>
          <a:noFill/>
          <a:ln/>
        </p:spPr>
        <p:txBody>
          <a:bodyPr wrap="square" rtlCol="0" anchor="b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Into Practice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7283196" y="5020056"/>
            <a:ext cx="4174236" cy="594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process, testing, common mistakes, and who owns it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Accessibility Matters in HCI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1097280"/>
            <a:ext cx="6492240" cy="5029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Human-Computer Interaction (HCI) studies how people use computers, software, websites, apps, and other interactive systems.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system can be attractive and fast for one person, yet difficult or impossible for another — the experience is not the same for everyone.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website built entirely around visual information can shut out a person who is blind. A video with sound but no captions can leave out someone who is deaf or hard of hearing.</a:t>
            </a:r>
            <a:endParaRPr lang="en-US" sz="1400" dirty="0"/>
          </a:p>
          <a:p>
            <a:pPr marL="228600" indent="-228600">
              <a:lnSpc>
                <a:spcPct val="115000"/>
              </a:lnSpc>
              <a:spcAft>
                <a:spcPts val="2200"/>
              </a:spcAft>
              <a:buSzPct val="100000"/>
              <a:buChar char="●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HCI design considers different users and different ways of interacting with technology, instead of designing for one "typical" user.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7315200" y="1051560"/>
            <a:ext cx="4325112" cy="5074920"/>
          </a:xfrm>
          <a:prstGeom prst="roundRect">
            <a:avLst>
              <a:gd name="adj" fmla="val 1691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7680960" y="1417320"/>
            <a:ext cx="731520" cy="73152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7" name="Image 0" descr="/home/claude/work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68742" y="1505102"/>
            <a:ext cx="555955" cy="555955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680960" y="233172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design.</a:t>
            </a:r>
            <a:endParaRPr lang="en-US" sz="1800" dirty="0"/>
          </a:p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Many different ways of experiencing it.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7680960" y="3520440"/>
            <a:ext cx="356616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HCI asks designers to think beyond a single "typical" user — and to widen the circle of who a product truly works for.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11" name="Text 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Defining Accessibility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051560"/>
            <a:ext cx="5317236" cy="3429000"/>
          </a:xfrm>
          <a:prstGeom prst="roundRect">
            <a:avLst>
              <a:gd name="adj" fmla="val 2133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22960" y="1325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work/icons/boo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4283" y="139720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389888"/>
            <a:ext cx="4311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Definition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2011680"/>
            <a:ext cx="4768596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Designing and developing websites, tools, and technologies so that people with disabilities can use them.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22960" y="2971800"/>
            <a:ext cx="4768596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400" dirty="0">
                <a:effectLst/>
                <a:latin typeface="Calibri" panose="020B0604020202020204" pitchFamily="34" charset="0"/>
                <a:ea typeface="Calibri" panose="02020609040205080304" pitchFamily="49" charset="-128"/>
                <a:cs typeface="Calibri" panose="02020603050405020304" pitchFamily="18" charset="0"/>
              </a:rPr>
              <a:t>More specifically, people should be able to perceive, understand, navigate, and interact with the Web and contribute to it.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10" name="Text 7"/>
          <p:cNvSpPr/>
          <p:nvPr/>
        </p:nvSpPr>
        <p:spPr>
          <a:xfrm>
            <a:off x="822960" y="4114800"/>
            <a:ext cx="47685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W3C, Introduction to Web Accessibility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323076" y="1051560"/>
            <a:ext cx="5317236" cy="3429000"/>
          </a:xfrm>
          <a:prstGeom prst="roundRect">
            <a:avLst>
              <a:gd name="adj" fmla="val 2133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597396" y="1325880"/>
            <a:ext cx="548640" cy="54864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3" name="Image 1" descr="/home/claude/work/icons/shieldAl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8719" y="1397203"/>
            <a:ext cx="405994" cy="405994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7283196" y="1389888"/>
            <a:ext cx="4311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9241-171:2025</a:t>
            </a:r>
            <a:endParaRPr lang="en-US" sz="1700" dirty="0"/>
          </a:p>
        </p:txBody>
      </p:sp>
      <p:sp>
        <p:nvSpPr>
          <p:cNvPr id="15" name="Text 11"/>
          <p:cNvSpPr/>
          <p:nvPr/>
        </p:nvSpPr>
        <p:spPr>
          <a:xfrm>
            <a:off x="6597396" y="2011680"/>
            <a:ext cx="4768596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"Ergonomics of human-system interaction — Part 171: Software accessibility."</a:t>
            </a:r>
            <a:endParaRPr lang="en-US" sz="1350" dirty="0"/>
          </a:p>
        </p:txBody>
      </p:sp>
      <p:sp>
        <p:nvSpPr>
          <p:cNvPr id="16" name="Text 12"/>
          <p:cNvSpPr/>
          <p:nvPr/>
        </p:nvSpPr>
        <p:spPr>
          <a:xfrm>
            <a:off x="6597396" y="2788920"/>
            <a:ext cx="4768596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Gives rules and guidelines for making software accessible to people with different physical, sensory, and thinking abilities — including people who are disabled for a short time or in certain situations, and older people.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6597396" y="4114800"/>
            <a:ext cx="4768596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ISO 9241-171:2025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22" name="Text 18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Isn’t Only for Permanent Disabilities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IT’S FOR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also experience temporary and situational limitations — and accessible design helps all three groups.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3392424" cy="4023360"/>
          </a:xfrm>
          <a:prstGeom prst="roundRect">
            <a:avLst>
              <a:gd name="adj" fmla="val 2156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6" name="Shape 4"/>
          <p:cNvSpPr/>
          <p:nvPr/>
        </p:nvSpPr>
        <p:spPr>
          <a:xfrm>
            <a:off x="1924812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work/icons/wheelchai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8022" y="1957730"/>
            <a:ext cx="473659" cy="473659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31520" y="265176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Permanent</a:t>
            </a:r>
            <a:endParaRPr lang="en-US" sz="1600" dirty="0"/>
          </a:p>
        </p:txBody>
      </p:sp>
      <p:sp>
        <p:nvSpPr>
          <p:cNvPr id="9" name="Shape 6"/>
          <p:cNvSpPr/>
          <p:nvPr/>
        </p:nvSpPr>
        <p:spPr>
          <a:xfrm>
            <a:off x="868680" y="3227832"/>
            <a:ext cx="73152" cy="7315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0" name="Text 7"/>
          <p:cNvSpPr/>
          <p:nvPr/>
        </p:nvSpPr>
        <p:spPr>
          <a:xfrm>
            <a:off x="1051560" y="3154680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tabLst>
                <a:tab pos="228600" algn="l"/>
              </a:tabLst>
            </a:pPr>
            <a:r>
              <a:rPr lang="en-US" sz="1250" dirty="0">
                <a:effectLst/>
                <a:latin typeface="Calibri" panose="020B0604020202020204" pitchFamily="34" charset="0"/>
                <a:ea typeface="Calibri" panose="02020609040205080304" pitchFamily="49" charset="-128"/>
                <a:cs typeface="Calibri" panose="02020603050405020304" pitchFamily="18" charset="0"/>
              </a:rPr>
              <a:t>A person who is blind.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794760"/>
            <a:ext cx="73152" cy="7315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2" name="Text 9"/>
          <p:cNvSpPr/>
          <p:nvPr/>
        </p:nvSpPr>
        <p:spPr>
          <a:xfrm>
            <a:off x="1051560" y="3721608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dirty="0">
                <a:effectLst/>
                <a:latin typeface="Calibri" panose="020B0604020202020204" pitchFamily="34" charset="0"/>
                <a:ea typeface="Calibri" panose="02020609040205080304" pitchFamily="49" charset="-128"/>
                <a:cs typeface="Calibri" panose="02020603050405020304" pitchFamily="18" charset="0"/>
              </a:rPr>
              <a:t>A person who is deaf.</a:t>
            </a:r>
          </a:p>
          <a:p>
            <a:pPr marL="0" indent="0">
              <a:buNone/>
            </a:pPr>
            <a:endParaRPr lang="en-US" sz="1350" dirty="0"/>
          </a:p>
        </p:txBody>
      </p:sp>
      <p:sp>
        <p:nvSpPr>
          <p:cNvPr id="13" name="Shape 10"/>
          <p:cNvSpPr/>
          <p:nvPr/>
        </p:nvSpPr>
        <p:spPr>
          <a:xfrm>
            <a:off x="868680" y="4361688"/>
            <a:ext cx="73152" cy="7315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4" name="Text 11"/>
          <p:cNvSpPr/>
          <p:nvPr/>
        </p:nvSpPr>
        <p:spPr>
          <a:xfrm>
            <a:off x="1051560" y="4288536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r>
              <a:rPr lang="en-US" sz="1250" dirty="0">
                <a:effectLst/>
                <a:latin typeface="Calibri" panose="020B0604020202020204" pitchFamily="34" charset="0"/>
                <a:ea typeface="Calibri" panose="02020609040205080304" pitchFamily="49" charset="-128"/>
                <a:cs typeface="Calibri" panose="02020603050405020304" pitchFamily="18" charset="0"/>
              </a:rPr>
              <a:t>A person with limited movement.</a:t>
            </a:r>
          </a:p>
          <a:p>
            <a:pPr marL="0" indent="0">
              <a:buNone/>
            </a:pP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4928616"/>
            <a:ext cx="73152" cy="7315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16" name="Text 13"/>
          <p:cNvSpPr/>
          <p:nvPr/>
        </p:nvSpPr>
        <p:spPr>
          <a:xfrm>
            <a:off x="1051560" y="4855464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R="0" lvl="0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  <a:tabLst>
                <a:tab pos="228600" algn="l"/>
              </a:tabLst>
            </a:pPr>
            <a:r>
              <a:rPr lang="en-US" sz="1250" dirty="0">
                <a:effectLst/>
                <a:latin typeface="Calibri" panose="020B0604020202020204" pitchFamily="34" charset="0"/>
                <a:ea typeface="Calibri" panose="02020609040205080304" pitchFamily="49" charset="-128"/>
                <a:cs typeface="Calibri" panose="02020603050405020304" pitchFamily="18" charset="0"/>
              </a:rPr>
              <a:t>A person with a cognitive disability.</a:t>
            </a:r>
          </a:p>
        </p:txBody>
      </p:sp>
      <p:sp>
        <p:nvSpPr>
          <p:cNvPr id="17" name="Shape 14"/>
          <p:cNvSpPr/>
          <p:nvPr/>
        </p:nvSpPr>
        <p:spPr>
          <a:xfrm>
            <a:off x="4398264" y="1600200"/>
            <a:ext cx="3392424" cy="4023360"/>
          </a:xfrm>
          <a:prstGeom prst="roundRect">
            <a:avLst>
              <a:gd name="adj" fmla="val 2156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5774436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9" name="Image 1" descr="/home/claude/work/icons/headse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57646" y="1957730"/>
            <a:ext cx="473659" cy="473659"/>
          </a:xfrm>
          <a:prstGeom prst="rect">
            <a:avLst/>
          </a:prstGeom>
        </p:spPr>
      </p:pic>
      <p:sp>
        <p:nvSpPr>
          <p:cNvPr id="20" name="Text 16"/>
          <p:cNvSpPr/>
          <p:nvPr/>
        </p:nvSpPr>
        <p:spPr>
          <a:xfrm>
            <a:off x="4581144" y="265176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</a:t>
            </a:r>
            <a:endParaRPr lang="en-US" sz="1600" dirty="0"/>
          </a:p>
        </p:txBody>
      </p:sp>
      <p:sp>
        <p:nvSpPr>
          <p:cNvPr id="21" name="Shape 17"/>
          <p:cNvSpPr/>
          <p:nvPr/>
        </p:nvSpPr>
        <p:spPr>
          <a:xfrm>
            <a:off x="4718304" y="3227832"/>
            <a:ext cx="73152" cy="7315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2" name="Text 18"/>
          <p:cNvSpPr/>
          <p:nvPr/>
        </p:nvSpPr>
        <p:spPr>
          <a:xfrm>
            <a:off x="4901184" y="3154680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broken arm</a:t>
            </a:r>
            <a:endParaRPr lang="en-US" sz="1250" dirty="0"/>
          </a:p>
        </p:txBody>
      </p:sp>
      <p:sp>
        <p:nvSpPr>
          <p:cNvPr id="23" name="Shape 19"/>
          <p:cNvSpPr/>
          <p:nvPr/>
        </p:nvSpPr>
        <p:spPr>
          <a:xfrm>
            <a:off x="4718304" y="3794760"/>
            <a:ext cx="73152" cy="7315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4" name="Text 20"/>
          <p:cNvSpPr/>
          <p:nvPr/>
        </p:nvSpPr>
        <p:spPr>
          <a:xfrm>
            <a:off x="4901184" y="3721608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eye injury</a:t>
            </a:r>
            <a:endParaRPr lang="en-US" sz="1250" dirty="0"/>
          </a:p>
        </p:txBody>
      </p:sp>
      <p:sp>
        <p:nvSpPr>
          <p:cNvPr id="25" name="Shape 21"/>
          <p:cNvSpPr/>
          <p:nvPr/>
        </p:nvSpPr>
        <p:spPr>
          <a:xfrm>
            <a:off x="4718304" y="4361688"/>
            <a:ext cx="73152" cy="7315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26" name="Text 22"/>
          <p:cNvSpPr/>
          <p:nvPr/>
        </p:nvSpPr>
        <p:spPr>
          <a:xfrm>
            <a:off x="4901184" y="4288536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Temporary hearing difficulty</a:t>
            </a:r>
            <a:endParaRPr lang="en-US" sz="1250" dirty="0"/>
          </a:p>
        </p:txBody>
      </p:sp>
      <p:sp>
        <p:nvSpPr>
          <p:cNvPr id="27" name="Shape 23"/>
          <p:cNvSpPr/>
          <p:nvPr/>
        </p:nvSpPr>
        <p:spPr>
          <a:xfrm>
            <a:off x="8247888" y="1600200"/>
            <a:ext cx="3392424" cy="4023360"/>
          </a:xfrm>
          <a:prstGeom prst="roundRect">
            <a:avLst>
              <a:gd name="adj" fmla="val 2156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9624060" y="187452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9" name="Image 2" descr="/home/claude/work/icons/mobi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707270" y="1957730"/>
            <a:ext cx="473659" cy="473659"/>
          </a:xfrm>
          <a:prstGeom prst="rect">
            <a:avLst/>
          </a:prstGeom>
        </p:spPr>
      </p:pic>
      <p:sp>
        <p:nvSpPr>
          <p:cNvPr id="30" name="Text 25"/>
          <p:cNvSpPr/>
          <p:nvPr/>
        </p:nvSpPr>
        <p:spPr>
          <a:xfrm>
            <a:off x="8430768" y="2651760"/>
            <a:ext cx="3026664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Situational</a:t>
            </a:r>
            <a:endParaRPr lang="en-US" sz="1600" dirty="0"/>
          </a:p>
        </p:txBody>
      </p:sp>
      <p:sp>
        <p:nvSpPr>
          <p:cNvPr id="31" name="Shape 26"/>
          <p:cNvSpPr/>
          <p:nvPr/>
        </p:nvSpPr>
        <p:spPr>
          <a:xfrm>
            <a:off x="8567928" y="3227832"/>
            <a:ext cx="73152" cy="7315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2" name="Text 27"/>
          <p:cNvSpPr/>
          <p:nvPr/>
        </p:nvSpPr>
        <p:spPr>
          <a:xfrm>
            <a:off x="8750808" y="3154680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Bright sunlight on a phone screen</a:t>
            </a:r>
            <a:endParaRPr lang="en-US" sz="1250" dirty="0"/>
          </a:p>
        </p:txBody>
      </p:sp>
      <p:sp>
        <p:nvSpPr>
          <p:cNvPr id="33" name="Shape 28"/>
          <p:cNvSpPr/>
          <p:nvPr/>
        </p:nvSpPr>
        <p:spPr>
          <a:xfrm>
            <a:off x="8567928" y="3794760"/>
            <a:ext cx="73152" cy="73152"/>
          </a:xfrm>
          <a:prstGeom prst="ellipse">
            <a:avLst/>
          </a:prstGeom>
          <a:solidFill>
            <a:srgbClr val="E8833A"/>
          </a:solidFill>
          <a:ln/>
        </p:spPr>
      </p:sp>
      <p:sp>
        <p:nvSpPr>
          <p:cNvPr id="34" name="Text 29"/>
          <p:cNvSpPr/>
          <p:nvPr/>
        </p:nvSpPr>
        <p:spPr>
          <a:xfrm>
            <a:off x="8750808" y="3721608"/>
            <a:ext cx="2706624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noisy environment</a:t>
            </a:r>
            <a:endParaRPr lang="en-US" sz="1250" dirty="0"/>
          </a:p>
        </p:txBody>
      </p:sp>
      <p:sp>
        <p:nvSpPr>
          <p:cNvPr id="39" name="Text 34"/>
          <p:cNvSpPr/>
          <p:nvPr/>
        </p:nvSpPr>
        <p:spPr>
          <a:xfrm>
            <a:off x="548640" y="5806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W3C says accessibility features help people with disabilities, and also help people with short-term, age-related, or situational limits.</a:t>
            </a:r>
            <a:endParaRPr lang="en-US" sz="1150" dirty="0"/>
          </a:p>
        </p:txBody>
      </p:sp>
      <p:sp>
        <p:nvSpPr>
          <p:cNvPr id="40" name="Text 3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41" name="Text 3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and Usability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ideas — but they ask different questions.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5317236" cy="2880360"/>
          </a:xfrm>
          <a:prstGeom prst="roundRect">
            <a:avLst>
              <a:gd name="adj" fmla="val 2540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22960" y="1737360"/>
            <a:ext cx="594360" cy="594360"/>
          </a:xfrm>
          <a:prstGeom prst="ellipse">
            <a:avLst/>
          </a:prstGeom>
          <a:solidFill>
            <a:srgbClr val="50607A"/>
          </a:solidFill>
          <a:ln/>
        </p:spPr>
      </p:sp>
      <p:pic>
        <p:nvPicPr>
          <p:cNvPr id="7" name="Image 0" descr="/home/claude/work/icons/lightbulb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0227" y="1814627"/>
            <a:ext cx="439826" cy="43982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10512"/>
            <a:ext cx="4311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Usability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822960" y="2514600"/>
            <a:ext cx="47685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22284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Does the system work well, work fast, and feel good to use?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6323076" y="1463040"/>
            <a:ext cx="5317236" cy="2880360"/>
          </a:xfrm>
          <a:prstGeom prst="roundRect">
            <a:avLst>
              <a:gd name="adj" fmla="val 2540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6597396" y="1737360"/>
            <a:ext cx="594360" cy="59436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12" name="Image 1" descr="/home/claude/work/icons/universalAcc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74663" y="1814627"/>
            <a:ext cx="439826" cy="439826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7328916" y="1810512"/>
            <a:ext cx="4311396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</a:t>
            </a:r>
            <a:endParaRPr lang="en-US" sz="1800" dirty="0"/>
          </a:p>
        </p:txBody>
      </p:sp>
      <p:sp>
        <p:nvSpPr>
          <p:cNvPr id="14" name="Text 10"/>
          <p:cNvSpPr/>
          <p:nvPr/>
        </p:nvSpPr>
        <p:spPr>
          <a:xfrm>
            <a:off x="6597396" y="2514600"/>
            <a:ext cx="4768596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CADCF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Can people with disabilities and different abilities use the system easily, with no extra barriers?</a:t>
            </a:r>
            <a:endParaRPr lang="en-US" sz="1600" dirty="0"/>
          </a:p>
        </p:txBody>
      </p:sp>
      <p:sp>
        <p:nvSpPr>
          <p:cNvPr id="15" name="Shape 11"/>
          <p:cNvSpPr/>
          <p:nvPr/>
        </p:nvSpPr>
        <p:spPr>
          <a:xfrm>
            <a:off x="548640" y="4572000"/>
            <a:ext cx="11091672" cy="1143000"/>
          </a:xfrm>
          <a:prstGeom prst="roundRect">
            <a:avLst>
              <a:gd name="adj" fmla="val 6400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822960" y="4828032"/>
            <a:ext cx="548640" cy="548640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17" name="Image 2" descr="/home/claude/work/icons/exclai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4283" y="4899355"/>
            <a:ext cx="405994" cy="40599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08760" y="4700016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1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Example</a:t>
            </a:r>
            <a:endParaRPr lang="en-US" sz="1100" dirty="0"/>
          </a:p>
        </p:txBody>
      </p:sp>
      <p:sp>
        <p:nvSpPr>
          <p:cNvPr id="19" name="Text 14"/>
          <p:cNvSpPr/>
          <p:nvPr/>
        </p:nvSpPr>
        <p:spPr>
          <a:xfrm>
            <a:off x="1508760" y="4956048"/>
            <a:ext cx="990295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checkout page might work fine with a mouse. But if you can't reach its buttons using only a keyboard, it is not accessible — it works for some people, but not for keyboard-only users.</a:t>
            </a:r>
            <a:endParaRPr lang="en-US" sz="1300" dirty="0"/>
          </a:p>
        </p:txBody>
      </p:sp>
      <p:sp>
        <p:nvSpPr>
          <p:cNvPr id="20" name="Text 15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21" name="Text 16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Different Types of Accessibility Needs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IT’S FOR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962302" cy="4206240"/>
          </a:xfrm>
          <a:prstGeom prst="roundRect">
            <a:avLst>
              <a:gd name="adj" fmla="val 37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209751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work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962" y="1774850"/>
            <a:ext cx="473659" cy="473659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2468880"/>
            <a:ext cx="16879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731520" y="3154680"/>
            <a:ext cx="159654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Blindness, low vision, or difficulty distinguishing colors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2830982" y="1371600"/>
            <a:ext cx="1962302" cy="4206240"/>
          </a:xfrm>
          <a:prstGeom prst="roundRect">
            <a:avLst>
              <a:gd name="adj" fmla="val 37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492094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/home/claude/work/icons/ea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5304" y="1774850"/>
            <a:ext cx="473659" cy="473659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968142" y="2468880"/>
            <a:ext cx="16879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Auditory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3013862" y="3154680"/>
            <a:ext cx="159654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Deafness or hearing loss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113325" y="1371600"/>
            <a:ext cx="1962302" cy="4206240"/>
          </a:xfrm>
          <a:prstGeom prst="roundRect">
            <a:avLst>
              <a:gd name="adj" fmla="val 37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5774436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/home/claude/work/icons/ha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646" y="1774850"/>
            <a:ext cx="473659" cy="473659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250485" y="2468880"/>
            <a:ext cx="16879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Physical / Motor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5296205" y="3154680"/>
            <a:ext cx="159654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moving hands, using a mouse, or making precise clicks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7395667" y="1371600"/>
            <a:ext cx="1962302" cy="4206240"/>
          </a:xfrm>
          <a:prstGeom prst="roundRect">
            <a:avLst>
              <a:gd name="adj" fmla="val 37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8056778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/home/claude/work/icons/brai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9989" y="1774850"/>
            <a:ext cx="473659" cy="473659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32827" y="2468880"/>
            <a:ext cx="16879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Cognitive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7578547" y="3154680"/>
            <a:ext cx="159654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Memory, attention, reading, or processing difficulties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9678010" y="1371600"/>
            <a:ext cx="1962302" cy="4206240"/>
          </a:xfrm>
          <a:prstGeom prst="roundRect">
            <a:avLst>
              <a:gd name="adj" fmla="val 37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10339121" y="169164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6" name="Image 4" descr="/home/claude/work/icons/comment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22331" y="1774850"/>
            <a:ext cx="473659" cy="473659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9815170" y="2468880"/>
            <a:ext cx="168798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</a:t>
            </a:r>
            <a:endParaRPr lang="en-US" sz="1450" dirty="0"/>
          </a:p>
        </p:txBody>
      </p:sp>
      <p:sp>
        <p:nvSpPr>
          <p:cNvPr id="28" name="Text 21"/>
          <p:cNvSpPr/>
          <p:nvPr/>
        </p:nvSpPr>
        <p:spPr>
          <a:xfrm>
            <a:off x="9860890" y="3154680"/>
            <a:ext cx="1596542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producing speech; may rely on alternative communication</a:t>
            </a:r>
            <a:endParaRPr lang="en-US" sz="1150" dirty="0"/>
          </a:p>
        </p:txBody>
      </p:sp>
      <p:sp>
        <p:nvSpPr>
          <p:cNvPr id="29" name="Text 22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30" name="Text 23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Guidelines and WCAG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6675120" cy="4937760"/>
          </a:xfrm>
          <a:prstGeom prst="roundRect">
            <a:avLst>
              <a:gd name="adj" fmla="val 1481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17320"/>
            <a:ext cx="6126480" cy="4114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 most important standards for digital accessibility is the Web Content Accessibility Guidelines (WCAG).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is created by the World Wide Web Consortium (W3C), through its Web Accessibility Initiative (WAI).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gives guidelines and testable rules to make web content easier for people with disabilities to use.</a:t>
            </a:r>
            <a:endParaRPr lang="en-US" sz="1450" dirty="0"/>
          </a:p>
          <a:p>
            <a:pPr marL="228600" indent="-228600">
              <a:lnSpc>
                <a:spcPct val="115000"/>
              </a:lnSpc>
              <a:spcAft>
                <a:spcPts val="2000"/>
              </a:spcAft>
              <a:buSzPct val="100000"/>
              <a:buChar char="●"/>
            </a:pPr>
            <a:r>
              <a:rPr lang="en-US" sz="14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covers text, images, audio, video, multimedia, and interactive web applications.</a:t>
            </a:r>
            <a:endParaRPr lang="en-US" sz="1450" dirty="0"/>
          </a:p>
        </p:txBody>
      </p:sp>
      <p:sp>
        <p:nvSpPr>
          <p:cNvPr id="6" name="Text 4"/>
          <p:cNvSpPr/>
          <p:nvPr/>
        </p:nvSpPr>
        <p:spPr>
          <a:xfrm>
            <a:off x="822960" y="571500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W3C, WCAG Overview — w3.org/WAI/standards-guidelines/wcag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7452360" y="1188720"/>
            <a:ext cx="4187952" cy="4937760"/>
          </a:xfrm>
          <a:prstGeom prst="roundRect">
            <a:avLst>
              <a:gd name="adj" fmla="val 1747"/>
            </a:avLst>
          </a:prstGeom>
          <a:solidFill>
            <a:srgbClr val="1E2761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1508760"/>
            <a:ext cx="685800" cy="685800"/>
          </a:xfrm>
          <a:prstGeom prst="ellipse">
            <a:avLst/>
          </a:prstGeom>
          <a:solidFill>
            <a:srgbClr val="FFFFFF">
              <a:alpha val="20000"/>
            </a:srgbClr>
          </a:solidFill>
          <a:ln/>
        </p:spPr>
      </p:sp>
      <p:pic>
        <p:nvPicPr>
          <p:cNvPr id="9" name="Image 0" descr="/home/claude/work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4696" y="1591056"/>
            <a:ext cx="521208" cy="521208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7772400" y="2377440"/>
            <a:ext cx="3657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Guidance you can test against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7772400" y="3246120"/>
            <a:ext cx="365760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Instead of vague advice like "make it accessible," WCAG gives clear, testable rules — so teams can check if a product really meets the standard.</a:t>
            </a:r>
            <a:endParaRPr lang="en-US" sz="1350" dirty="0"/>
          </a:p>
        </p:txBody>
      </p:sp>
      <p:sp>
        <p:nvSpPr>
          <p:cNvPr id="12" name="Text 9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02920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548640" y="777240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Four Principles of WCAG: POUR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37160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organizes its guidance around four principles — remembered as POUR.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2057400"/>
            <a:ext cx="2498598" cy="3931920"/>
          </a:xfrm>
          <a:prstGeom prst="roundRect">
            <a:avLst>
              <a:gd name="adj" fmla="val 2928"/>
            </a:avLst>
          </a:prstGeom>
          <a:solidFill>
            <a:srgbClr val="161B4D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48640" y="2240280"/>
            <a:ext cx="24985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4800" dirty="0"/>
          </a:p>
        </p:txBody>
      </p:sp>
      <p:sp>
        <p:nvSpPr>
          <p:cNvPr id="7" name="Shape 5"/>
          <p:cNvSpPr/>
          <p:nvPr/>
        </p:nvSpPr>
        <p:spPr>
          <a:xfrm>
            <a:off x="1505331" y="3246120"/>
            <a:ext cx="585216" cy="585216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8" name="Image 0" descr="/home/claude/work/icons/image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81409" y="3322198"/>
            <a:ext cx="433060" cy="4330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685800" y="3977640"/>
            <a:ext cx="22242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Perceivable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31520" y="448056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see or sense the information</a:t>
            </a:r>
            <a:endParaRPr lang="en-US" sz="1200" dirty="0"/>
          </a:p>
        </p:txBody>
      </p:sp>
      <p:sp>
        <p:nvSpPr>
          <p:cNvPr id="11" name="Shape 8"/>
          <p:cNvSpPr/>
          <p:nvPr/>
        </p:nvSpPr>
        <p:spPr>
          <a:xfrm>
            <a:off x="3412998" y="2057400"/>
            <a:ext cx="2498598" cy="3931920"/>
          </a:xfrm>
          <a:prstGeom prst="roundRect">
            <a:avLst>
              <a:gd name="adj" fmla="val 2928"/>
            </a:avLst>
          </a:prstGeom>
          <a:solidFill>
            <a:srgbClr val="161B4D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412998" y="2240280"/>
            <a:ext cx="24985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4800" dirty="0"/>
          </a:p>
        </p:txBody>
      </p:sp>
      <p:sp>
        <p:nvSpPr>
          <p:cNvPr id="13" name="Shape 10"/>
          <p:cNvSpPr/>
          <p:nvPr/>
        </p:nvSpPr>
        <p:spPr>
          <a:xfrm>
            <a:off x="4369689" y="3246120"/>
            <a:ext cx="585216" cy="585216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14" name="Image 1" descr="/home/claude/work/icons/key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767" y="3322198"/>
            <a:ext cx="433060" cy="433060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3550158" y="3977640"/>
            <a:ext cx="22242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</a:t>
            </a:r>
            <a:endParaRPr lang="en-US" sz="1500" dirty="0"/>
          </a:p>
        </p:txBody>
      </p:sp>
      <p:sp>
        <p:nvSpPr>
          <p:cNvPr id="16" name="Text 12"/>
          <p:cNvSpPr/>
          <p:nvPr/>
        </p:nvSpPr>
        <p:spPr>
          <a:xfrm>
            <a:off x="3595878" y="448056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operate and control the interface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6277356" y="2057400"/>
            <a:ext cx="2498598" cy="3931920"/>
          </a:xfrm>
          <a:prstGeom prst="roundRect">
            <a:avLst>
              <a:gd name="adj" fmla="val 2928"/>
            </a:avLst>
          </a:prstGeom>
          <a:solidFill>
            <a:srgbClr val="161B4D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6277356" y="2240280"/>
            <a:ext cx="24985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4800" dirty="0"/>
          </a:p>
        </p:txBody>
      </p:sp>
      <p:sp>
        <p:nvSpPr>
          <p:cNvPr id="19" name="Shape 15"/>
          <p:cNvSpPr/>
          <p:nvPr/>
        </p:nvSpPr>
        <p:spPr>
          <a:xfrm>
            <a:off x="7234047" y="3246120"/>
            <a:ext cx="585216" cy="585216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0" name="Image 2" descr="/home/claude/work/icons/boo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10125" y="3322198"/>
            <a:ext cx="433060" cy="43306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6414516" y="3977640"/>
            <a:ext cx="22242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Understandable</a:t>
            </a:r>
            <a:endParaRPr lang="en-US" sz="1500" dirty="0"/>
          </a:p>
        </p:txBody>
      </p:sp>
      <p:sp>
        <p:nvSpPr>
          <p:cNvPr id="22" name="Text 17"/>
          <p:cNvSpPr/>
          <p:nvPr/>
        </p:nvSpPr>
        <p:spPr>
          <a:xfrm>
            <a:off x="6460236" y="448056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can understand information and interaction</a:t>
            </a:r>
            <a:endParaRPr lang="en-US" sz="1200" dirty="0"/>
          </a:p>
        </p:txBody>
      </p:sp>
      <p:sp>
        <p:nvSpPr>
          <p:cNvPr id="23" name="Shape 18"/>
          <p:cNvSpPr/>
          <p:nvPr/>
        </p:nvSpPr>
        <p:spPr>
          <a:xfrm>
            <a:off x="9141714" y="2057400"/>
            <a:ext cx="2498598" cy="3931920"/>
          </a:xfrm>
          <a:prstGeom prst="roundRect">
            <a:avLst>
              <a:gd name="adj" fmla="val 2928"/>
            </a:avLst>
          </a:prstGeom>
          <a:solidFill>
            <a:srgbClr val="161B4D"/>
          </a:solidFill>
          <a:ln w="12700">
            <a:solidFill>
              <a:srgbClr val="3A4380"/>
            </a:solidFill>
            <a:prstDash val="solid"/>
          </a:ln>
        </p:spPr>
      </p:sp>
      <p:sp>
        <p:nvSpPr>
          <p:cNvPr id="24" name="Text 19"/>
          <p:cNvSpPr/>
          <p:nvPr/>
        </p:nvSpPr>
        <p:spPr>
          <a:xfrm>
            <a:off x="9141714" y="2240280"/>
            <a:ext cx="2498598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4800" dirty="0"/>
          </a:p>
        </p:txBody>
      </p:sp>
      <p:sp>
        <p:nvSpPr>
          <p:cNvPr id="25" name="Shape 20"/>
          <p:cNvSpPr/>
          <p:nvPr/>
        </p:nvSpPr>
        <p:spPr>
          <a:xfrm>
            <a:off x="10098405" y="3246120"/>
            <a:ext cx="585216" cy="585216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26" name="Image 3" descr="/home/claude/work/icons/cod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74483" y="3322198"/>
            <a:ext cx="433060" cy="433060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9278874" y="3977640"/>
            <a:ext cx="222427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500" dirty="0"/>
          </a:p>
        </p:txBody>
      </p:sp>
      <p:sp>
        <p:nvSpPr>
          <p:cNvPr id="28" name="Text 22"/>
          <p:cNvSpPr/>
          <p:nvPr/>
        </p:nvSpPr>
        <p:spPr>
          <a:xfrm>
            <a:off x="9324594" y="4480560"/>
            <a:ext cx="2132838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works reliably across technologies</a:t>
            </a:r>
            <a:endParaRPr lang="en-US" sz="1200" dirty="0"/>
          </a:p>
        </p:txBody>
      </p:sp>
      <p:sp>
        <p:nvSpPr>
          <p:cNvPr id="29" name="Text 23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30" name="Text 24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5720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8229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65176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should be able to get and understand the information a system shows them — by sight, screen reader, sound, or zoomed-in text.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0" y="384048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Perceivable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0" y="932688"/>
            <a:ext cx="9354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every user receives information the same way.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286000" y="169164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9110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0" descr="/home/claude/work/icons/imageal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448" y="1977664"/>
            <a:ext cx="378927" cy="37892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54680" y="176479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Text alternatives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54680" y="207568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alt text lets a person who cannot see an image still understand its purpose.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286000" y="278892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5" name="Shape 12"/>
          <p:cNvSpPr/>
          <p:nvPr/>
        </p:nvSpPr>
        <p:spPr>
          <a:xfrm>
            <a:off x="2468880" y="30083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work/icons/contr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448" y="3074944"/>
            <a:ext cx="378927" cy="37892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54680" y="286207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Contrast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54680" y="317296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2.2 Level AA requires at least 4.5:1 contrast for normal text, and 3:1 for large text.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286000" y="388620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468880" y="41056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work/icons/colorblin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448" y="4172224"/>
            <a:ext cx="378927" cy="37892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154680" y="395935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Don’t rely on color alone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154680" y="427024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 color with an icon or text — e.g. "Error: Password is incorrect."</a:t>
            </a:r>
            <a:endParaRPr lang="en-US" sz="1250" dirty="0"/>
          </a:p>
        </p:txBody>
      </p:sp>
      <p:sp>
        <p:nvSpPr>
          <p:cNvPr id="30" name="Shape 30"/>
          <p:cNvSpPr/>
          <p:nvPr/>
        </p:nvSpPr>
        <p:spPr>
          <a:xfrm>
            <a:off x="2286000" y="498348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31" name="Shape 31"/>
          <p:cNvSpPr/>
          <p:nvPr/>
        </p:nvSpPr>
        <p:spPr>
          <a:xfrm>
            <a:off x="2468880" y="520293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2" descr="/home/claude/work/icons/headset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5448" y="5269504"/>
            <a:ext cx="378927" cy="378927"/>
          </a:xfrm>
          <a:prstGeom prst="rect">
            <a:avLst/>
          </a:prstGeom>
        </p:spPr>
      </p:pic>
      <p:sp>
        <p:nvSpPr>
          <p:cNvPr id="33" name="Text 33"/>
          <p:cNvSpPr/>
          <p:nvPr/>
        </p:nvSpPr>
        <p:spPr>
          <a:xfrm>
            <a:off x="3154680" y="505663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 &amp; audio descriptions</a:t>
            </a:r>
            <a:endParaRPr lang="en-US" sz="1400" dirty="0"/>
          </a:p>
        </p:txBody>
      </p:sp>
      <p:sp>
        <p:nvSpPr>
          <p:cNvPr id="34" name="Text 34"/>
          <p:cNvSpPr/>
          <p:nvPr/>
        </p:nvSpPr>
        <p:spPr>
          <a:xfrm>
            <a:off x="3154680" y="536752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captions for video and transcripts for audio, so the information isn’t locked to sound alone.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286000" y="6419088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W3C, Accessibility Principles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5720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8229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65176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should be able to operate and control the interface — not everyone can use a mouse.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0" y="384048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Operable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0" y="932688"/>
            <a:ext cx="9354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more than one way to interact.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286000" y="169164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9110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0" descr="/home/claude/work/icons/key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448" y="1977664"/>
            <a:ext cx="378927" cy="37892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54680" y="176479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accessibility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54680" y="207568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Move between controls, activate buttons, and complete forms using Tab, Enter, Space, arrows, Escape.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286000" y="278892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0" y="30083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work/icons/focu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448" y="3074944"/>
            <a:ext cx="378927" cy="37892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54680" y="286207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Visible focus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54680" y="317296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need to see which element is currently selected as they navigate.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286000" y="388620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468880" y="41056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work/icons/compas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448" y="4172224"/>
            <a:ext cx="378927" cy="37892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154680" y="395935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Easy navigation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154680" y="427024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headings, consistent navigation, descriptive links, and logical structure.</a:t>
            </a:r>
            <a:endParaRPr lang="en-US" sz="1250" dirty="0"/>
          </a:p>
        </p:txBody>
      </p:sp>
      <p:sp>
        <p:nvSpPr>
          <p:cNvPr id="33" name="Text 33"/>
          <p:cNvSpPr/>
          <p:nvPr/>
        </p:nvSpPr>
        <p:spPr>
          <a:xfrm>
            <a:off x="3154680" y="505663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  <p:sp>
        <p:nvSpPr>
          <p:cNvPr id="34" name="Text 34"/>
          <p:cNvSpPr/>
          <p:nvPr/>
        </p:nvSpPr>
        <p:spPr>
          <a:xfrm>
            <a:off x="3154680" y="536752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286000" y="6419088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W3C, Accessibility Principles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5720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Understandable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8229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65176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Users should be able to understand both the information presented and how to operate the system.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0" y="384048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Understandable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0" y="932688"/>
            <a:ext cx="9354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language makes things easier for everyone to understand.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286000" y="169164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9110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0" descr="/home/claude/work/icons/com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448" y="1977664"/>
            <a:ext cx="378927" cy="37892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54680" y="176479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language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54680" y="207568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"Your username or password is incorrect" beats "Authentication credentials failed validation."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286000" y="278892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0" y="30083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work/icons/layerGroup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448" y="3074944"/>
            <a:ext cx="378927" cy="37892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54680" y="286207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Consistency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54680" y="317296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Similar controls should look and behave similarly throughout the system.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286000" y="388620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468880" y="41056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work/icons/clipboardCheck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448" y="4172224"/>
            <a:ext cx="378927" cy="37892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154680" y="395935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forms &amp; errors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154680" y="427024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Meaningful labels, and error messages that are specific and actionable.</a:t>
            </a:r>
            <a:endParaRPr lang="en-US" sz="1250" dirty="0"/>
          </a:p>
        </p:txBody>
      </p:sp>
      <p:sp>
        <p:nvSpPr>
          <p:cNvPr id="30" name="Shape 30"/>
          <p:cNvSpPr/>
          <p:nvPr/>
        </p:nvSpPr>
        <p:spPr>
          <a:xfrm>
            <a:off x="2286000" y="498348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31" name="Shape 31"/>
          <p:cNvSpPr/>
          <p:nvPr/>
        </p:nvSpPr>
        <p:spPr>
          <a:xfrm>
            <a:off x="2468880" y="520293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2" descr="/home/claude/work/icons/compa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5448" y="5269504"/>
            <a:ext cx="378927" cy="378927"/>
          </a:xfrm>
          <a:prstGeom prst="rect">
            <a:avLst/>
          </a:prstGeom>
        </p:spPr>
      </p:pic>
      <p:sp>
        <p:nvSpPr>
          <p:cNvPr id="33" name="Text 33"/>
          <p:cNvSpPr/>
          <p:nvPr/>
        </p:nvSpPr>
        <p:spPr>
          <a:xfrm>
            <a:off x="3154680" y="505663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Predictable navigation</a:t>
            </a:r>
            <a:endParaRPr lang="en-US" sz="1400" dirty="0"/>
          </a:p>
        </p:txBody>
      </p:sp>
      <p:sp>
        <p:nvSpPr>
          <p:cNvPr id="34" name="Text 34"/>
          <p:cNvSpPr/>
          <p:nvPr/>
        </p:nvSpPr>
        <p:spPr>
          <a:xfrm>
            <a:off x="3154680" y="536752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Menus, buttons, and page structure behave the same way every time a user returns to them.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286000" y="6419088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W3C, Accessibility Principles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920240" cy="6858000"/>
          </a:xfrm>
          <a:prstGeom prst="rect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457200"/>
            <a:ext cx="19202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0" b="1" dirty="0">
                <a:solidFill>
                  <a:srgbClr val="E8833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</a:t>
            </a:r>
            <a:endParaRPr lang="en-US" sz="8000" dirty="0"/>
          </a:p>
        </p:txBody>
      </p:sp>
      <p:sp>
        <p:nvSpPr>
          <p:cNvPr id="4" name="Text 2"/>
          <p:cNvSpPr/>
          <p:nvPr/>
        </p:nvSpPr>
        <p:spPr>
          <a:xfrm>
            <a:off x="137160" y="1828800"/>
            <a:ext cx="1645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Robust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468880"/>
            <a:ext cx="82296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82880" y="2651760"/>
            <a:ext cx="155448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content should work reliably across browsers, devices, operating systems, and assistive technologies — including future tools.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2286000" y="384048"/>
            <a:ext cx="944575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</a:t>
            </a:r>
            <a:endParaRPr lang="en-US" sz="2800" dirty="0"/>
          </a:p>
        </p:txBody>
      </p:sp>
      <p:sp>
        <p:nvSpPr>
          <p:cNvPr id="8" name="Text 6"/>
          <p:cNvSpPr/>
          <p:nvPr/>
        </p:nvSpPr>
        <p:spPr>
          <a:xfrm>
            <a:off x="2286000" y="932688"/>
            <a:ext cx="9354312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to last, not just to launch.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2286000" y="169164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468880" y="191109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0" descr="/home/claude/work/icons/cod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5448" y="1977664"/>
            <a:ext cx="378927" cy="378927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3154680" y="176479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Semantic HTML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3154680" y="207568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correct element (e.g. a real &lt;button&gt;, not a styled &lt;div&gt;) helps assistive tech understand the interface.</a:t>
            </a:r>
            <a:endParaRPr lang="en-US" sz="1250" dirty="0"/>
          </a:p>
        </p:txBody>
      </p:sp>
      <p:sp>
        <p:nvSpPr>
          <p:cNvPr id="14" name="Shape 11"/>
          <p:cNvSpPr/>
          <p:nvPr/>
        </p:nvSpPr>
        <p:spPr>
          <a:xfrm>
            <a:off x="2286000" y="278892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2468880" y="300837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1" descr="/home/claude/work/icons/puzzl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35448" y="3074944"/>
            <a:ext cx="378927" cy="378927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154680" y="286207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WAI-ARIA</a:t>
            </a:r>
            <a:endParaRPr lang="en-US" sz="1400" dirty="0"/>
          </a:p>
        </p:txBody>
      </p:sp>
      <p:sp>
        <p:nvSpPr>
          <p:cNvPr id="18" name="Text 14"/>
          <p:cNvSpPr/>
          <p:nvPr/>
        </p:nvSpPr>
        <p:spPr>
          <a:xfrm>
            <a:off x="3154680" y="317296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Adds roles, states, and properties for complex, dynamic interfaces — used only when semantic HTML isn’t enough.</a:t>
            </a:r>
            <a:endParaRPr lang="en-US" sz="1250" dirty="0"/>
          </a:p>
        </p:txBody>
      </p:sp>
      <p:sp>
        <p:nvSpPr>
          <p:cNvPr id="19" name="Shape 15"/>
          <p:cNvSpPr/>
          <p:nvPr/>
        </p:nvSpPr>
        <p:spPr>
          <a:xfrm>
            <a:off x="2286000" y="388620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2468880" y="410565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work/icons/checkCircl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535448" y="4172224"/>
            <a:ext cx="378927" cy="378927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3154680" y="395935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Cross-technology compatibility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3154680" y="427024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Interfaces should keep working as browsers, devices, and assistive tools change and update over time.</a:t>
            </a:r>
            <a:endParaRPr lang="en-US" sz="1250" dirty="0"/>
          </a:p>
        </p:txBody>
      </p:sp>
      <p:sp>
        <p:nvSpPr>
          <p:cNvPr id="30" name="Shape 30"/>
          <p:cNvSpPr/>
          <p:nvPr/>
        </p:nvSpPr>
        <p:spPr>
          <a:xfrm>
            <a:off x="2286000" y="4983480"/>
            <a:ext cx="9354312" cy="950976"/>
          </a:xfrm>
          <a:prstGeom prst="roundRect">
            <a:avLst>
              <a:gd name="adj" fmla="val 5769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31" name="Shape 31"/>
          <p:cNvSpPr/>
          <p:nvPr/>
        </p:nvSpPr>
        <p:spPr>
          <a:xfrm>
            <a:off x="2468880" y="5202936"/>
            <a:ext cx="512064" cy="51206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2" name="Image 32" descr="/home/claude/work/icons/sync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35448" y="5269504"/>
            <a:ext cx="378927" cy="378927"/>
          </a:xfrm>
          <a:prstGeom prst="rect">
            <a:avLst/>
          </a:prstGeom>
        </p:spPr>
      </p:pic>
      <p:sp>
        <p:nvSpPr>
          <p:cNvPr id="33" name="Text 33"/>
          <p:cNvSpPr/>
          <p:nvPr/>
        </p:nvSpPr>
        <p:spPr>
          <a:xfrm>
            <a:off x="3154680" y="5056632"/>
            <a:ext cx="8439912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future tech</a:t>
            </a:r>
            <a:endParaRPr lang="en-US" sz="1400" dirty="0"/>
          </a:p>
        </p:txBody>
      </p:sp>
      <p:sp>
        <p:nvSpPr>
          <p:cNvPr id="34" name="Text 34"/>
          <p:cNvSpPr/>
          <p:nvPr/>
        </p:nvSpPr>
        <p:spPr>
          <a:xfrm>
            <a:off x="3154680" y="5367528"/>
            <a:ext cx="8439912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Following web standards helps content keep working as new browsers, devices, and assistive tools emerge.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2286000" y="6419088"/>
            <a:ext cx="907999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W3C, Accessibility Principles / WAI-ARIA</a:t>
            </a:r>
            <a:endParaRPr lang="en-US" sz="1000" dirty="0"/>
          </a:p>
        </p:txBody>
      </p:sp>
      <p:sp>
        <p:nvSpPr>
          <p:cNvPr id="25" name="Text 20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Assistive Technologies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PEOPLE USE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that help people use computers and digital systems when the usual ways don't work for them.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00200"/>
            <a:ext cx="2533650" cy="4023360"/>
          </a:xfrm>
          <a:prstGeom prst="roundRect">
            <a:avLst>
              <a:gd name="adj" fmla="val 37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513713" y="18745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work/icons/ey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2169" y="1952976"/>
            <a:ext cx="446593" cy="446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944042" y="2606040"/>
            <a:ext cx="17428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readers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971474" y="3246120"/>
            <a:ext cx="168798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information on the screen aloud, or provide it through Braille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02330" y="1600200"/>
            <a:ext cx="2533650" cy="4023360"/>
          </a:xfrm>
          <a:prstGeom prst="roundRect">
            <a:avLst>
              <a:gd name="adj" fmla="val 37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7403" y="18745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work/icons/contra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45859" y="1952976"/>
            <a:ext cx="446593" cy="4465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797732" y="2606040"/>
            <a:ext cx="17428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magnifiers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3825164" y="3246120"/>
            <a:ext cx="168798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Enlarge content for people with low vision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256020" y="1600200"/>
            <a:ext cx="2533650" cy="4023360"/>
          </a:xfrm>
          <a:prstGeom prst="roundRect">
            <a:avLst>
              <a:gd name="adj" fmla="val 37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21093" y="18745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/home/claude/work/icons/microphon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99549" y="1952976"/>
            <a:ext cx="446593" cy="4465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651422" y="2606040"/>
            <a:ext cx="17428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Speech recognition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678854" y="3246120"/>
            <a:ext cx="168798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Lets users control systems using their voice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9109710" y="1600200"/>
            <a:ext cx="2533650" cy="4023360"/>
          </a:xfrm>
          <a:prstGeom prst="roundRect">
            <a:avLst>
              <a:gd name="adj" fmla="val 37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74783" y="187452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work/icons/han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53239" y="1952976"/>
            <a:ext cx="446593" cy="4465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505112" y="2606040"/>
            <a:ext cx="1742846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Alternative input devices</a:t>
            </a:r>
            <a:endParaRPr lang="en-US" sz="1300" dirty="0"/>
          </a:p>
        </p:txBody>
      </p:sp>
      <p:sp>
        <p:nvSpPr>
          <p:cNvPr id="24" name="Text 18"/>
          <p:cNvSpPr/>
          <p:nvPr/>
        </p:nvSpPr>
        <p:spPr>
          <a:xfrm>
            <a:off x="9532544" y="3246120"/>
            <a:ext cx="1687982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 other ways to interact with computers</a:t>
            </a:r>
            <a:endParaRPr lang="en-US" sz="1100" dirty="0"/>
          </a:p>
        </p:txBody>
      </p:sp>
      <p:sp>
        <p:nvSpPr>
          <p:cNvPr id="30" name="Text 23"/>
          <p:cNvSpPr/>
          <p:nvPr/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W3C, Tools and Techniques for People with Disabilities</a:t>
            </a:r>
            <a:endParaRPr lang="en-US" sz="1050" dirty="0"/>
          </a:p>
        </p:txBody>
      </p:sp>
      <p:sp>
        <p:nvSpPr>
          <p:cNvPr id="31" name="Text 2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32" name="Text 2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WCAG Conformance Levels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STANDARDS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defines three levels of conformance, each stricter than the last.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783080"/>
            <a:ext cx="3392424" cy="3566160"/>
          </a:xfrm>
          <a:prstGeom prst="roundRect">
            <a:avLst>
              <a:gd name="adj" fmla="val 2156"/>
            </a:avLst>
          </a:prstGeom>
          <a:solidFill>
            <a:srgbClr val="3A4380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2011680"/>
            <a:ext cx="3392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731520" y="301752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Minimum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22960" y="3520440"/>
            <a:ext cx="284378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Addresses the most basic accessibility barriers. Example: every image has simple alt text.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98264" y="1600200"/>
            <a:ext cx="3392424" cy="3931920"/>
          </a:xfrm>
          <a:prstGeom prst="roundRect">
            <a:avLst>
              <a:gd name="adj" fmla="val 2156"/>
            </a:avLst>
          </a:prstGeom>
          <a:solidFill>
            <a:srgbClr val="1E2761"/>
          </a:solidFill>
          <a:ln/>
        </p:spPr>
      </p:sp>
      <p:sp>
        <p:nvSpPr>
          <p:cNvPr id="10" name="Text 8"/>
          <p:cNvSpPr/>
          <p:nvPr/>
        </p:nvSpPr>
        <p:spPr>
          <a:xfrm>
            <a:off x="4398264" y="1828800"/>
            <a:ext cx="3392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4581144" y="283464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672584" y="3337560"/>
            <a:ext cx="2843784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stronger level of accessibility. Most organizations target this level. Example: text has strong color contrast.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247888" y="1783080"/>
            <a:ext cx="3392424" cy="3566160"/>
          </a:xfrm>
          <a:prstGeom prst="roundRect">
            <a:avLst>
              <a:gd name="adj" fmla="val 2156"/>
            </a:avLst>
          </a:prstGeom>
          <a:solidFill>
            <a:srgbClr val="E8833A"/>
          </a:solidFill>
          <a:ln/>
        </p:spPr>
      </p:sp>
      <p:sp>
        <p:nvSpPr>
          <p:cNvPr id="14" name="Text 12"/>
          <p:cNvSpPr/>
          <p:nvPr/>
        </p:nvSpPr>
        <p:spPr>
          <a:xfrm>
            <a:off x="8247888" y="2011680"/>
            <a:ext cx="3392424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AAA</a:t>
            </a:r>
            <a:endParaRPr lang="en-US" sz="4200" dirty="0"/>
          </a:p>
        </p:txBody>
      </p:sp>
      <p:sp>
        <p:nvSpPr>
          <p:cNvPr id="15" name="Text 13"/>
          <p:cNvSpPr/>
          <p:nvPr/>
        </p:nvSpPr>
        <p:spPr>
          <a:xfrm>
            <a:off x="8430768" y="3017520"/>
            <a:ext cx="3026664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Highest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522208" y="3520440"/>
            <a:ext cx="2843784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0F3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Contains additional requirements that may not always be practical for an entire product. Example: sign language provided for videos.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548640" y="598932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W3C, WCAG Overview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in the HCI Design Process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PUTTING IT INTO PRACTICE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ongoing cycle — not a one-time task at the end of a project.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1548079" y="2286000"/>
            <a:ext cx="9092794" cy="0"/>
          </a:xfrm>
          <a:prstGeom prst="line">
            <a:avLst/>
          </a:prstGeom>
          <a:noFill/>
          <a:ln w="25400">
            <a:solidFill>
              <a:srgbClr val="DCE3F5"/>
            </a:solidFill>
            <a:prstDash val="dash"/>
          </a:ln>
        </p:spPr>
      </p:sp>
      <p:sp>
        <p:nvSpPr>
          <p:cNvPr id="6" name="Shape 4"/>
          <p:cNvSpPr/>
          <p:nvPr/>
        </p:nvSpPr>
        <p:spPr>
          <a:xfrm>
            <a:off x="1228039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work/icons/user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1250" y="2049170"/>
            <a:ext cx="473659" cy="473659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1676095" y="1856232"/>
            <a:ext cx="310896" cy="310896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1676095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548640" y="2834640"/>
            <a:ext cx="1998878" cy="2651760"/>
          </a:xfrm>
          <a:prstGeom prst="roundRect">
            <a:avLst>
              <a:gd name="adj" fmla="val 3660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58368" y="2971800"/>
            <a:ext cx="177942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users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85800" y="3566160"/>
            <a:ext cx="172455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different types of users and their abilities</a:t>
            </a:r>
            <a:endParaRPr lang="en-US" sz="1100" dirty="0"/>
          </a:p>
        </p:txBody>
      </p:sp>
      <p:sp>
        <p:nvSpPr>
          <p:cNvPr id="13" name="Shape 10"/>
          <p:cNvSpPr/>
          <p:nvPr/>
        </p:nvSpPr>
        <p:spPr>
          <a:xfrm>
            <a:off x="3501238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1" descr="/home/claude/work/icons/search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84448" y="2049170"/>
            <a:ext cx="473659" cy="473659"/>
          </a:xfrm>
          <a:prstGeom prst="rect">
            <a:avLst/>
          </a:prstGeom>
        </p:spPr>
      </p:pic>
      <p:sp>
        <p:nvSpPr>
          <p:cNvPr id="15" name="Shape 11"/>
          <p:cNvSpPr/>
          <p:nvPr/>
        </p:nvSpPr>
        <p:spPr>
          <a:xfrm>
            <a:off x="3949294" y="1856232"/>
            <a:ext cx="310896" cy="310896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3949294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7" name="Shape 13"/>
          <p:cNvSpPr/>
          <p:nvPr/>
        </p:nvSpPr>
        <p:spPr>
          <a:xfrm>
            <a:off x="2821838" y="2834640"/>
            <a:ext cx="1998878" cy="2651760"/>
          </a:xfrm>
          <a:prstGeom prst="roundRect">
            <a:avLst>
              <a:gd name="adj" fmla="val 3660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2931566" y="2971800"/>
            <a:ext cx="177942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barriers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2958998" y="3566160"/>
            <a:ext cx="172455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what could prevent someone from using the system</a:t>
            </a:r>
            <a:endParaRPr lang="en-US" sz="1100" dirty="0"/>
          </a:p>
        </p:txBody>
      </p:sp>
      <p:sp>
        <p:nvSpPr>
          <p:cNvPr id="20" name="Shape 16"/>
          <p:cNvSpPr/>
          <p:nvPr/>
        </p:nvSpPr>
        <p:spPr>
          <a:xfrm>
            <a:off x="5774436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2" descr="/home/claude/work/icons/cod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57646" y="2049170"/>
            <a:ext cx="473659" cy="473659"/>
          </a:xfrm>
          <a:prstGeom prst="rect">
            <a:avLst/>
          </a:prstGeom>
        </p:spPr>
      </p:pic>
      <p:sp>
        <p:nvSpPr>
          <p:cNvPr id="22" name="Shape 17"/>
          <p:cNvSpPr/>
          <p:nvPr/>
        </p:nvSpPr>
        <p:spPr>
          <a:xfrm>
            <a:off x="6222492" y="1856232"/>
            <a:ext cx="310896" cy="310896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222492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24" name="Shape 19"/>
          <p:cNvSpPr/>
          <p:nvPr/>
        </p:nvSpPr>
        <p:spPr>
          <a:xfrm>
            <a:off x="5095037" y="2834640"/>
            <a:ext cx="1998878" cy="2651760"/>
          </a:xfrm>
          <a:prstGeom prst="roundRect">
            <a:avLst>
              <a:gd name="adj" fmla="val 3660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5" name="Text 20"/>
          <p:cNvSpPr/>
          <p:nvPr/>
        </p:nvSpPr>
        <p:spPr>
          <a:xfrm>
            <a:off x="5204765" y="2971800"/>
            <a:ext cx="177942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&amp; develop</a:t>
            </a:r>
            <a:endParaRPr lang="en-US" sz="1300" dirty="0"/>
          </a:p>
        </p:txBody>
      </p:sp>
      <p:sp>
        <p:nvSpPr>
          <p:cNvPr id="26" name="Text 21"/>
          <p:cNvSpPr/>
          <p:nvPr/>
        </p:nvSpPr>
        <p:spPr>
          <a:xfrm>
            <a:off x="5232197" y="3566160"/>
            <a:ext cx="172455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in accessible interaction and structure</a:t>
            </a:r>
            <a:endParaRPr lang="en-US" sz="1100" dirty="0"/>
          </a:p>
        </p:txBody>
      </p:sp>
      <p:sp>
        <p:nvSpPr>
          <p:cNvPr id="27" name="Shape 22"/>
          <p:cNvSpPr/>
          <p:nvPr/>
        </p:nvSpPr>
        <p:spPr>
          <a:xfrm>
            <a:off x="8047634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8" name="Image 3" descr="/home/claude/work/icons/clipboardChec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130845" y="2049170"/>
            <a:ext cx="473659" cy="473659"/>
          </a:xfrm>
          <a:prstGeom prst="rect">
            <a:avLst/>
          </a:prstGeom>
        </p:spPr>
      </p:pic>
      <p:sp>
        <p:nvSpPr>
          <p:cNvPr id="29" name="Shape 23"/>
          <p:cNvSpPr/>
          <p:nvPr/>
        </p:nvSpPr>
        <p:spPr>
          <a:xfrm>
            <a:off x="8495690" y="1856232"/>
            <a:ext cx="310896" cy="310896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0" name="Text 24"/>
          <p:cNvSpPr/>
          <p:nvPr/>
        </p:nvSpPr>
        <p:spPr>
          <a:xfrm>
            <a:off x="8495690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31" name="Shape 25"/>
          <p:cNvSpPr/>
          <p:nvPr/>
        </p:nvSpPr>
        <p:spPr>
          <a:xfrm>
            <a:off x="7368235" y="2834640"/>
            <a:ext cx="1998878" cy="2651760"/>
          </a:xfrm>
          <a:prstGeom prst="roundRect">
            <a:avLst>
              <a:gd name="adj" fmla="val 3660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32" name="Text 26"/>
          <p:cNvSpPr/>
          <p:nvPr/>
        </p:nvSpPr>
        <p:spPr>
          <a:xfrm>
            <a:off x="7477963" y="2971800"/>
            <a:ext cx="177942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</a:t>
            </a:r>
            <a:endParaRPr lang="en-US" sz="1300" dirty="0"/>
          </a:p>
        </p:txBody>
      </p:sp>
      <p:sp>
        <p:nvSpPr>
          <p:cNvPr id="33" name="Text 27"/>
          <p:cNvSpPr/>
          <p:nvPr/>
        </p:nvSpPr>
        <p:spPr>
          <a:xfrm>
            <a:off x="7505395" y="3566160"/>
            <a:ext cx="172455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tools, manual checks, assistive tech, and real users</a:t>
            </a:r>
            <a:endParaRPr lang="en-US" sz="1100" dirty="0"/>
          </a:p>
        </p:txBody>
      </p:sp>
      <p:sp>
        <p:nvSpPr>
          <p:cNvPr id="34" name="Shape 28"/>
          <p:cNvSpPr/>
          <p:nvPr/>
        </p:nvSpPr>
        <p:spPr>
          <a:xfrm>
            <a:off x="10320833" y="1965960"/>
            <a:ext cx="640080" cy="64008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35" name="Image 4" descr="/home/claude/work/icons/sync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404043" y="2049170"/>
            <a:ext cx="473659" cy="473659"/>
          </a:xfrm>
          <a:prstGeom prst="rect">
            <a:avLst/>
          </a:prstGeom>
        </p:spPr>
      </p:pic>
      <p:sp>
        <p:nvSpPr>
          <p:cNvPr id="36" name="Shape 29"/>
          <p:cNvSpPr/>
          <p:nvPr/>
        </p:nvSpPr>
        <p:spPr>
          <a:xfrm>
            <a:off x="10768889" y="1856232"/>
            <a:ext cx="310896" cy="310896"/>
          </a:xfrm>
          <a:prstGeom prst="ellipse">
            <a:avLst/>
          </a:prstGeom>
          <a:solidFill>
            <a:srgbClr val="E8833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37" name="Text 30"/>
          <p:cNvSpPr/>
          <p:nvPr/>
        </p:nvSpPr>
        <p:spPr>
          <a:xfrm>
            <a:off x="10768889" y="1837944"/>
            <a:ext cx="310896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38" name="Shape 31"/>
          <p:cNvSpPr/>
          <p:nvPr/>
        </p:nvSpPr>
        <p:spPr>
          <a:xfrm>
            <a:off x="9641434" y="2834640"/>
            <a:ext cx="1998878" cy="2651760"/>
          </a:xfrm>
          <a:prstGeom prst="roundRect">
            <a:avLst>
              <a:gd name="adj" fmla="val 3660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39" name="Text 32"/>
          <p:cNvSpPr/>
          <p:nvPr/>
        </p:nvSpPr>
        <p:spPr>
          <a:xfrm>
            <a:off x="9751162" y="2971800"/>
            <a:ext cx="1779422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&amp; repeat</a:t>
            </a:r>
            <a:endParaRPr lang="en-US" sz="1300" dirty="0"/>
          </a:p>
        </p:txBody>
      </p:sp>
      <p:sp>
        <p:nvSpPr>
          <p:cNvPr id="40" name="Text 33"/>
          <p:cNvSpPr/>
          <p:nvPr/>
        </p:nvSpPr>
        <p:spPr>
          <a:xfrm>
            <a:off x="9778594" y="3566160"/>
            <a:ext cx="1724558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is an ongoing process, not a one-time task</a:t>
            </a:r>
            <a:endParaRPr lang="en-US" sz="1100" dirty="0"/>
          </a:p>
        </p:txBody>
      </p:sp>
      <p:sp>
        <p:nvSpPr>
          <p:cNvPr id="41" name="Text 34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42" name="Text 35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11091672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Benefits Everyone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28016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b="1" kern="0" spc="200" dirty="0">
                <a:solidFill>
                  <a:srgbClr val="E883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BIGGER PICTURE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960120"/>
            <a:ext cx="11091672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Features built for accessibility often help people who don’t have disabilities too.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91640"/>
            <a:ext cx="2498598" cy="3794760"/>
          </a:xfrm>
          <a:prstGeom prst="roundRect">
            <a:avLst>
              <a:gd name="adj" fmla="val 2928"/>
            </a:avLst>
          </a:prstGeom>
          <a:solidFill>
            <a:srgbClr val="1E2761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496187" y="1965960"/>
            <a:ext cx="603504" cy="603504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7" name="Image 0" descr="/home/claude/work/icons/com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74643" y="2044416"/>
            <a:ext cx="446593" cy="446593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658368" y="2697480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Captions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685800" y="3291840"/>
            <a:ext cx="222427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someone watching a video in a noisy environment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3412998" y="1691640"/>
            <a:ext cx="2498598" cy="3794760"/>
          </a:xfrm>
          <a:prstGeom prst="roundRect">
            <a:avLst>
              <a:gd name="adj" fmla="val 29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60545" y="196596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/home/claude/work/icons/keybo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39001" y="2044416"/>
            <a:ext cx="446593" cy="446593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2726" y="2697480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Keyboard shortcuts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550158" y="3291840"/>
            <a:ext cx="222427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 experienced users work faster</a:t>
            </a:r>
            <a:endParaRPr lang="en-US" sz="1150" dirty="0"/>
          </a:p>
        </p:txBody>
      </p:sp>
      <p:sp>
        <p:nvSpPr>
          <p:cNvPr id="15" name="Shape 11"/>
          <p:cNvSpPr/>
          <p:nvPr/>
        </p:nvSpPr>
        <p:spPr>
          <a:xfrm>
            <a:off x="6277356" y="1691640"/>
            <a:ext cx="2498598" cy="3794760"/>
          </a:xfrm>
          <a:prstGeom prst="roundRect">
            <a:avLst>
              <a:gd name="adj" fmla="val 2928"/>
            </a:avLst>
          </a:prstGeom>
          <a:solidFill>
            <a:srgbClr val="1E2761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7224903" y="1965960"/>
            <a:ext cx="603504" cy="603504"/>
          </a:xfrm>
          <a:prstGeom prst="ellipse">
            <a:avLst/>
          </a:prstGeom>
          <a:solidFill>
            <a:srgbClr val="E8833A"/>
          </a:solidFill>
          <a:ln/>
        </p:spPr>
      </p:sp>
      <p:pic>
        <p:nvPicPr>
          <p:cNvPr id="17" name="Image 2" descr="/home/claude/work/icons/contras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03359" y="2044416"/>
            <a:ext cx="446593" cy="446593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387084" y="2697480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contrast</a:t>
            </a:r>
            <a:endParaRPr lang="en-US" sz="1350" dirty="0"/>
          </a:p>
        </p:txBody>
      </p:sp>
      <p:sp>
        <p:nvSpPr>
          <p:cNvPr id="19" name="Text 14"/>
          <p:cNvSpPr/>
          <p:nvPr/>
        </p:nvSpPr>
        <p:spPr>
          <a:xfrm>
            <a:off x="6414516" y="3291840"/>
            <a:ext cx="222427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Helps when a screen is used in bright sunlight</a:t>
            </a:r>
            <a:endParaRPr lang="en-US" sz="1150" dirty="0"/>
          </a:p>
        </p:txBody>
      </p:sp>
      <p:sp>
        <p:nvSpPr>
          <p:cNvPr id="20" name="Shape 15"/>
          <p:cNvSpPr/>
          <p:nvPr/>
        </p:nvSpPr>
        <p:spPr>
          <a:xfrm>
            <a:off x="9141714" y="1691640"/>
            <a:ext cx="2498598" cy="3794760"/>
          </a:xfrm>
          <a:prstGeom prst="roundRect">
            <a:avLst>
              <a:gd name="adj" fmla="val 2928"/>
            </a:avLst>
          </a:prstGeom>
          <a:solidFill>
            <a:srgbClr val="F3F6FC"/>
          </a:solidFill>
          <a:ln w="12700">
            <a:solidFill>
              <a:srgbClr val="DCE3F5"/>
            </a:solidFill>
            <a:prstDash val="solid"/>
          </a:ln>
        </p:spPr>
      </p:sp>
      <p:sp>
        <p:nvSpPr>
          <p:cNvPr id="21" name="Shape 16"/>
          <p:cNvSpPr/>
          <p:nvPr/>
        </p:nvSpPr>
        <p:spPr>
          <a:xfrm>
            <a:off x="10089261" y="1965960"/>
            <a:ext cx="603504" cy="60350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/home/claude/work/icons/exclai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0167717" y="2044416"/>
            <a:ext cx="446593" cy="446593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251442" y="2697480"/>
            <a:ext cx="2279142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Clear error messages</a:t>
            </a:r>
            <a:endParaRPr lang="en-US" sz="1350" dirty="0"/>
          </a:p>
        </p:txBody>
      </p:sp>
      <p:sp>
        <p:nvSpPr>
          <p:cNvPr id="24" name="Text 18"/>
          <p:cNvSpPr/>
          <p:nvPr/>
        </p:nvSpPr>
        <p:spPr>
          <a:xfrm>
            <a:off x="9278874" y="3291840"/>
            <a:ext cx="2224278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2228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Useful for almost everyone, not just people with disabilities</a:t>
            </a:r>
            <a:endParaRPr lang="en-US" sz="1150" dirty="0"/>
          </a:p>
        </p:txBody>
      </p:sp>
      <p:sp>
        <p:nvSpPr>
          <p:cNvPr id="25" name="Text 19"/>
          <p:cNvSpPr/>
          <p:nvPr/>
        </p:nvSpPr>
        <p:spPr>
          <a:xfrm>
            <a:off x="548640" y="5852160"/>
            <a:ext cx="11091672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Reference: W3C, Accessibility, Usability, and Inclusion</a:t>
            </a:r>
            <a:endParaRPr lang="en-US" sz="1050" dirty="0"/>
          </a:p>
        </p:txBody>
      </p:sp>
      <p:sp>
        <p:nvSpPr>
          <p:cNvPr id="26" name="Text 20"/>
          <p:cNvSpPr/>
          <p:nvPr/>
        </p:nvSpPr>
        <p:spPr>
          <a:xfrm>
            <a:off x="457200" y="647395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Accessibility Guidelines in HCI</a:t>
            </a:r>
            <a:endParaRPr lang="en-US" sz="1000" dirty="0"/>
          </a:p>
        </p:txBody>
      </p:sp>
      <p:sp>
        <p:nvSpPr>
          <p:cNvPr id="27" name="Text 21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6B72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12192000" cy="1965960"/>
          </a:xfrm>
          <a:prstGeom prst="rect">
            <a:avLst/>
          </a:prstGeom>
          <a:solidFill>
            <a:srgbClr val="161B4D"/>
          </a:solidFill>
          <a:ln/>
        </p:spPr>
      </p:sp>
      <p:sp>
        <p:nvSpPr>
          <p:cNvPr id="3" name="Shape 1"/>
          <p:cNvSpPr/>
          <p:nvPr/>
        </p:nvSpPr>
        <p:spPr>
          <a:xfrm>
            <a:off x="822960" y="822960"/>
            <a:ext cx="822960" cy="822960"/>
          </a:xfrm>
          <a:prstGeom prst="ellipse">
            <a:avLst/>
          </a:prstGeom>
          <a:solidFill>
            <a:srgbClr val="FFFFFF">
              <a:alpha val="15000"/>
            </a:srgbClr>
          </a:solidFill>
          <a:ln/>
        </p:spPr>
      </p:sp>
      <p:pic>
        <p:nvPicPr>
          <p:cNvPr id="4" name="Image 0" descr="/home/claude/work/icons/universal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3486" y="913486"/>
            <a:ext cx="641909" cy="641909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822960" y="23317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kern="0" spc="3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777240" y="2697480"/>
            <a:ext cx="105156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 Is Good Design</a:t>
            </a:r>
            <a:endParaRPr lang="en-US" sz="4400" dirty="0"/>
          </a:p>
        </p:txBody>
      </p:sp>
      <p:sp>
        <p:nvSpPr>
          <p:cNvPr id="7" name="Text 4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starts with empathy, follows the POUR framework, and never really finishes.</a:t>
            </a:r>
            <a:endParaRPr lang="en-US" sz="1800" dirty="0"/>
          </a:p>
        </p:txBody>
      </p:sp>
      <p:sp>
        <p:nvSpPr>
          <p:cNvPr id="8" name="Shape 5"/>
          <p:cNvSpPr/>
          <p:nvPr/>
        </p:nvSpPr>
        <p:spPr>
          <a:xfrm>
            <a:off x="822960" y="4736640"/>
            <a:ext cx="2011680" cy="0"/>
          </a:xfrm>
          <a:prstGeom prst="line">
            <a:avLst/>
          </a:prstGeom>
          <a:noFill/>
          <a:ln w="38100">
            <a:solidFill>
              <a:srgbClr val="E8833A"/>
            </a:solidFill>
            <a:prstDash val="solid"/>
          </a:ln>
        </p:spPr>
      </p:sp>
      <p:sp>
        <p:nvSpPr>
          <p:cNvPr id="10" name="Shape 10"/>
          <p:cNvSpPr/>
          <p:nvPr/>
        </p:nvSpPr>
        <p:spPr>
          <a:xfrm>
            <a:off x="2202688" y="5100000"/>
            <a:ext cx="512064" cy="5120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1" name="Image 11" descr="/home/claude/work/icons/universalA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9256" y="5166568"/>
            <a:ext cx="378927" cy="378927"/>
          </a:xfrm>
          <a:prstGeom prst="rect">
            <a:avLst/>
          </a:prstGeom>
        </p:spPr>
      </p:pic>
      <p:sp>
        <p:nvSpPr>
          <p:cNvPr id="12" name="Text 12"/>
          <p:cNvSpPr/>
          <p:nvPr/>
        </p:nvSpPr>
        <p:spPr>
          <a:xfrm>
            <a:off x="822960" y="5720080"/>
            <a:ext cx="327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for everyone</a:t>
            </a:r>
            <a:endParaRPr lang="en-US" sz="1400" dirty="0"/>
          </a:p>
        </p:txBody>
      </p:sp>
      <p:sp>
        <p:nvSpPr>
          <p:cNvPr id="13" name="Text 13"/>
          <p:cNvSpPr/>
          <p:nvPr/>
        </p:nvSpPr>
        <p:spPr>
          <a:xfrm>
            <a:off x="822960" y="6050000"/>
            <a:ext cx="327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Beyond the "typical" user</a:t>
            </a:r>
            <a:endParaRPr lang="en-US" sz="1200" dirty="0"/>
          </a:p>
        </p:txBody>
      </p:sp>
      <p:sp>
        <p:nvSpPr>
          <p:cNvPr id="14" name="Shape 14"/>
          <p:cNvSpPr/>
          <p:nvPr/>
        </p:nvSpPr>
        <p:spPr>
          <a:xfrm>
            <a:off x="5839968" y="5100000"/>
            <a:ext cx="512064" cy="5120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5" name="Image 15" descr="/home/claude/work/icons/checkCircl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6536" y="5166568"/>
            <a:ext cx="378927" cy="378927"/>
          </a:xfrm>
          <a:prstGeom prst="rect">
            <a:avLst/>
          </a:prstGeom>
        </p:spPr>
      </p:pic>
      <p:sp>
        <p:nvSpPr>
          <p:cNvPr id="16" name="Text 16"/>
          <p:cNvSpPr/>
          <p:nvPr/>
        </p:nvSpPr>
        <p:spPr>
          <a:xfrm>
            <a:off x="4460240" y="5720080"/>
            <a:ext cx="327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POUR</a:t>
            </a:r>
            <a:endParaRPr lang="en-US" sz="1400" dirty="0"/>
          </a:p>
        </p:txBody>
      </p:sp>
      <p:sp>
        <p:nvSpPr>
          <p:cNvPr id="17" name="Text 17"/>
          <p:cNvSpPr/>
          <p:nvPr/>
        </p:nvSpPr>
        <p:spPr>
          <a:xfrm>
            <a:off x="4460240" y="6050000"/>
            <a:ext cx="327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Perceivable, Operable, Understandable, Robust</a:t>
            </a:r>
            <a:endParaRPr lang="en-US" sz="1200" dirty="0"/>
          </a:p>
        </p:txBody>
      </p:sp>
      <p:sp>
        <p:nvSpPr>
          <p:cNvPr id="18" name="Shape 18"/>
          <p:cNvSpPr/>
          <p:nvPr/>
        </p:nvSpPr>
        <p:spPr>
          <a:xfrm>
            <a:off x="9477248" y="5100000"/>
            <a:ext cx="512064" cy="512064"/>
          </a:xfrm>
          <a:prstGeom prst="ellipse">
            <a:avLst/>
          </a:prstGeom>
          <a:solidFill>
            <a:srgbClr val="FFFFFF">
              <a:alpha val="12000"/>
            </a:srgbClr>
          </a:solidFill>
          <a:ln/>
        </p:spPr>
      </p:sp>
      <p:pic>
        <p:nvPicPr>
          <p:cNvPr id="19" name="Image 19" descr="/home/claude/work/icons/sync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43816" y="5166568"/>
            <a:ext cx="378927" cy="378927"/>
          </a:xfrm>
          <a:prstGeom prst="rect">
            <a:avLst/>
          </a:prstGeom>
        </p:spPr>
      </p:pic>
      <p:sp>
        <p:nvSpPr>
          <p:cNvPr id="20" name="Text 20"/>
          <p:cNvSpPr/>
          <p:nvPr/>
        </p:nvSpPr>
        <p:spPr>
          <a:xfrm>
            <a:off x="8097520" y="5720080"/>
            <a:ext cx="327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&amp; iterate</a:t>
            </a:r>
            <a:endParaRPr lang="en-US" sz="1400" dirty="0"/>
          </a:p>
        </p:txBody>
      </p:sp>
      <p:sp>
        <p:nvSpPr>
          <p:cNvPr id="21" name="Text 21"/>
          <p:cNvSpPr/>
          <p:nvPr/>
        </p:nvSpPr>
        <p:spPr>
          <a:xfrm>
            <a:off x="8097520" y="6050000"/>
            <a:ext cx="327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ongoing process, not a checklist</a:t>
            </a:r>
            <a:endParaRPr lang="en-US" sz="1200" dirty="0"/>
          </a:p>
        </p:txBody>
      </p:sp>
      <p:sp>
        <p:nvSpPr>
          <p:cNvPr id="22" name="Text 22"/>
          <p:cNvSpPr/>
          <p:nvPr/>
        </p:nvSpPr>
        <p:spPr>
          <a:xfrm>
            <a:off x="11274552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111</TotalTime>
  <Words>1736</Words>
  <Application>Microsoft Office PowerPoint</Application>
  <PresentationFormat>Widescreen</PresentationFormat>
  <Paragraphs>270</Paragraphs>
  <Slides>18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Muhammad  Abdul Rehman</cp:lastModifiedBy>
  <cp:revision>7</cp:revision>
  <dcterms:created xsi:type="dcterms:W3CDTF">2026-09-14T06:26:01Z</dcterms:created>
  <dcterms:modified xsi:type="dcterms:W3CDTF">2026-09-16T06:06:24Z</dcterms:modified>
</cp:coreProperties>
</file>