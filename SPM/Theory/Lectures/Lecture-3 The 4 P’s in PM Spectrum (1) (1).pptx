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30"/>
  </p:notes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3" r:id="rId24"/>
    <p:sldId id="284" r:id="rId25"/>
    <p:sldId id="285" r:id="rId26"/>
    <p:sldId id="286" r:id="rId27"/>
    <p:sldId id="301" r:id="rId28"/>
    <p:sldId id="28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CF48E-191A-4E97-AB7E-70F10538655B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695C5-2509-4C26-BD86-73E00A70D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4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575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900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768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360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094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896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81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8236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75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066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09946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538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7332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5978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9092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8096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854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CCBC6-BBD0-4269-8E15-E397A128398C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794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8B18A-0D71-4EB1-B2A0-EEBDD3591E14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486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FAC90-24DB-4F90-B081-1EC31F3B35A6}" type="datetime1">
              <a:rPr lang="LID4096" smtClean="0"/>
              <a:t>02/21/2023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2582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4A5EB-F155-43A3-8B21-E2F6D67F4297}" type="datetime1">
              <a:rPr lang="LID4096" smtClean="0"/>
              <a:t>02/21/2023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6008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8824C-3111-496A-9251-7FECDF68981E}" type="datetime1">
              <a:rPr lang="LID4096" smtClean="0"/>
              <a:t>02/21/2023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15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CEA6F-A451-4A26-96B2-9AE2BE5E0FA7}" type="datetimeFigureOut">
              <a:rPr lang="en-PK" smtClean="0"/>
              <a:t>02/21/2023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B6CD44-7799-4C17-9166-73EBBFFD28F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622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7112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787400" y="1280160"/>
            <a:ext cx="1140460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790" y="357379"/>
            <a:ext cx="11414420" cy="691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9751" y="1278890"/>
            <a:ext cx="576241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986" y="6575017"/>
            <a:ext cx="173651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F2022"/>
                </a:solidFill>
                <a:latin typeface="Tw Cen MT"/>
                <a:cs typeface="Tw Cen MT"/>
              </a:defRPr>
            </a:lvl1pPr>
          </a:lstStyle>
          <a:p>
            <a:pPr marL="12700">
              <a:lnSpc>
                <a:spcPts val="1675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92C42-D69F-4F44-BACC-179757B97AA7}" type="datetime1">
              <a:rPr lang="LID4096" smtClean="0"/>
              <a:t>02/21/2023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424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onx2u.com/index.php?option=com_content&amp;amp;view=article&amp;amp;id=53&amp;amp;Itemid=55" TargetMode="External"/><Relationship Id="rId3" Type="http://schemas.openxmlformats.org/officeDocument/2006/relationships/hyperlink" Target="http://en.wikipedia.org/wiki/Performance_management" TargetMode="External"/><Relationship Id="rId7" Type="http://schemas.openxmlformats.org/officeDocument/2006/relationships/hyperlink" Target="http://pathikconsulting.com/team-and-culture-development-corporate-culture-consulting.html" TargetMode="External"/><Relationship Id="rId2" Type="http://schemas.openxmlformats.org/officeDocument/2006/relationships/hyperlink" Target="http://recruitment.naukrihub.com/recruitment-vs-selection.html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://www.wisegeek.com/what-is-career-development.htm" TargetMode="External"/><Relationship Id="rId5" Type="http://schemas.openxmlformats.org/officeDocument/2006/relationships/hyperlink" Target="http://www.inovus.com/organiza.htm" TargetMode="External"/><Relationship Id="rId4" Type="http://schemas.openxmlformats.org/officeDocument/2006/relationships/hyperlink" Target="http://en.wikipedia.org/wiki/Workers'_compensation" TargetMode="External"/><Relationship Id="rId9" Type="http://schemas.openxmlformats.org/officeDocument/2006/relationships/hyperlink" Target="http://en.wikipedia.org/wiki/Bulletin_board_syste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E0F1-384E-41A2-B1AC-FDE81B241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278" y="1400658"/>
            <a:ext cx="9144000" cy="2387600"/>
          </a:xfrm>
        </p:spPr>
        <p:txBody>
          <a:bodyPr/>
          <a:lstStyle/>
          <a:p>
            <a: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4 P’s in </a:t>
            </a:r>
            <a:r>
              <a:rPr lang="en-US" sz="43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 Spectrum (1)</a:t>
            </a:r>
            <a:br>
              <a:rPr lang="en-US" sz="43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5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4595" y="2769234"/>
            <a:ext cx="1364615" cy="199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 defTabSz="914400"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30" dirty="0">
                <a:solidFill>
                  <a:srgbClr val="FFFFFF"/>
                </a:solidFill>
                <a:latin typeface="Tw Cen MT"/>
                <a:cs typeface="Tw Cen MT"/>
              </a:rPr>
              <a:t>People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695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P</a:t>
            </a:r>
            <a:r>
              <a:rPr sz="2800" spc="-60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o</a:t>
            </a:r>
            <a:r>
              <a:rPr sz="2800" dirty="0">
                <a:solidFill>
                  <a:srgbClr val="FFFFFF"/>
                </a:solidFill>
                <a:latin typeface="Tw Cen MT"/>
                <a:cs typeface="Tw Cen MT"/>
              </a:rPr>
              <a:t>d</a:t>
            </a:r>
            <a:r>
              <a:rPr sz="2800" spc="-5" dirty="0">
                <a:solidFill>
                  <a:srgbClr val="FFFFFF"/>
                </a:solidFill>
                <a:latin typeface="Tw Cen MT"/>
                <a:cs typeface="Tw Cen MT"/>
              </a:rPr>
              <a:t>uct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710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10" dirty="0">
                <a:solidFill>
                  <a:srgbClr val="FFFFFF"/>
                </a:solidFill>
                <a:latin typeface="Tw Cen MT"/>
                <a:cs typeface="Tw Cen MT"/>
              </a:rPr>
              <a:t>Process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indent="-286385" defTabSz="914400">
              <a:spcBef>
                <a:spcPts val="695"/>
              </a:spcBef>
              <a:buClr>
                <a:srgbClr val="CC8E5F"/>
              </a:buClr>
              <a:buSzPct val="58928"/>
              <a:buFont typeface="Wingdings"/>
              <a:buChar char=""/>
              <a:tabLst>
                <a:tab pos="299720" algn="l"/>
              </a:tabLst>
            </a:pPr>
            <a:r>
              <a:rPr sz="2800" spc="-10" dirty="0">
                <a:solidFill>
                  <a:srgbClr val="FFFFFF"/>
                </a:solidFill>
                <a:latin typeface="Tw Cen MT"/>
                <a:cs typeface="Tw Cen MT"/>
              </a:rPr>
              <a:t>Project</a:t>
            </a:r>
            <a:endParaRPr sz="28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585135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dirty="0">
                <a:solidFill>
                  <a:srgbClr val="FFFFFF"/>
                </a:solidFill>
              </a:rPr>
              <a:t>The </a:t>
            </a:r>
            <a:r>
              <a:rPr dirty="0">
                <a:solidFill>
                  <a:srgbClr val="FFFFFF"/>
                </a:solidFill>
              </a:rPr>
              <a:t>4</a:t>
            </a:r>
            <a:r>
              <a:rPr lang="en-US" dirty="0">
                <a:solidFill>
                  <a:srgbClr val="FFFFFF"/>
                </a:solidFill>
              </a:rPr>
              <a:t> P’s</a:t>
            </a:r>
            <a:r>
              <a:rPr dirty="0">
                <a:solidFill>
                  <a:srgbClr val="FFFFFF"/>
                </a:solidFill>
              </a:rPr>
              <a:t> in PM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10" dirty="0">
                <a:solidFill>
                  <a:srgbClr val="FFFFFF"/>
                </a:solidFill>
              </a:rPr>
              <a:t>Spectrum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4594" y="2925190"/>
            <a:ext cx="2302510" cy="2600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5" dirty="0">
                <a:solidFill>
                  <a:srgbClr val="FFFFFF"/>
                </a:solidFill>
                <a:latin typeface="Tw Cen MT"/>
                <a:cs typeface="Tw Cen MT"/>
              </a:rPr>
              <a:t>Stakeholders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FontTx/>
              <a:buChar char=""/>
            </a:pP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indent="-457200" defTabSz="914400">
              <a:spcBef>
                <a:spcPts val="151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50" dirty="0">
                <a:solidFill>
                  <a:srgbClr val="FFFFFF"/>
                </a:solidFill>
                <a:latin typeface="Tw Cen MT"/>
                <a:cs typeface="Tw Cen MT"/>
              </a:rPr>
              <a:t>Team</a:t>
            </a:r>
            <a:r>
              <a:rPr sz="2400" spc="-7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w Cen MT"/>
                <a:cs typeface="Tw Cen MT"/>
              </a:rPr>
              <a:t>Leaders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FontTx/>
              <a:buChar char=""/>
            </a:pP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69900" indent="-457200" defTabSz="914400">
              <a:spcBef>
                <a:spcPts val="152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15" dirty="0">
                <a:solidFill>
                  <a:srgbClr val="FFFFFF"/>
                </a:solidFill>
                <a:latin typeface="Tw Cen MT"/>
                <a:cs typeface="Tw Cen MT"/>
              </a:rPr>
              <a:t>Software</a:t>
            </a:r>
            <a:r>
              <a:rPr sz="2400" spc="-7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w Cen MT"/>
                <a:cs typeface="Tw Cen MT"/>
              </a:rPr>
              <a:t>Team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buFontTx/>
              <a:buChar char=""/>
            </a:pP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74595" y="1729360"/>
            <a:ext cx="2028189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45" dirty="0">
                <a:solidFill>
                  <a:srgbClr val="FFFFFF"/>
                </a:solidFill>
              </a:rPr>
              <a:t>People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[1]</a:t>
            </a:r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353050" y="3333750"/>
            <a:ext cx="5238750" cy="2381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260" dirty="0"/>
              <a:t>P</a:t>
            </a:r>
            <a:r>
              <a:rPr dirty="0"/>
              <a:t>e</a:t>
            </a:r>
            <a:r>
              <a:rPr spc="5" dirty="0"/>
              <a:t>o</a:t>
            </a:r>
            <a:r>
              <a:rPr dirty="0"/>
              <a:t>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7462" y="1278891"/>
            <a:ext cx="8475345" cy="4319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/>
            <a:endParaRPr sz="1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10895" indent="-320675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10895" algn="l"/>
                <a:tab pos="81153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 most important factor in success of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400" spc="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5"/>
              </a:spcBef>
              <a:buFontTx/>
              <a:buChar char=""/>
            </a:pPr>
            <a:endParaRPr sz="3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10895" marR="5080" indent="-320675" defTabSz="914400">
              <a:lnSpc>
                <a:spcPts val="230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810895" algn="l"/>
                <a:tab pos="811530" algn="l"/>
                <a:tab pos="2389505" algn="l"/>
                <a:tab pos="3039110" algn="l"/>
                <a:tab pos="4113529" algn="l"/>
                <a:tab pos="5232400" algn="l"/>
                <a:tab pos="5902960" algn="l"/>
                <a:tab pos="7268845" algn="l"/>
                <a:tab pos="760095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“Companies	T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at	sen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b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y	mana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r	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spc="-3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est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	in	people  will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prosper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 the long </a:t>
            </a:r>
            <a:r>
              <a:rPr sz="2400" spc="15" dirty="0">
                <a:solidFill>
                  <a:prstClr val="black"/>
                </a:solidFill>
                <a:latin typeface="Tw Cen MT"/>
                <a:cs typeface="Tw Cen MT"/>
              </a:rPr>
              <a:t>run”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35"/>
              </a:spcBef>
              <a:buFontTx/>
              <a:buChar char=""/>
            </a:pPr>
            <a:endParaRPr sz="2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10895" indent="-320675" defTabSz="914400">
              <a:lnSpc>
                <a:spcPts val="2590"/>
              </a:lnSpc>
              <a:buClr>
                <a:srgbClr val="CC8E5F"/>
              </a:buClr>
              <a:buSzPct val="60416"/>
              <a:buFont typeface="Wingdings"/>
              <a:buChar char=""/>
              <a:tabLst>
                <a:tab pos="810895" algn="l"/>
                <a:tab pos="811530" algn="l"/>
                <a:tab pos="2226310" algn="l"/>
                <a:tab pos="2640965" algn="l"/>
                <a:tab pos="3994785" algn="l"/>
                <a:tab pos="4616450" algn="l"/>
                <a:tab pos="5488305" algn="l"/>
                <a:tab pos="6396990" algn="l"/>
                <a:tab pos="759840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lt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ation	of	moti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ated	and	high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y	s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k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ille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	soft</a:t>
            </a:r>
            <a:r>
              <a:rPr sz="2400" spc="-11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	pe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ple</a:t>
            </a:r>
          </a:p>
          <a:p>
            <a:pPr marL="810895" defTabSz="914400">
              <a:lnSpc>
                <a:spcPts val="2590"/>
              </a:lnSpc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has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always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been important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 software</a:t>
            </a:r>
            <a:r>
              <a:rPr sz="2400"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organizations.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5"/>
              </a:spcBef>
            </a:pPr>
            <a:endParaRPr sz="2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10895" indent="-320675" defTabSz="914400">
              <a:lnSpc>
                <a:spcPts val="2595"/>
              </a:lnSpc>
              <a:buClr>
                <a:srgbClr val="CC8E5F"/>
              </a:buClr>
              <a:buSzPct val="60416"/>
              <a:buFont typeface="Wingdings"/>
              <a:buChar char=""/>
              <a:tabLst>
                <a:tab pos="810895" algn="l"/>
                <a:tab pos="811530" algn="l"/>
                <a:tab pos="1379220" algn="l"/>
                <a:tab pos="3447415" algn="l"/>
                <a:tab pos="3764279" algn="l"/>
                <a:tab pos="4166870" algn="l"/>
                <a:tab pos="5480685" algn="l"/>
                <a:tab pos="6096635" algn="l"/>
                <a:tab pos="6598284" algn="l"/>
                <a:tab pos="7150100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“peopl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-facto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”	is	so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impo</a:t>
            </a:r>
            <a:r>
              <a:rPr sz="2400" spc="5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tant	that	S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oftware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lang="en-US" sz="2400" spc="5" dirty="0">
                <a:solidFill>
                  <a:prstClr val="black"/>
                </a:solidFill>
                <a:latin typeface="Tw Cen MT"/>
                <a:cs typeface="Tw Cen MT"/>
              </a:rPr>
              <a:t>ngineering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nstitute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has	de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elop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People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Management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Capability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Maturity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Model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(PM-CMM).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5" dirty="0"/>
              <a:t>P</a:t>
            </a:r>
            <a:r>
              <a:rPr spc="-5" dirty="0"/>
              <a:t>M-</a:t>
            </a:r>
            <a:r>
              <a:rPr dirty="0"/>
              <a:t>CMM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9801" y="2209801"/>
            <a:ext cx="7999095" cy="143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spcBef>
                <a:spcPts val="20"/>
              </a:spcBef>
            </a:pPr>
            <a:endParaRPr sz="17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2740" marR="5715" indent="-320040" algn="just" defTabSz="914400">
              <a:lnSpc>
                <a:spcPct val="10670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33337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Organizations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that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achieve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high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levels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maturity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PM-CMM 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have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higher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likelihood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implementing effective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engineering</a:t>
            </a:r>
            <a:r>
              <a:rPr sz="2400" spc="-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practices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5" dirty="0"/>
              <a:t>P</a:t>
            </a:r>
            <a:r>
              <a:rPr spc="-5" dirty="0"/>
              <a:t>M-</a:t>
            </a:r>
            <a:r>
              <a:rPr dirty="0"/>
              <a:t>CMM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537908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928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800" spc="-45" dirty="0">
                <a:solidFill>
                  <a:prstClr val="black"/>
                </a:solidFill>
                <a:latin typeface="Tw Cen MT"/>
                <a:cs typeface="Tw Cen MT"/>
              </a:rPr>
              <a:t>Key </a:t>
            </a: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Practice </a:t>
            </a:r>
            <a:r>
              <a:rPr sz="2800" dirty="0">
                <a:solidFill>
                  <a:prstClr val="black"/>
                </a:solidFill>
                <a:latin typeface="Tw Cen MT"/>
                <a:cs typeface="Tw Cen MT"/>
              </a:rPr>
              <a:t>Areas </a:t>
            </a: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800" spc="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800" dirty="0">
                <a:solidFill>
                  <a:prstClr val="black"/>
                </a:solidFill>
                <a:latin typeface="Tw Cen MT"/>
                <a:cs typeface="Tw Cen MT"/>
              </a:rPr>
              <a:t>PM-CMM</a:t>
            </a:r>
          </a:p>
          <a:p>
            <a:pPr marL="1171575" lvl="1" indent="-274320" defTabSz="914400">
              <a:spcBef>
                <a:spcPts val="64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endParaRPr lang="en-US"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4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Recruiting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[3]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14601" y="3464747"/>
            <a:ext cx="154495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Selection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[3]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71597" y="4212864"/>
            <a:ext cx="33096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Performance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</a:t>
            </a:r>
            <a:r>
              <a:rPr sz="20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[4]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5612" y="5105401"/>
            <a:ext cx="109791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spc="-1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ain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ng</a:t>
            </a:r>
          </a:p>
        </p:txBody>
      </p:sp>
      <p:sp>
        <p:nvSpPr>
          <p:cNvPr id="7" name="object 7"/>
          <p:cNvSpPr/>
          <p:nvPr/>
        </p:nvSpPr>
        <p:spPr>
          <a:xfrm>
            <a:off x="4572000" y="2542033"/>
            <a:ext cx="1676400" cy="1726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12128" y="1623950"/>
            <a:ext cx="2031873" cy="18050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67601" y="3962387"/>
            <a:ext cx="1650873" cy="18078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4400" y="5105401"/>
            <a:ext cx="1524000" cy="16084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5" dirty="0"/>
              <a:t>P</a:t>
            </a:r>
            <a:r>
              <a:rPr spc="-5" dirty="0"/>
              <a:t>M-</a:t>
            </a:r>
            <a:r>
              <a:rPr dirty="0"/>
              <a:t>CMM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4730750" cy="1116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Key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Practice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Areas of</a:t>
            </a:r>
            <a:r>
              <a:rPr sz="2400" spc="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PM-CMM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Compensation</a:t>
            </a:r>
            <a:r>
              <a:rPr sz="20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[5]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81452" y="3216784"/>
            <a:ext cx="290703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Organizational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design</a:t>
            </a:r>
            <a:r>
              <a:rPr sz="2000" spc="-1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[6]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1453" y="4360037"/>
            <a:ext cx="273240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Career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development</a:t>
            </a:r>
            <a:r>
              <a:rPr sz="2000" spc="-1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[7]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1452" y="5503368"/>
            <a:ext cx="33274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6385" indent="-273685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Team/culture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development</a:t>
            </a:r>
            <a:r>
              <a:rPr sz="20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[8]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05120" y="4155694"/>
            <a:ext cx="2857500" cy="13307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96200" y="5562598"/>
            <a:ext cx="2774696" cy="121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05601" y="1524001"/>
            <a:ext cx="3932809" cy="2597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5" dirty="0"/>
              <a:t>P</a:t>
            </a:r>
            <a:r>
              <a:rPr spc="-5" dirty="0"/>
              <a:t>M-</a:t>
            </a:r>
            <a:r>
              <a:rPr dirty="0"/>
              <a:t>CMM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4730750" cy="1116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Key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Practice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Areas of</a:t>
            </a:r>
            <a:r>
              <a:rPr sz="2400" spc="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PM-CMM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62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000" spc="-30" dirty="0">
                <a:solidFill>
                  <a:prstClr val="black"/>
                </a:solidFill>
                <a:latin typeface="Tw Cen MT"/>
                <a:cs typeface="Tw Cen MT"/>
              </a:rPr>
              <a:t>Work</a:t>
            </a:r>
            <a:r>
              <a:rPr sz="2000" spc="-1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environment</a:t>
            </a:r>
          </a:p>
        </p:txBody>
      </p:sp>
      <p:sp>
        <p:nvSpPr>
          <p:cNvPr id="4" name="object 4"/>
          <p:cNvSpPr/>
          <p:nvPr/>
        </p:nvSpPr>
        <p:spPr>
          <a:xfrm>
            <a:off x="4657726" y="2714117"/>
            <a:ext cx="2276475" cy="17054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201" y="2286000"/>
            <a:ext cx="3244977" cy="396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0237" y="4593464"/>
            <a:ext cx="2214626" cy="1654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9626" y="4572000"/>
            <a:ext cx="2314575" cy="167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00237" y="2710689"/>
            <a:ext cx="2214626" cy="16541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35" dirty="0"/>
              <a:t>Peoples </a:t>
            </a:r>
            <a:r>
              <a:rPr spc="-20" dirty="0"/>
              <a:t>involved </a:t>
            </a:r>
            <a:r>
              <a:rPr spc="-5" dirty="0"/>
              <a:t>in </a:t>
            </a:r>
            <a:r>
              <a:rPr spc="-20" dirty="0"/>
              <a:t>Software</a:t>
            </a:r>
            <a:r>
              <a:rPr spc="-114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3065145" cy="3818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/>
            <a:endParaRPr sz="1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914400">
              <a:spcBef>
                <a:spcPts val="15"/>
              </a:spcBef>
            </a:pPr>
            <a:endParaRPr sz="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60344"/>
              <a:buFont typeface="Wingdings"/>
              <a:buChar char=""/>
              <a:tabLst>
                <a:tab pos="852169" algn="l"/>
              </a:tabLst>
            </a:pPr>
            <a:r>
              <a:rPr sz="2900" spc="-5" dirty="0">
                <a:solidFill>
                  <a:prstClr val="black"/>
                </a:solidFill>
                <a:latin typeface="Tw Cen MT"/>
                <a:cs typeface="Tw Cen MT"/>
              </a:rPr>
              <a:t>Stakeholders</a:t>
            </a:r>
            <a:endParaRPr sz="29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  <a:buFontTx/>
              <a:buChar char=""/>
            </a:pPr>
            <a:endParaRPr sz="4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620"/>
              <a:buFont typeface="Wingdings"/>
              <a:buChar char=""/>
              <a:tabLst>
                <a:tab pos="852169" algn="l"/>
              </a:tabLst>
            </a:pPr>
            <a:r>
              <a:rPr sz="2900" spc="-55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r>
              <a:rPr sz="29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900" dirty="0">
                <a:solidFill>
                  <a:prstClr val="black"/>
                </a:solidFill>
                <a:latin typeface="Tw Cen MT"/>
                <a:cs typeface="Tw Cen MT"/>
              </a:rPr>
              <a:t>Leaders</a:t>
            </a:r>
          </a:p>
          <a:p>
            <a:pPr defTabSz="914400">
              <a:spcBef>
                <a:spcPts val="40"/>
              </a:spcBef>
              <a:buFontTx/>
              <a:buChar char=""/>
            </a:pPr>
            <a:endParaRPr sz="4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5"/>
              </a:spcBef>
              <a:buClr>
                <a:srgbClr val="CC8E5F"/>
              </a:buClr>
              <a:buSzPct val="60344"/>
              <a:buFont typeface="Wingdings"/>
              <a:buChar char=""/>
              <a:tabLst>
                <a:tab pos="852169" algn="l"/>
              </a:tabLst>
            </a:pPr>
            <a:r>
              <a:rPr sz="29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9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900" spc="-55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endParaRPr sz="29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  <a:buFontTx/>
              <a:buChar char=""/>
            </a:pPr>
            <a:endParaRPr sz="42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800" y="1792223"/>
            <a:ext cx="4648200" cy="3617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Stakeholders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466455" cy="5047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spcBef>
                <a:spcPts val="103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</a:tabLst>
            </a:pP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can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be categorized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into one of the</a:t>
            </a:r>
            <a:r>
              <a:rPr sz="2400" spc="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following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89660" lvl="1" indent="-274320" defTabSz="914400">
              <a:spcBef>
                <a:spcPts val="37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089660" algn="l"/>
                <a:tab pos="10902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Senior</a:t>
            </a:r>
            <a:r>
              <a:rPr sz="20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Managers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2" indent="-228600" defTabSz="914400">
              <a:spcBef>
                <a:spcPts val="29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364615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define business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issues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that often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have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significant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influence on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business</a:t>
            </a:r>
          </a:p>
          <a:p>
            <a:pPr lvl="2" defTabSz="914400">
              <a:spcBef>
                <a:spcPts val="50"/>
              </a:spcBef>
              <a:buClr>
                <a:srgbClr val="CC8E5F"/>
              </a:buClr>
              <a:buFont typeface="Wingdings"/>
              <a:buChar char=""/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89660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(technical)</a:t>
            </a:r>
            <a:r>
              <a:rPr sz="2000" spc="-1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managers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2" indent="-228600" defTabSz="914400">
              <a:lnSpc>
                <a:spcPts val="2055"/>
              </a:lnSpc>
              <a:spcBef>
                <a:spcPts val="29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364615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must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plan,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motivate,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organize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and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control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practitioners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who do</a:t>
            </a:r>
          </a:p>
          <a:p>
            <a:pPr marL="1363980" defTabSz="914400">
              <a:lnSpc>
                <a:spcPts val="2055"/>
              </a:lnSpc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pc="-8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work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40"/>
              </a:spcBef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89660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Practitioners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2" indent="-228600" defTabSz="914400">
              <a:spcBef>
                <a:spcPts val="29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364615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deliver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technical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skills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necessary to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engineer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or application</a:t>
            </a:r>
          </a:p>
          <a:p>
            <a:pPr lvl="2" defTabSz="914400">
              <a:spcBef>
                <a:spcPts val="30"/>
              </a:spcBef>
              <a:buClr>
                <a:srgbClr val="CC8E5F"/>
              </a:buClr>
              <a:buFont typeface="Wingdings"/>
              <a:buChar char=""/>
            </a:pPr>
            <a:endParaRPr sz="15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89660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089660" algn="l"/>
                <a:tab pos="10902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Customers</a:t>
            </a:r>
          </a:p>
          <a:p>
            <a:pPr marL="1363980" lvl="2" indent="-228600" defTabSz="914400">
              <a:spcBef>
                <a:spcPts val="30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364615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specify the requirements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to be</a:t>
            </a: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engineered</a:t>
            </a:r>
          </a:p>
          <a:p>
            <a:pPr lvl="2" defTabSz="914400">
              <a:spcBef>
                <a:spcPts val="20"/>
              </a:spcBef>
              <a:buClr>
                <a:srgbClr val="CC8E5F"/>
              </a:buClr>
              <a:buFont typeface="Wingdings"/>
              <a:buChar char=""/>
            </a:pPr>
            <a:endParaRPr sz="15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89660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End</a:t>
            </a:r>
            <a:r>
              <a:rPr sz="20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Users</a:t>
            </a:r>
          </a:p>
          <a:p>
            <a:pPr marL="1363980" lvl="2" indent="-228600" defTabSz="914400">
              <a:spcBef>
                <a:spcPts val="29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364615" algn="l"/>
              </a:tabLst>
            </a:pP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They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interact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with the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after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it is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released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production</a:t>
            </a:r>
            <a:r>
              <a:rPr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 </a:t>
            </a:r>
            <a:r>
              <a:rPr spc="-85" dirty="0"/>
              <a:t>Team</a:t>
            </a:r>
            <a:r>
              <a:rPr spc="-100" dirty="0"/>
              <a:t> </a:t>
            </a:r>
            <a:r>
              <a:rPr dirty="0"/>
              <a:t>Leaders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665845" cy="5042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lnSpc>
                <a:spcPts val="2590"/>
              </a:lnSpc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Competent Practitioners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often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make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poor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team leaders as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they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defTabSz="914400">
              <a:lnSpc>
                <a:spcPts val="2590"/>
              </a:lnSpc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lack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 right mix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of skills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lnSpc>
                <a:spcPts val="2590"/>
              </a:lnSpc>
              <a:spcBef>
                <a:spcPts val="149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  <a:tab pos="1122680" algn="l"/>
                <a:tab pos="1578610" algn="l"/>
                <a:tab pos="2792095" algn="l"/>
                <a:tab pos="3550920" algn="l"/>
                <a:tab pos="3966845" algn="l"/>
                <a:tab pos="5171440" algn="l"/>
                <a:tab pos="6659245" algn="l"/>
                <a:tab pos="745617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	his	</a:t>
            </a:r>
            <a:r>
              <a:rPr sz="2400" spc="-75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x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cellent	book	of	te</a:t>
            </a:r>
            <a:r>
              <a:rPr sz="2400" spc="90" dirty="0">
                <a:solidFill>
                  <a:prstClr val="black"/>
                </a:solidFill>
                <a:latin typeface="Tw Cen MT"/>
                <a:cs typeface="Tw Cen MT"/>
              </a:rPr>
              <a:t>c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ica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l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lead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er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hi</a:t>
            </a:r>
            <a:r>
              <a:rPr sz="2400" spc="-105" dirty="0">
                <a:solidFill>
                  <a:prstClr val="black"/>
                </a:solidFill>
                <a:latin typeface="Tw Cen MT"/>
                <a:cs typeface="Tw Cen MT"/>
              </a:rPr>
              <a:t>p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,	</a:t>
            </a:r>
            <a:r>
              <a:rPr sz="2400" b="1" spc="15" dirty="0">
                <a:solidFill>
                  <a:prstClr val="black"/>
                </a:solidFill>
                <a:latin typeface="Tw Cen MT"/>
                <a:cs typeface="Tw Cen MT"/>
              </a:rPr>
              <a:t>J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b="1" spc="50" dirty="0">
                <a:solidFill>
                  <a:prstClr val="black"/>
                </a:solidFill>
                <a:latin typeface="Tw Cen MT"/>
                <a:cs typeface="Tw Cen MT"/>
              </a:rPr>
              <a:t>rr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y	</a:t>
            </a:r>
            <a:r>
              <a:rPr sz="2400" b="1" spc="-30" dirty="0">
                <a:solidFill>
                  <a:prstClr val="black"/>
                </a:solidFill>
                <a:latin typeface="Tw Cen MT"/>
                <a:cs typeface="Tw Cen MT"/>
              </a:rPr>
              <a:t>W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einbe</a:t>
            </a:r>
            <a:r>
              <a:rPr sz="2400" b="1" spc="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g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defTabSz="914400">
              <a:lnSpc>
                <a:spcPts val="2590"/>
              </a:lnSpc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suggests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u="heavy" spc="-5" dirty="0">
                <a:solidFill>
                  <a:prstClr val="black"/>
                </a:solidFill>
                <a:latin typeface="Tw Cen MT"/>
                <a:cs typeface="Tw Cen MT"/>
              </a:rPr>
              <a:t>MOI model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leadership </a:t>
            </a:r>
            <a:endParaRPr lang="en-US" sz="2400" spc="-5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140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36461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Motivation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821180" lvl="2" indent="-228600" defTabSz="914400">
              <a:spcBef>
                <a:spcPts val="130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821814" algn="l"/>
              </a:tabLst>
            </a:pPr>
            <a:r>
              <a:rPr lang="en-US" spc="-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ncourage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technical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people </a:t>
            </a:r>
            <a:r>
              <a:rPr spc="-35" dirty="0">
                <a:solidFill>
                  <a:prstClr val="black"/>
                </a:solidFill>
                <a:latin typeface="Tw Cen MT"/>
                <a:cs typeface="Tw Cen MT"/>
              </a:rPr>
              <a:t>(by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“push” or “pull” ) to</a:t>
            </a:r>
            <a:r>
              <a:rPr spc="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produce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126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36461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Organization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821180" lvl="2" indent="-228600" defTabSz="914400">
              <a:spcBef>
                <a:spcPts val="130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821814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Apply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, 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improve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processes</a:t>
            </a:r>
            <a:r>
              <a:rPr spc="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efficiently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128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364615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Ideas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or</a:t>
            </a:r>
            <a:r>
              <a:rPr sz="24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Innovation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821180" lvl="2" indent="-228600" defTabSz="914400">
              <a:spcBef>
                <a:spcPts val="130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821814" algn="l"/>
              </a:tabLst>
            </a:pP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Make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people feel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creative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821180" lvl="2" indent="-228600" defTabSz="914400">
              <a:spcBef>
                <a:spcPts val="1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821814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Be</a:t>
            </a:r>
            <a:r>
              <a:rPr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Creative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800" y="4724387"/>
            <a:ext cx="2990850" cy="1601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 </a:t>
            </a:r>
            <a:r>
              <a:rPr spc="-85" dirty="0"/>
              <a:t>Team</a:t>
            </a:r>
            <a:r>
              <a:rPr spc="-100" dirty="0"/>
              <a:t> </a:t>
            </a:r>
            <a:r>
              <a:rPr dirty="0"/>
              <a:t>Leaders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3730" y="1560830"/>
            <a:ext cx="514731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277495" algn="l"/>
                <a:tab pos="2185670" algn="l"/>
                <a:tab pos="2613025" algn="l"/>
                <a:tab pos="3079115" algn="l"/>
                <a:tab pos="429895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-	Cha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acteristics	of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	ef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f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ecti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3091" y="1560829"/>
            <a:ext cx="278003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lnSpc>
                <a:spcPts val="259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332740" algn="l"/>
                <a:tab pos="333375" algn="l"/>
                <a:tab pos="951230" algn="l"/>
                <a:tab pos="179578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The	</a:t>
            </a:r>
            <a:r>
              <a:rPr sz="2400" b="1" spc="-9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b="1" spc="-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am	Leaders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  <a:p>
            <a:pPr marL="332740" defTabSz="914400">
              <a:lnSpc>
                <a:spcPts val="2590"/>
              </a:lnSpc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managers: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6000" y="2742820"/>
            <a:ext cx="3292044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Problem</a:t>
            </a:r>
            <a:r>
              <a:rPr sz="2400" spc="-1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Solving</a:t>
            </a:r>
          </a:p>
          <a:p>
            <a:pPr marL="1017905" lvl="1" indent="-228600" defTabSz="914400">
              <a:spcBef>
                <a:spcPts val="4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Diagnostic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17905" lvl="1" indent="-228600" defTabSz="914400">
              <a:spcBef>
                <a:spcPts val="1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Skill to</a:t>
            </a:r>
            <a:r>
              <a:rPr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solve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17905" lvl="1" indent="-228600" defTabSz="914400">
              <a:spcBef>
                <a:spcPts val="1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Ability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design</a:t>
            </a:r>
            <a:r>
              <a:rPr spc="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solution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6000" y="4590161"/>
            <a:ext cx="2714574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Managerial</a:t>
            </a:r>
            <a:r>
              <a:rPr sz="24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Identity</a:t>
            </a:r>
          </a:p>
          <a:p>
            <a:pPr marL="1017905" lvl="1" indent="-228600" defTabSz="914400">
              <a:spcBef>
                <a:spcPts val="3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Control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61204" y="2057400"/>
            <a:ext cx="2058797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43801" y="2410587"/>
            <a:ext cx="3066923" cy="17804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97800" y="4686298"/>
            <a:ext cx="2794000" cy="2095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1855" y="4800598"/>
            <a:ext cx="2038350" cy="20383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 </a:t>
            </a:r>
            <a:r>
              <a:rPr spc="-85" dirty="0"/>
              <a:t>Team</a:t>
            </a:r>
            <a:r>
              <a:rPr spc="-100" dirty="0"/>
              <a:t> </a:t>
            </a:r>
            <a:r>
              <a:rPr dirty="0"/>
              <a:t>Leaders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3730" y="1560830"/>
            <a:ext cx="514731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>
              <a:tabLst>
                <a:tab pos="277495" algn="l"/>
                <a:tab pos="2185670" algn="l"/>
                <a:tab pos="2613025" algn="l"/>
                <a:tab pos="3079115" algn="l"/>
                <a:tab pos="429895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-	Cha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acteristics	of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	ef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f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ecti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oject</a:t>
            </a:r>
            <a:endParaRPr sz="24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3091" y="1560829"/>
            <a:ext cx="3080639" cy="1479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indent="-320040" defTabSz="914400">
              <a:lnSpc>
                <a:spcPts val="2590"/>
              </a:lnSpc>
              <a:buClr>
                <a:srgbClr val="CC8E5F"/>
              </a:buClr>
              <a:buSzPct val="58333"/>
              <a:buFont typeface="Wingdings"/>
              <a:buChar char=""/>
              <a:tabLst>
                <a:tab pos="332740" algn="l"/>
                <a:tab pos="333375" algn="l"/>
                <a:tab pos="951230" algn="l"/>
                <a:tab pos="179578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The	</a:t>
            </a:r>
            <a:r>
              <a:rPr sz="2400" b="1" spc="-9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b="1" spc="-1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am	Leaders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332740" defTabSz="914400">
              <a:lnSpc>
                <a:spcPts val="2590"/>
              </a:lnSpc>
            </a:pP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managers: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652780" lvl="1" indent="-274320" defTabSz="914400">
              <a:spcBef>
                <a:spcPts val="13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652780" algn="l"/>
                <a:tab pos="653415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Achievement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84300" lvl="2" indent="-228600" defTabSz="914400">
              <a:spcBef>
                <a:spcPts val="4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384935" algn="l"/>
              </a:tabLst>
            </a:pPr>
            <a:r>
              <a:rPr spc="-30" dirty="0">
                <a:solidFill>
                  <a:prstClr val="black"/>
                </a:solidFill>
                <a:latin typeface="Tw Cen MT"/>
                <a:cs typeface="Tw Cen MT"/>
              </a:rPr>
              <a:t>Reward</a:t>
            </a:r>
            <a:r>
              <a:rPr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Initiative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9156" y="3185286"/>
            <a:ext cx="5716270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7905" indent="-228600" defTabSz="914400"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Encourage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Controlled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risk</a:t>
            </a:r>
            <a:r>
              <a:rPr spc="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taking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/>
            <a:endParaRPr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914400">
              <a:spcBef>
                <a:spcPts val="45"/>
              </a:spcBef>
            </a:pPr>
            <a:endParaRPr sz="15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286385" algn="l"/>
                <a:tab pos="28702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Influence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and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r>
              <a:rPr sz="24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building</a:t>
            </a:r>
          </a:p>
          <a:p>
            <a:pPr marL="1017905" lvl="1" indent="-228600" defTabSz="914400">
              <a:spcBef>
                <a:spcPts val="40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Influence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the</a:t>
            </a:r>
            <a:r>
              <a:rPr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spcBef>
                <a:spcPts val="45"/>
              </a:spcBef>
              <a:buClr>
                <a:srgbClr val="796A5F"/>
              </a:buClr>
              <a:buFont typeface="Wingdings"/>
              <a:buChar char="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7905" lvl="1" indent="-228600" defTabSz="914400"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spc="-15" dirty="0">
                <a:solidFill>
                  <a:prstClr val="black"/>
                </a:solidFill>
                <a:latin typeface="Tw Cen MT"/>
                <a:cs typeface="Tw Cen MT"/>
              </a:rPr>
              <a:t>Read </a:t>
            </a:r>
            <a:r>
              <a:rPr lang="en-US" spc="-165" dirty="0">
                <a:solidFill>
                  <a:prstClr val="black"/>
                </a:solidFill>
                <a:latin typeface="Tw Cen MT"/>
                <a:cs typeface="Tw Cen MT"/>
              </a:rPr>
              <a:t>people’s</a:t>
            </a:r>
            <a:r>
              <a:rPr spc="-1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mind and respond according to their</a:t>
            </a:r>
            <a:r>
              <a:rPr spc="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needs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buClr>
                <a:srgbClr val="796A5F"/>
              </a:buClr>
              <a:buFont typeface="Wingdings"/>
              <a:buChar char="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7905" lvl="1" indent="-228600" defTabSz="914400">
              <a:spcBef>
                <a:spcPts val="5"/>
              </a:spcBef>
              <a:buClr>
                <a:srgbClr val="796A5F"/>
              </a:buClr>
              <a:buSzPct val="75000"/>
              <a:buFont typeface="Wingdings"/>
              <a:buChar char=""/>
              <a:tabLst>
                <a:tab pos="101854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Be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controlled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in stress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situations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34400" y="1981201"/>
            <a:ext cx="1962150" cy="1863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30468" y="1981201"/>
            <a:ext cx="1927732" cy="18421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34401" y="3962451"/>
            <a:ext cx="2085975" cy="16332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59526" y="5182112"/>
            <a:ext cx="2174875" cy="16109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 </a:t>
            </a:r>
            <a:r>
              <a:rPr spc="-20" dirty="0"/>
              <a:t>Software</a:t>
            </a:r>
            <a:r>
              <a:rPr spc="-114" dirty="0"/>
              <a:t> </a:t>
            </a:r>
            <a:r>
              <a:rPr spc="-70" dirty="0"/>
              <a:t>Teams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4910455" cy="2160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spcBef>
                <a:spcPts val="78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Organizations/Structure of</a:t>
            </a:r>
            <a:r>
              <a:rPr sz="24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teams:</a:t>
            </a:r>
          </a:p>
          <a:p>
            <a:pPr marL="1089660" lvl="1" indent="-274320" defTabSz="914400">
              <a:spcBef>
                <a:spcPts val="1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Democratic</a:t>
            </a:r>
            <a:r>
              <a:rPr sz="2000" spc="-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decentralized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89660" lvl="1" indent="-274320" defTabSz="914400">
              <a:spcBef>
                <a:spcPts val="1485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Controlled</a:t>
            </a:r>
            <a:r>
              <a:rPr sz="2000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decentralized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89660" lvl="1" indent="-274320" defTabSz="914400">
              <a:spcBef>
                <a:spcPts val="1485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089660" algn="l"/>
                <a:tab pos="10902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Controlled</a:t>
            </a:r>
            <a:r>
              <a:rPr sz="20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centralized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7676" y="3398773"/>
            <a:ext cx="5081524" cy="33068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6314" y="1278891"/>
            <a:ext cx="7966709" cy="21262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089660" indent="-274320" defTabSz="914400"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1090295" algn="l"/>
              </a:tabLst>
            </a:pP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Democratic</a:t>
            </a:r>
            <a:r>
              <a:rPr sz="28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decentralized</a:t>
            </a:r>
            <a:endParaRPr sz="28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1465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No </a:t>
            </a:r>
            <a:r>
              <a:rPr sz="2000" spc="5" dirty="0">
                <a:solidFill>
                  <a:prstClr val="black"/>
                </a:solidFill>
                <a:latin typeface="Tw Cen MT"/>
                <a:cs typeface="Tw Cen MT"/>
              </a:rPr>
              <a:t>permanent</a:t>
            </a:r>
            <a:r>
              <a:rPr sz="2000" spc="-12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leader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60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</a:t>
            </a:r>
            <a:r>
              <a:rPr sz="20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horizontal</a:t>
            </a:r>
          </a:p>
          <a:p>
            <a:pPr marL="1363980" marR="5080" lvl="1" indent="-228600" defTabSz="914400">
              <a:lnSpc>
                <a:spcPct val="80000"/>
              </a:lnSpc>
              <a:spcBef>
                <a:spcPts val="505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Suitable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small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requiring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less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than 5 to 6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engineers, </a:t>
            </a:r>
            <a:r>
              <a:rPr sz="2000" spc="10" dirty="0">
                <a:solidFill>
                  <a:prstClr val="black"/>
                </a:solidFill>
                <a:latin typeface="Tw Cen MT"/>
                <a:cs typeface="Tw Cen MT"/>
              </a:rPr>
              <a:t>research- 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oriented</a:t>
            </a:r>
            <a:r>
              <a:rPr sz="20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9940" y="408178"/>
            <a:ext cx="8524240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000" spc="-5" dirty="0">
                <a:solidFill>
                  <a:srgbClr val="000000"/>
                </a:solidFill>
              </a:rPr>
              <a:t>The Software </a:t>
            </a:r>
            <a:r>
              <a:rPr sz="4000" dirty="0">
                <a:solidFill>
                  <a:srgbClr val="000000"/>
                </a:solidFill>
              </a:rPr>
              <a:t>Teams: </a:t>
            </a:r>
            <a:r>
              <a:rPr sz="3200" dirty="0">
                <a:solidFill>
                  <a:srgbClr val="000000"/>
                </a:solidFill>
              </a:rPr>
              <a:t>Democratic</a:t>
            </a:r>
            <a:r>
              <a:rPr sz="3200" spc="10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decentralized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4829175" y="4048126"/>
            <a:ext cx="2533650" cy="1971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408178"/>
            <a:ext cx="8524240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000" spc="-5" dirty="0">
                <a:solidFill>
                  <a:srgbClr val="000000"/>
                </a:solidFill>
              </a:rPr>
              <a:t>The Software </a:t>
            </a:r>
            <a:r>
              <a:rPr sz="4000" dirty="0">
                <a:solidFill>
                  <a:srgbClr val="000000"/>
                </a:solidFill>
              </a:rPr>
              <a:t>Teams: </a:t>
            </a:r>
            <a:r>
              <a:rPr sz="3200" dirty="0">
                <a:solidFill>
                  <a:srgbClr val="000000"/>
                </a:solidFill>
              </a:rPr>
              <a:t>Democratic</a:t>
            </a:r>
            <a:r>
              <a:rPr sz="3200" spc="10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decentralized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2133600" y="1600200"/>
            <a:ext cx="81534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5044" y="3236595"/>
            <a:ext cx="3424554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 defTabSz="914400">
              <a:lnSpc>
                <a:spcPts val="1680"/>
              </a:lnSpc>
              <a:buClr>
                <a:srgbClr val="CC8E5F"/>
              </a:buClr>
              <a:buSzPct val="60000"/>
              <a:buFont typeface="Wingdings"/>
              <a:buChar char=""/>
              <a:tabLst>
                <a:tab pos="299085" algn="l"/>
                <a:tab pos="299720" algn="l"/>
                <a:tab pos="711835" algn="l"/>
                <a:tab pos="1784985" algn="l"/>
                <a:tab pos="2530475" algn="l"/>
              </a:tabLst>
            </a:pP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At	d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f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fe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r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ent	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ime</a:t>
            </a:r>
            <a:r>
              <a:rPr sz="2000" spc="-40" dirty="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,	d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ff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ere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defTabSz="914400">
              <a:lnSpc>
                <a:spcPts val="1920"/>
              </a:lnSpc>
              <a:tabLst>
                <a:tab pos="1478280" algn="l"/>
                <a:tab pos="2324735" algn="l"/>
                <a:tab pos="2907030" algn="l"/>
              </a:tabLst>
            </a:pP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emb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rs	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w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hin	t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h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e	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a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m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marL="299085" defTabSz="914400">
              <a:lnSpc>
                <a:spcPts val="2160"/>
              </a:lnSpc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provide </a:t>
            </a:r>
            <a:r>
              <a:rPr sz="2000" spc="10" dirty="0">
                <a:solidFill>
                  <a:srgbClr val="FFFFFF"/>
                </a:solidFill>
                <a:latin typeface="Tw Cen MT"/>
                <a:cs typeface="Tw Cen MT"/>
              </a:rPr>
              <a:t>technical</a:t>
            </a:r>
            <a:r>
              <a:rPr sz="2000" spc="-12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leadership.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5044" y="4455745"/>
            <a:ext cx="3424554" cy="748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 algn="just" defTabSz="914400">
              <a:lnSpc>
                <a:spcPct val="80100"/>
              </a:lnSpc>
              <a:buClr>
                <a:srgbClr val="CC8E5F"/>
              </a:buClr>
              <a:buSzPct val="60000"/>
              <a:buFont typeface="Wingdings"/>
              <a:buChar char=""/>
              <a:tabLst>
                <a:tab pos="299720" algn="l"/>
              </a:tabLst>
            </a:pP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High 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morale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and job  satisfaction due to </a:t>
            </a:r>
            <a:r>
              <a:rPr sz="2000" spc="-25" dirty="0">
                <a:solidFill>
                  <a:srgbClr val="FFFFFF"/>
                </a:solidFill>
                <a:latin typeface="Tw Cen MT"/>
                <a:cs typeface="Tw Cen MT"/>
              </a:rPr>
              <a:t>autonomy, 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hence less 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employee</a:t>
            </a:r>
            <a:r>
              <a:rPr sz="2000" spc="-13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turnover.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91453" y="3236595"/>
            <a:ext cx="3690620" cy="992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defTabSz="914400">
              <a:lnSpc>
                <a:spcPts val="1680"/>
              </a:lnSpc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2000" spc="-40" dirty="0">
                <a:solidFill>
                  <a:srgbClr val="FFFFFF"/>
                </a:solidFill>
                <a:latin typeface="Tw Cen MT"/>
                <a:cs typeface="Tw Cen MT"/>
              </a:rPr>
              <a:t>Team 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members  </a:t>
            </a:r>
            <a:r>
              <a:rPr sz="2000" spc="-15" dirty="0">
                <a:solidFill>
                  <a:srgbClr val="FFFFFF"/>
                </a:solidFill>
                <a:latin typeface="Tw Cen MT"/>
                <a:cs typeface="Tw Cen MT"/>
              </a:rPr>
              <a:t>may  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waste</a:t>
            </a:r>
            <a:r>
              <a:rPr sz="2000" spc="-17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time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marL="355600" marR="5080" algn="just" defTabSz="914400">
              <a:lnSpc>
                <a:spcPct val="80000"/>
              </a:lnSpc>
              <a:spcBef>
                <a:spcPts val="240"/>
              </a:spcBef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arguing about trivial points due  to absence of </a:t>
            </a:r>
            <a:r>
              <a:rPr sz="2000" spc="-20" dirty="0">
                <a:solidFill>
                  <a:srgbClr val="FFFFFF"/>
                </a:solidFill>
                <a:latin typeface="Tw Cen MT"/>
                <a:cs typeface="Tw Cen MT"/>
              </a:rPr>
              <a:t>any </a:t>
            </a: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authority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in  the</a:t>
            </a:r>
            <a:r>
              <a:rPr sz="2000" spc="-11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team.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6314" y="1278891"/>
            <a:ext cx="7403465" cy="2375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spcBef>
                <a:spcPts val="780"/>
              </a:spcBef>
              <a:buClr>
                <a:srgbClr val="DC9E1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</a:tabLst>
            </a:pP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Controlled</a:t>
            </a:r>
            <a:r>
              <a:rPr sz="28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centralized</a:t>
            </a:r>
            <a:endParaRPr sz="28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15"/>
              </a:spcBef>
              <a:buClr>
                <a:srgbClr val="DC9E1F"/>
              </a:buClr>
              <a:buFont typeface="Wingdings"/>
              <a:buChar char=""/>
            </a:pP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363980" lvl="1" indent="-228600" defTabSz="914400">
              <a:spcBef>
                <a:spcPts val="5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Defined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r>
              <a:rPr sz="20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leader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70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Problem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solving , communication and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management </a:t>
            </a:r>
            <a:r>
              <a:rPr sz="2000" spc="-45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team</a:t>
            </a:r>
            <a:r>
              <a:rPr sz="2000"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leader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70"/>
              </a:spcBef>
              <a:buClr>
                <a:srgbClr val="7D96AC"/>
              </a:buClr>
              <a:buSzPct val="75000"/>
              <a:buFont typeface="Wingdings 2"/>
              <a:buChar char="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</a:t>
            </a:r>
            <a:r>
              <a:rPr sz="2000" spc="-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vertical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08940"/>
            <a:r>
              <a:rPr sz="4000" spc="-5" dirty="0">
                <a:solidFill>
                  <a:srgbClr val="000000"/>
                </a:solidFill>
              </a:rPr>
              <a:t>The </a:t>
            </a:r>
            <a:r>
              <a:rPr sz="4000" spc="-25" dirty="0">
                <a:solidFill>
                  <a:srgbClr val="000000"/>
                </a:solidFill>
              </a:rPr>
              <a:t>Software </a:t>
            </a:r>
            <a:r>
              <a:rPr sz="4000" spc="-55" dirty="0">
                <a:solidFill>
                  <a:srgbClr val="000000"/>
                </a:solidFill>
              </a:rPr>
              <a:t>Teams: </a:t>
            </a:r>
            <a:r>
              <a:rPr sz="3200" spc="-10" dirty="0">
                <a:solidFill>
                  <a:srgbClr val="000000"/>
                </a:solidFill>
              </a:rPr>
              <a:t>Controlled</a:t>
            </a:r>
            <a:r>
              <a:rPr sz="3200" spc="204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Centralized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6400800" y="3857158"/>
            <a:ext cx="2381250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56540"/>
            <a:r>
              <a:rPr sz="4000" spc="-5" dirty="0">
                <a:solidFill>
                  <a:srgbClr val="000000"/>
                </a:solidFill>
              </a:rPr>
              <a:t>The Software </a:t>
            </a:r>
            <a:r>
              <a:rPr sz="4000" dirty="0">
                <a:solidFill>
                  <a:srgbClr val="000000"/>
                </a:solidFill>
              </a:rPr>
              <a:t>Teams: </a:t>
            </a:r>
            <a:r>
              <a:rPr sz="3200" dirty="0">
                <a:solidFill>
                  <a:srgbClr val="000000"/>
                </a:solidFill>
              </a:rPr>
              <a:t>Controlled</a:t>
            </a:r>
            <a:r>
              <a:rPr sz="3200" spc="8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Centralized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2133600" y="1600200"/>
            <a:ext cx="81534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5045" y="3232023"/>
            <a:ext cx="3423285" cy="123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55600" algn="l"/>
              </a:tabLst>
            </a:pP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The senior engineer/leader  </a:t>
            </a:r>
            <a:r>
              <a:rPr sz="2000" b="1" spc="10" dirty="0">
                <a:solidFill>
                  <a:srgbClr val="FFFFFF"/>
                </a:solidFill>
                <a:latin typeface="Tw Cen MT"/>
                <a:cs typeface="Tw Cen MT"/>
              </a:rPr>
              <a:t>partitions </a:t>
            </a:r>
            <a:r>
              <a:rPr sz="2000" b="1" spc="-15" dirty="0">
                <a:solidFill>
                  <a:srgbClr val="FFFFFF"/>
                </a:solidFill>
                <a:latin typeface="Tw Cen MT"/>
                <a:cs typeface="Tw Cen MT"/>
              </a:rPr>
              <a:t>tasks, </a:t>
            </a:r>
            <a:r>
              <a:rPr sz="2000" b="1" spc="-5" dirty="0">
                <a:solidFill>
                  <a:srgbClr val="FFFFFF"/>
                </a:solidFill>
                <a:latin typeface="Tw Cen MT"/>
                <a:cs typeface="Tw Cen MT"/>
              </a:rPr>
              <a:t>verifies </a:t>
            </a: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and  </a:t>
            </a:r>
            <a:r>
              <a:rPr sz="2000" b="1" spc="5" dirty="0">
                <a:solidFill>
                  <a:srgbClr val="FFFFFF"/>
                </a:solidFill>
                <a:latin typeface="Tw Cen MT"/>
                <a:cs typeface="Tw Cen MT"/>
              </a:rPr>
              <a:t>integrates </a:t>
            </a:r>
            <a:r>
              <a:rPr sz="2000" b="1" dirty="0">
                <a:solidFill>
                  <a:srgbClr val="FFFFFF"/>
                </a:solidFill>
                <a:latin typeface="Tw Cen MT"/>
                <a:cs typeface="Tw Cen MT"/>
              </a:rPr>
              <a:t>the products  </a:t>
            </a:r>
            <a:r>
              <a:rPr sz="2000" b="1" spc="-5" dirty="0">
                <a:solidFill>
                  <a:srgbClr val="FFFFFF"/>
                </a:solidFill>
                <a:latin typeface="Tw Cen MT"/>
                <a:cs typeface="Tw Cen MT"/>
              </a:rPr>
              <a:t>developed </a:t>
            </a:r>
            <a:r>
              <a:rPr sz="2000" b="1" spc="-20" dirty="0">
                <a:solidFill>
                  <a:srgbClr val="FFFFFF"/>
                </a:solidFill>
                <a:latin typeface="Tw Cen MT"/>
                <a:cs typeface="Tw Cen MT"/>
              </a:rPr>
              <a:t>by</a:t>
            </a:r>
            <a:r>
              <a:rPr sz="2000" b="1" spc="-8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w Cen MT"/>
                <a:cs typeface="Tw Cen MT"/>
              </a:rPr>
              <a:t>members.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1454" y="3231008"/>
            <a:ext cx="3689985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 defTabSz="914400">
              <a:buClr>
                <a:srgbClr val="CC8E5F"/>
              </a:buClr>
              <a:buSzPct val="59090"/>
              <a:buFont typeface="Wingdings"/>
              <a:buChar char=""/>
              <a:tabLst>
                <a:tab pos="356235" algn="l"/>
              </a:tabLst>
            </a:pPr>
            <a:r>
              <a:rPr sz="2200" b="1" spc="-55" dirty="0">
                <a:solidFill>
                  <a:srgbClr val="FFFFFF"/>
                </a:solidFill>
                <a:latin typeface="Tw Cen MT"/>
                <a:cs typeface="Tw Cen MT"/>
              </a:rPr>
              <a:t>Too </a:t>
            </a:r>
            <a:r>
              <a:rPr sz="2200" b="1" spc="-5" dirty="0">
                <a:solidFill>
                  <a:srgbClr val="FFFFFF"/>
                </a:solidFill>
                <a:latin typeface="Tw Cen MT"/>
                <a:cs typeface="Tw Cen MT"/>
              </a:rPr>
              <a:t>much </a:t>
            </a:r>
            <a:r>
              <a:rPr sz="2200" b="1" dirty="0">
                <a:solidFill>
                  <a:srgbClr val="FFFFFF"/>
                </a:solidFill>
                <a:latin typeface="Tw Cen MT"/>
                <a:cs typeface="Tw Cen MT"/>
              </a:rPr>
              <a:t>responsibility </a:t>
            </a:r>
            <a:r>
              <a:rPr sz="2200" b="1" spc="-5" dirty="0">
                <a:solidFill>
                  <a:srgbClr val="FFFFFF"/>
                </a:solidFill>
                <a:latin typeface="Tw Cen MT"/>
                <a:cs typeface="Tw Cen MT"/>
              </a:rPr>
              <a:t>&amp;  authority </a:t>
            </a:r>
            <a:r>
              <a:rPr sz="2200" b="1" dirty="0">
                <a:solidFill>
                  <a:srgbClr val="FFFFFF"/>
                </a:solidFill>
                <a:latin typeface="Tw Cen MT"/>
                <a:cs typeface="Tw Cen MT"/>
              </a:rPr>
              <a:t>is </a:t>
            </a:r>
            <a:r>
              <a:rPr sz="2200" b="1" spc="-5" dirty="0">
                <a:solidFill>
                  <a:srgbClr val="FFFFFF"/>
                </a:solidFill>
                <a:latin typeface="Tw Cen MT"/>
                <a:cs typeface="Tw Cen MT"/>
              </a:rPr>
              <a:t>assigned </a:t>
            </a:r>
            <a:r>
              <a:rPr sz="2200" b="1" dirty="0">
                <a:solidFill>
                  <a:srgbClr val="FFFFFF"/>
                </a:solidFill>
                <a:latin typeface="Tw Cen MT"/>
                <a:cs typeface="Tw Cen MT"/>
              </a:rPr>
              <a:t>to  </a:t>
            </a:r>
            <a:r>
              <a:rPr sz="2200" b="1" spc="-15" dirty="0">
                <a:solidFill>
                  <a:srgbClr val="FFFFFF"/>
                </a:solidFill>
                <a:latin typeface="Tw Cen MT"/>
                <a:cs typeface="Tw Cen MT"/>
              </a:rPr>
              <a:t>leader, </a:t>
            </a:r>
            <a:r>
              <a:rPr sz="2200" b="1" spc="-5" dirty="0">
                <a:solidFill>
                  <a:srgbClr val="FFFFFF"/>
                </a:solidFill>
                <a:latin typeface="Tw Cen MT"/>
                <a:cs typeface="Tw Cen MT"/>
              </a:rPr>
              <a:t>possibility of single  point of</a:t>
            </a:r>
            <a:r>
              <a:rPr sz="2200" b="1" spc="9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200" b="1" spc="5" dirty="0">
                <a:solidFill>
                  <a:srgbClr val="FFFFFF"/>
                </a:solidFill>
                <a:latin typeface="Tw Cen MT"/>
                <a:cs typeface="Tw Cen MT"/>
              </a:rPr>
              <a:t>failure</a:t>
            </a:r>
            <a:endParaRPr sz="220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6313" y="1278891"/>
            <a:ext cx="7295287" cy="2775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769620" indent="-320675" defTabSz="914400"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769620" algn="l"/>
                <a:tab pos="770255" algn="l"/>
              </a:tabLst>
            </a:pP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Controlled</a:t>
            </a:r>
            <a:r>
              <a:rPr sz="28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Tw Cen MT"/>
                <a:cs typeface="Tw Cen MT"/>
              </a:rPr>
              <a:t>decentralized</a:t>
            </a:r>
            <a:endParaRPr sz="28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363980" lvl="1" indent="-228600" defTabSz="914400">
              <a:spcBef>
                <a:spcPts val="1764"/>
              </a:spcBef>
              <a:buClr>
                <a:srgbClr val="7D96AC"/>
              </a:buClr>
              <a:buSzPct val="75000"/>
              <a:buFont typeface="Wingdings"/>
              <a:buChar char=""/>
              <a:tabLst>
                <a:tab pos="136461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Draws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upon the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ideas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from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both earlier</a:t>
            </a:r>
            <a:r>
              <a:rPr sz="2000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structures</a:t>
            </a:r>
          </a:p>
          <a:p>
            <a:pPr marL="1363980" lvl="1" indent="-228600" defTabSz="914400">
              <a:spcBef>
                <a:spcPts val="505"/>
              </a:spcBef>
              <a:buClr>
                <a:srgbClr val="7D96AC"/>
              </a:buClr>
              <a:buSzPct val="75000"/>
              <a:buFont typeface="Wingdings"/>
              <a:buChar char=""/>
              <a:tabLst>
                <a:tab pos="136461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Defined</a:t>
            </a:r>
            <a:r>
              <a:rPr sz="2000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Leader</a:t>
            </a:r>
          </a:p>
          <a:p>
            <a:pPr marL="1363980" lvl="1" indent="-228600" defTabSz="914400">
              <a:spcBef>
                <a:spcPts val="490"/>
              </a:spcBef>
              <a:buClr>
                <a:srgbClr val="7D96AC"/>
              </a:buClr>
              <a:buSzPct val="75000"/>
              <a:buFont typeface="Wingdings"/>
              <a:buChar char="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Horizontal</a:t>
            </a:r>
            <a:r>
              <a:rPr sz="20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</a:p>
          <a:p>
            <a:pPr marL="1363980" lvl="1" indent="-228600" defTabSz="914400">
              <a:spcBef>
                <a:spcPts val="505"/>
              </a:spcBef>
              <a:buClr>
                <a:srgbClr val="7D96AC"/>
              </a:buClr>
              <a:buSzPct val="75000"/>
              <a:buFont typeface="Wingdings"/>
              <a:buChar char=""/>
              <a:tabLst>
                <a:tab pos="1364615" algn="l"/>
              </a:tabLst>
            </a:pP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Problem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solving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group</a:t>
            </a:r>
            <a:r>
              <a:rPr sz="2000" spc="-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activity</a:t>
            </a:r>
          </a:p>
          <a:p>
            <a:pPr marL="1363980" lvl="1" indent="-228600" defTabSz="914400">
              <a:spcBef>
                <a:spcPts val="505"/>
              </a:spcBef>
              <a:buClr>
                <a:srgbClr val="7D96AC"/>
              </a:buClr>
              <a:buSzPct val="75000"/>
              <a:buFont typeface="Wingdings"/>
              <a:buChar char=""/>
              <a:tabLst>
                <a:tab pos="136461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Suitable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large</a:t>
            </a:r>
            <a:r>
              <a:rPr sz="2000" spc="-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organizations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2340" y="408178"/>
            <a:ext cx="8357234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000" spc="-5" dirty="0">
                <a:solidFill>
                  <a:srgbClr val="000000"/>
                </a:solidFill>
              </a:rPr>
              <a:t>The </a:t>
            </a:r>
            <a:r>
              <a:rPr sz="4000" spc="-25" dirty="0">
                <a:solidFill>
                  <a:srgbClr val="000000"/>
                </a:solidFill>
              </a:rPr>
              <a:t>Software </a:t>
            </a:r>
            <a:r>
              <a:rPr sz="4000" spc="-55" dirty="0">
                <a:solidFill>
                  <a:srgbClr val="000000"/>
                </a:solidFill>
              </a:rPr>
              <a:t>Teams: </a:t>
            </a:r>
            <a:r>
              <a:rPr sz="3200" spc="-10" dirty="0">
                <a:solidFill>
                  <a:srgbClr val="000000"/>
                </a:solidFill>
              </a:rPr>
              <a:t>Controlled</a:t>
            </a:r>
            <a:r>
              <a:rPr sz="3200" spc="16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Decentralized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6390957" y="4106926"/>
            <a:ext cx="3886200" cy="2598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 </a:t>
            </a:r>
            <a:r>
              <a:rPr spc="-20" dirty="0"/>
              <a:t>Software</a:t>
            </a:r>
            <a:r>
              <a:rPr spc="-114" dirty="0"/>
              <a:t> </a:t>
            </a:r>
            <a:r>
              <a:rPr spc="-70" dirty="0"/>
              <a:t>Teams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742045" cy="4021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45819" indent="-320675" defTabSz="914400">
              <a:buClr>
                <a:srgbClr val="CC8E5F"/>
              </a:buClr>
              <a:buSzPct val="58333"/>
              <a:buFont typeface="Wingdings"/>
              <a:buChar char=""/>
              <a:tabLst>
                <a:tab pos="845819" algn="l"/>
                <a:tab pos="846455" algn="l"/>
              </a:tabLst>
            </a:pPr>
            <a:r>
              <a:rPr sz="2400" i="1" dirty="0">
                <a:solidFill>
                  <a:prstClr val="black"/>
                </a:solidFill>
                <a:latin typeface="Tw Cen MT"/>
                <a:cs typeface="Tw Cen MT"/>
              </a:rPr>
              <a:t>Mantei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describes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seven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factors that should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be considered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when</a:t>
            </a:r>
          </a:p>
          <a:p>
            <a:pPr marL="845819" defTabSz="914400"/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planning team</a:t>
            </a:r>
            <a:r>
              <a:rPr sz="2400" spc="-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structure: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40"/>
              </a:spcBef>
            </a:pPr>
            <a:endParaRPr sz="19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65860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Difficulty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000" spc="-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task</a:t>
            </a: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Size of resultant code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(no.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</a:t>
            </a:r>
            <a:r>
              <a:rPr sz="20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lines)</a:t>
            </a: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Time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that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team will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stay</a:t>
            </a:r>
            <a:r>
              <a:rPr sz="2000" spc="-1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together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Degree of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modularization</a:t>
            </a: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Required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quality and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reliability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 the system being</a:t>
            </a:r>
            <a:r>
              <a:rPr sz="2000" spc="-17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built</a:t>
            </a: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Rigidity of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delivery date</a:t>
            </a:r>
            <a:r>
              <a:rPr sz="20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10" dirty="0">
                <a:solidFill>
                  <a:prstClr val="black"/>
                </a:solidFill>
                <a:latin typeface="Tw Cen MT"/>
                <a:cs typeface="Tw Cen MT"/>
              </a:rPr>
              <a:t>(schedule)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65860" lvl="1" indent="-274320" defTabSz="914400">
              <a:spcBef>
                <a:spcPts val="600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65860" algn="l"/>
                <a:tab pos="1166495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Degree of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5388" y="389890"/>
            <a:ext cx="7496175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3159125" algn="l"/>
                <a:tab pos="3637915" algn="l"/>
              </a:tabLst>
            </a:pPr>
            <a:r>
              <a:rPr sz="4000" spc="5" dirty="0"/>
              <a:t>Communication	</a:t>
            </a:r>
            <a:r>
              <a:rPr sz="4000" spc="-5" dirty="0"/>
              <a:t>&amp;	</a:t>
            </a:r>
            <a:r>
              <a:rPr sz="4000" dirty="0"/>
              <a:t>Coordination</a:t>
            </a:r>
            <a:r>
              <a:rPr sz="4000" spc="-60" dirty="0"/>
              <a:t> </a:t>
            </a:r>
            <a:r>
              <a:rPr sz="4000" spc="-5" dirty="0"/>
              <a:t>Issues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7860030" cy="5098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Formal</a:t>
            </a:r>
            <a:r>
              <a:rPr sz="24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approaches</a:t>
            </a:r>
          </a:p>
          <a:p>
            <a:pPr marL="1171575" lvl="1" indent="-274320" defTabSz="914400">
              <a:spcBef>
                <a:spcPts val="190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Writings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(SE documentation, Customer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requests,</a:t>
            </a:r>
            <a:r>
              <a:rPr sz="20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etc.)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70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Status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review</a:t>
            </a:r>
            <a:r>
              <a:rPr sz="20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meetings</a:t>
            </a:r>
          </a:p>
          <a:p>
            <a:pPr marL="1171575" lvl="1" indent="-274320" defTabSz="914400">
              <a:spcBef>
                <a:spcPts val="16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Design and code</a:t>
            </a:r>
            <a:r>
              <a:rPr sz="2000" spc="-6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inspections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1" defTabSz="914400">
              <a:spcBef>
                <a:spcPts val="5"/>
              </a:spcBef>
              <a:buClr>
                <a:srgbClr val="7D96AC"/>
              </a:buClr>
              <a:buFont typeface="Wingdings"/>
              <a:buChar char=""/>
            </a:pPr>
            <a:endParaRPr sz="2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Informal approaches (more</a:t>
            </a:r>
            <a:r>
              <a:rPr sz="2400" spc="-5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personal)</a:t>
            </a:r>
          </a:p>
          <a:p>
            <a:pPr marL="1171575" lvl="1" indent="-274320" defTabSz="914400">
              <a:spcBef>
                <a:spcPts val="19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Interpersonal networking</a:t>
            </a:r>
            <a:r>
              <a:rPr sz="20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[9]</a:t>
            </a:r>
          </a:p>
          <a:p>
            <a:pPr marL="1171575" lvl="1" indent="-274320" defTabSz="914400">
              <a:spcBef>
                <a:spcPts val="16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Sharing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 ideas on ad hoc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basis</a:t>
            </a:r>
          </a:p>
          <a:p>
            <a:pPr marL="1171575" lvl="1" indent="-274320" defTabSz="914400">
              <a:spcBef>
                <a:spcPts val="165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Seeking help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from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inside or outside the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project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team when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problem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arises</a:t>
            </a:r>
          </a:p>
          <a:p>
            <a:pPr lvl="1" defTabSz="914400">
              <a:buClr>
                <a:srgbClr val="7D96AC"/>
              </a:buClr>
              <a:buFont typeface="Wingdings"/>
              <a:buChar char="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104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Electronic</a:t>
            </a:r>
            <a:r>
              <a:rPr sz="24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Communication</a:t>
            </a:r>
          </a:p>
          <a:p>
            <a:pPr marL="1171575" lvl="1" indent="-274320" defTabSz="914400">
              <a:spcBef>
                <a:spcPts val="190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E-mail, electronic bulletin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boards [10]</a:t>
            </a:r>
            <a:endParaRPr lang="en-US"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90"/>
              </a:spcBef>
              <a:buClr>
                <a:srgbClr val="7D96AC"/>
              </a:buClr>
              <a:buSzPct val="69444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 video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conferencing</a:t>
            </a:r>
          </a:p>
        </p:txBody>
      </p:sp>
      <p:sp>
        <p:nvSpPr>
          <p:cNvPr id="4" name="object 4"/>
          <p:cNvSpPr/>
          <p:nvPr/>
        </p:nvSpPr>
        <p:spPr>
          <a:xfrm>
            <a:off x="7779867" y="2883569"/>
            <a:ext cx="1776476" cy="1347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87727" y="4916935"/>
            <a:ext cx="2288031" cy="18383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0283" y="1541908"/>
            <a:ext cx="2231517" cy="13536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1524000"/>
          </a:xfrm>
          <a:custGeom>
            <a:avLst/>
            <a:gdLst/>
            <a:ahLst/>
            <a:cxnLst/>
            <a:rect l="l" t="t" r="r" b="b"/>
            <a:pathLst>
              <a:path w="9144000" h="1524000">
                <a:moveTo>
                  <a:pt x="0" y="1524000"/>
                </a:moveTo>
                <a:lnTo>
                  <a:pt x="9144000" y="15240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17181A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2667000"/>
            <a:ext cx="9144000" cy="4191000"/>
          </a:xfrm>
          <a:custGeom>
            <a:avLst/>
            <a:gdLst/>
            <a:ahLst/>
            <a:cxnLst/>
            <a:rect l="l" t="t" r="r" b="b"/>
            <a:pathLst>
              <a:path w="9144000" h="4191000">
                <a:moveTo>
                  <a:pt x="0" y="4190999"/>
                </a:moveTo>
                <a:lnTo>
                  <a:pt x="9144000" y="4190999"/>
                </a:lnTo>
                <a:lnTo>
                  <a:pt x="9144000" y="0"/>
                </a:lnTo>
                <a:lnTo>
                  <a:pt x="0" y="0"/>
                </a:lnTo>
                <a:lnTo>
                  <a:pt x="0" y="4190999"/>
                </a:lnTo>
                <a:close/>
              </a:path>
            </a:pathLst>
          </a:custGeom>
          <a:solidFill>
            <a:srgbClr val="17181A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152400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600200"/>
            <a:ext cx="1295400" cy="990600"/>
          </a:xfrm>
          <a:custGeom>
            <a:avLst/>
            <a:gdLst/>
            <a:ahLst/>
            <a:cxnLst/>
            <a:rect l="l" t="t" r="r" b="b"/>
            <a:pathLst>
              <a:path w="1295400" h="990600">
                <a:moveTo>
                  <a:pt x="0" y="990600"/>
                </a:moveTo>
                <a:lnTo>
                  <a:pt x="1295400" y="990600"/>
                </a:lnTo>
                <a:lnTo>
                  <a:pt x="1295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CC8E5F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5600" y="1600200"/>
            <a:ext cx="7772400" cy="990600"/>
          </a:xfrm>
          <a:custGeom>
            <a:avLst/>
            <a:gdLst/>
            <a:ahLst/>
            <a:cxnLst/>
            <a:rect l="l" t="t" r="r" b="b"/>
            <a:pathLst>
              <a:path w="7772400" h="990600">
                <a:moveTo>
                  <a:pt x="0" y="990600"/>
                </a:moveTo>
                <a:lnTo>
                  <a:pt x="7772400" y="990600"/>
                </a:lnTo>
                <a:lnTo>
                  <a:pt x="77724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7D96AC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74594" y="1729360"/>
            <a:ext cx="308737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</a:rPr>
              <a:t>The </a:t>
            </a:r>
            <a:r>
              <a:rPr spc="-10" dirty="0">
                <a:solidFill>
                  <a:srgbClr val="FFFFFF"/>
                </a:solidFill>
              </a:rPr>
              <a:t>Product</a:t>
            </a:r>
            <a:r>
              <a:rPr spc="-14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[1]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974595" y="2774823"/>
            <a:ext cx="2712085" cy="926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srgbClr val="FFFFFF"/>
                </a:solidFill>
                <a:latin typeface="Tw Cen MT"/>
                <a:cs typeface="Tw Cen MT"/>
              </a:rPr>
              <a:t>Software</a:t>
            </a:r>
            <a:r>
              <a:rPr sz="2000" spc="-120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Scope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5"/>
              </a:spcBef>
              <a:buClr>
                <a:srgbClr val="CC8E5F"/>
              </a:buClr>
              <a:buFont typeface="Wingdings"/>
              <a:buChar char=""/>
            </a:pPr>
            <a:endParaRPr sz="2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 defTabSz="914400">
              <a:buClr>
                <a:srgbClr val="CC8E5F"/>
              </a:buClr>
              <a:buSzPct val="60000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Tw Cen MT"/>
                <a:cs typeface="Tw Cen MT"/>
              </a:rPr>
              <a:t>Problem</a:t>
            </a:r>
            <a:r>
              <a:rPr sz="2000" spc="-105" dirty="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srgbClr val="FFFFFF"/>
                </a:solidFill>
                <a:latin typeface="Tw Cen MT"/>
                <a:cs typeface="Tw Cen MT"/>
              </a:rPr>
              <a:t>Decomposition</a:t>
            </a:r>
            <a:endParaRPr sz="200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00627" y="3876674"/>
            <a:ext cx="3190875" cy="2905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dirty="0"/>
              <a:t>The</a:t>
            </a:r>
            <a:r>
              <a:rPr spc="-100" dirty="0"/>
              <a:t> </a:t>
            </a:r>
            <a:r>
              <a:rPr spc="-10" dirty="0"/>
              <a:t>Product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0"/>
            <a:ext cx="8515350" cy="464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lnSpc>
                <a:spcPts val="2590"/>
              </a:lnSpc>
              <a:spcBef>
                <a:spcPts val="78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  <a:tab pos="1400175" algn="l"/>
                <a:tab pos="3042285" algn="l"/>
                <a:tab pos="3538854" algn="l"/>
                <a:tab pos="4672965" algn="l"/>
                <a:tab pos="4950460" algn="l"/>
                <a:tab pos="5247640" algn="l"/>
                <a:tab pos="6796405" algn="l"/>
                <a:tab pos="7526020" algn="l"/>
                <a:tab pos="8181975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od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ct</a:t>
            </a:r>
            <a:r>
              <a:rPr sz="2400" spc="3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and	the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oblem	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that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	is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tended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so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l</a:t>
            </a:r>
            <a:r>
              <a:rPr sz="2400" spc="-40" dirty="0">
                <a:solidFill>
                  <a:prstClr val="black"/>
                </a:solidFill>
                <a:latin typeface="Tw Cen MT"/>
                <a:cs typeface="Tw Cen MT"/>
              </a:rPr>
              <a:t>v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400" spc="4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be</a:t>
            </a:r>
            <a:r>
              <a:rPr lang="en-US" sz="24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examined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at 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very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beginning of the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software</a:t>
            </a:r>
            <a:r>
              <a:rPr sz="2400" spc="4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project</a:t>
            </a:r>
            <a:r>
              <a:rPr lang="en-US" sz="2400" spc="-10" dirty="0">
                <a:solidFill>
                  <a:prstClr val="black"/>
                </a:solidFill>
                <a:latin typeface="Tw Cen MT"/>
                <a:cs typeface="Tw Cen MT"/>
              </a:rPr>
              <a:t>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1600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scope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of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must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established and</a:t>
            </a:r>
            <a:r>
              <a:rPr sz="2400" spc="5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bounded.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1600"/>
              </a:spcBef>
              <a:buClr>
                <a:srgbClr val="7D96AC"/>
              </a:buClr>
              <a:buSzPct val="70000"/>
              <a:buFont typeface="Wingdings"/>
              <a:buChar char=""/>
              <a:tabLst>
                <a:tab pos="1171575" algn="l"/>
                <a:tab pos="117221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Bounded scope</a:t>
            </a:r>
            <a:r>
              <a:rPr sz="24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means</a:t>
            </a:r>
            <a:r>
              <a:rPr lang="en-US" sz="2400" dirty="0">
                <a:solidFill>
                  <a:prstClr val="black"/>
                </a:solidFill>
                <a:latin typeface="Tw Cen MT"/>
                <a:cs typeface="Tw Cen MT"/>
              </a:rPr>
              <a:t>: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lnSpc>
                <a:spcPts val="1945"/>
              </a:lnSpc>
              <a:spcBef>
                <a:spcPts val="1450"/>
              </a:spcBef>
              <a:buClr>
                <a:srgbClr val="CC8E5F"/>
              </a:buClr>
              <a:buSzPct val="75000"/>
              <a:buFont typeface="Wingdings"/>
              <a:buChar char=""/>
              <a:tabLst>
                <a:tab pos="1446530" algn="l"/>
              </a:tabLst>
            </a:pPr>
            <a:r>
              <a:rPr lang="en-US" sz="2000" dirty="0">
                <a:solidFill>
                  <a:prstClr val="black"/>
                </a:solidFill>
                <a:latin typeface="Tw Cen MT"/>
                <a:cs typeface="Tw Cen MT"/>
              </a:rPr>
              <a:t>Es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tablishing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quantitative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data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like no.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 simultaneous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users,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ma</a:t>
            </a:r>
            <a:r>
              <a:rPr lang="en-US" sz="2000" dirty="0">
                <a:solidFill>
                  <a:prstClr val="black"/>
                </a:solidFill>
                <a:latin typeface="Tw Cen MT"/>
                <a:cs typeface="Tw Cen MT"/>
              </a:rPr>
              <a:t>ximum</a:t>
            </a:r>
            <a:r>
              <a:rPr sz="2000" spc="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15" dirty="0">
                <a:solidFill>
                  <a:prstClr val="black"/>
                </a:solidFill>
                <a:latin typeface="Tw Cen MT"/>
                <a:cs typeface="Tw Cen MT"/>
              </a:rPr>
              <a:t>allowable</a:t>
            </a:r>
            <a:r>
              <a:rPr lang="en-US" sz="20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response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time</a:t>
            </a:r>
            <a:r>
              <a:rPr sz="2000" spc="-8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etc.</a:t>
            </a:r>
          </a:p>
          <a:p>
            <a:pPr marL="1445895" lvl="2" indent="-228600" defTabSz="914400">
              <a:spcBef>
                <a:spcPts val="60"/>
              </a:spcBef>
              <a:buClr>
                <a:srgbClr val="CC8E5F"/>
              </a:buClr>
              <a:buSzPct val="75000"/>
              <a:buFont typeface="Wingdings"/>
              <a:buChar char="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Constraints and</a:t>
            </a:r>
            <a:r>
              <a:rPr sz="2000" spc="-9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limitations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70"/>
              </a:spcBef>
              <a:buClr>
                <a:srgbClr val="CC8E5F"/>
              </a:buClr>
              <a:buSzPct val="75000"/>
              <a:buFont typeface="Wingdings"/>
              <a:buChar char=""/>
              <a:tabLst>
                <a:tab pos="1446530" algn="l"/>
              </a:tabLst>
            </a:pPr>
            <a:r>
              <a:rPr lang="en-US" sz="2000" spc="-5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itigating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factors</a:t>
            </a:r>
            <a:r>
              <a:rPr sz="20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described</a:t>
            </a:r>
          </a:p>
          <a:p>
            <a:pPr lvl="2" defTabSz="914400">
              <a:spcBef>
                <a:spcPts val="50"/>
              </a:spcBef>
              <a:buClr>
                <a:srgbClr val="CC8E5F"/>
              </a:buClr>
              <a:buFont typeface="Wingdings"/>
              <a:buChar char="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marR="5080" indent="-320040" defTabSz="914400">
              <a:lnSpc>
                <a:spcPts val="2310"/>
              </a:lnSpc>
              <a:spcBef>
                <a:spcPts val="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  <a:tab pos="1532890" algn="l"/>
                <a:tab pos="2839085" algn="l"/>
                <a:tab pos="3566160" algn="l"/>
                <a:tab pos="4196080" algn="l"/>
                <a:tab pos="5374005" algn="l"/>
                <a:tab pos="5803900" algn="l"/>
                <a:tab pos="7395209" algn="l"/>
                <a:tab pos="8181975" algn="l"/>
              </a:tabLst>
            </a:pP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Th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e	</a:t>
            </a: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problem	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that	the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od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ct	is	addres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n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g	</a:t>
            </a:r>
            <a:r>
              <a:rPr sz="2400" spc="40" dirty="0">
                <a:solidFill>
                  <a:prstClr val="black"/>
                </a:solidFill>
                <a:latin typeface="Tw Cen MT"/>
                <a:cs typeface="Tw Cen MT"/>
              </a:rPr>
              <a:t>m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be 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decomposed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20" dirty="0"/>
              <a:t>Software</a:t>
            </a:r>
            <a:r>
              <a:rPr spc="-114" dirty="0"/>
              <a:t> </a:t>
            </a:r>
            <a:r>
              <a:rPr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3" y="1278891"/>
            <a:ext cx="8166100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5"/>
              </a:spcBef>
            </a:pPr>
            <a:endParaRPr sz="1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buClr>
                <a:srgbClr val="CC8E5F"/>
              </a:buClr>
              <a:buSzPct val="58928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800" b="1" spc="-5" dirty="0">
                <a:solidFill>
                  <a:prstClr val="black"/>
                </a:solidFill>
                <a:latin typeface="Tw Cen MT"/>
                <a:cs typeface="Tw Cen MT"/>
              </a:rPr>
              <a:t>Scope is </a:t>
            </a:r>
            <a:r>
              <a:rPr sz="2800" b="1" dirty="0">
                <a:solidFill>
                  <a:prstClr val="black"/>
                </a:solidFill>
                <a:latin typeface="Tw Cen MT"/>
                <a:cs typeface="Tw Cen MT"/>
              </a:rPr>
              <a:t>defined</a:t>
            </a:r>
            <a:r>
              <a:rPr sz="2800" b="1" spc="-7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800" b="1" spc="-60" dirty="0">
                <a:solidFill>
                  <a:prstClr val="black"/>
                </a:solidFill>
                <a:latin typeface="Tw Cen MT"/>
                <a:cs typeface="Tw Cen MT"/>
              </a:rPr>
              <a:t>by</a:t>
            </a:r>
            <a:endParaRPr sz="28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171575" lvl="1" indent="-274320" defTabSz="914400">
              <a:spcBef>
                <a:spcPts val="2315"/>
              </a:spcBef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400" b="1" spc="-5" dirty="0">
                <a:solidFill>
                  <a:prstClr val="black"/>
                </a:solidFill>
                <a:latin typeface="Tw Cen MT"/>
                <a:cs typeface="Tw Cen MT"/>
              </a:rPr>
              <a:t>Context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marR="5080" lvl="2" indent="-228600" defTabSz="914400">
              <a:spcBef>
                <a:spcPts val="509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Functional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location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 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product into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a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large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system,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product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 business</a:t>
            </a:r>
            <a:r>
              <a:rPr sz="20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context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49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Constraints</a:t>
            </a:r>
            <a:r>
              <a:rPr sz="2000" spc="-114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involved</a:t>
            </a:r>
            <a:endParaRPr sz="20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lvl="2" defTabSz="914400">
              <a:spcBef>
                <a:spcPts val="45"/>
              </a:spcBef>
              <a:buClr>
                <a:srgbClr val="CC8E5F"/>
              </a:buClr>
              <a:buFont typeface="Wingdings"/>
              <a:buChar char="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Information</a:t>
            </a:r>
            <a:r>
              <a:rPr sz="2400" b="1"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Tw Cen MT"/>
                <a:cs typeface="Tw Cen MT"/>
              </a:rPr>
              <a:t>Objectives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509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What data objects are required as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i/p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or</a:t>
            </a:r>
            <a:r>
              <a:rPr sz="2000" spc="-13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o/p</a:t>
            </a:r>
          </a:p>
          <a:p>
            <a:pPr lvl="2" defTabSz="914400">
              <a:spcBef>
                <a:spcPts val="30"/>
              </a:spcBef>
              <a:buClr>
                <a:srgbClr val="CC8E5F"/>
              </a:buClr>
              <a:buFont typeface="Wingdings"/>
              <a:buChar char=""/>
            </a:pPr>
            <a:endParaRPr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171575" lvl="1" indent="-274320" defTabSz="914400">
              <a:buClr>
                <a:srgbClr val="7D96AC"/>
              </a:buClr>
              <a:buSzPct val="70000"/>
              <a:buFont typeface="Wingdings 2"/>
              <a:buChar char=""/>
              <a:tabLst>
                <a:tab pos="1171575" algn="l"/>
                <a:tab pos="1172210" algn="l"/>
              </a:tabLst>
            </a:pPr>
            <a:r>
              <a:rPr sz="2400" b="1" dirty="0">
                <a:solidFill>
                  <a:prstClr val="black"/>
                </a:solidFill>
                <a:latin typeface="Tw Cen MT"/>
                <a:cs typeface="Tw Cen MT"/>
              </a:rPr>
              <a:t>Function and</a:t>
            </a:r>
            <a:r>
              <a:rPr sz="2400" b="1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b="1" spc="-10" dirty="0">
                <a:solidFill>
                  <a:prstClr val="black"/>
                </a:solidFill>
                <a:latin typeface="Tw Cen MT"/>
                <a:cs typeface="Tw Cen MT"/>
              </a:rPr>
              <a:t>Performance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2" indent="-228600" defTabSz="914400">
              <a:spcBef>
                <a:spcPts val="515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What function does the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system perform on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i/p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to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produce</a:t>
            </a:r>
            <a:r>
              <a:rPr sz="2000" spc="-10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o/p</a:t>
            </a:r>
          </a:p>
          <a:p>
            <a:pPr marL="1445895" lvl="2" indent="-228600" defTabSz="914400">
              <a:spcBef>
                <a:spcPts val="500"/>
              </a:spcBef>
              <a:buClr>
                <a:srgbClr val="CC8E5F"/>
              </a:buClr>
              <a:buSzPct val="75000"/>
              <a:buFont typeface="Wingdings"/>
              <a:buChar char=""/>
              <a:tabLst>
                <a:tab pos="1446530" algn="l"/>
              </a:tabLst>
            </a:pP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What </a:t>
            </a:r>
            <a:r>
              <a:rPr sz="2000" spc="-10" dirty="0">
                <a:solidFill>
                  <a:prstClr val="black"/>
                </a:solidFill>
                <a:latin typeface="Tw Cen MT"/>
                <a:cs typeface="Tw Cen MT"/>
              </a:rPr>
              <a:t>level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of performance </a:t>
            </a:r>
            <a:r>
              <a:rPr sz="2000" spc="-5" dirty="0">
                <a:solidFill>
                  <a:prstClr val="black"/>
                </a:solidFill>
                <a:latin typeface="Tw Cen MT"/>
                <a:cs typeface="Tw Cen MT"/>
              </a:rPr>
              <a:t>is</a:t>
            </a:r>
            <a:r>
              <a:rPr sz="2000" spc="-3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000" dirty="0">
                <a:solidFill>
                  <a:prstClr val="black"/>
                </a:solidFill>
                <a:latin typeface="Tw Cen MT"/>
                <a:cs typeface="Tw Cen MT"/>
              </a:rPr>
              <a:t>required</a:t>
            </a:r>
          </a:p>
        </p:txBody>
      </p:sp>
      <p:sp>
        <p:nvSpPr>
          <p:cNvPr id="4" name="object 4"/>
          <p:cNvSpPr/>
          <p:nvPr/>
        </p:nvSpPr>
        <p:spPr>
          <a:xfrm>
            <a:off x="8153401" y="27217"/>
            <a:ext cx="2352675" cy="1191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10" dirty="0"/>
              <a:t>Problem</a:t>
            </a:r>
            <a:r>
              <a:rPr spc="-65" dirty="0"/>
              <a:t> </a:t>
            </a:r>
            <a:r>
              <a:rPr dirty="0"/>
              <a:t>Decomposition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314" y="1278890"/>
            <a:ext cx="8514715" cy="520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endParaRPr sz="12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defTabSz="914400">
              <a:spcBef>
                <a:spcPts val="20"/>
              </a:spcBef>
            </a:pPr>
            <a:endParaRPr sz="14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51535" indent="-320040" defTabSz="914400">
              <a:spcBef>
                <a:spcPts val="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Also called partitioning OR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problem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elaboration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2140"/>
              </a:spcBef>
              <a:buClr>
                <a:srgbClr val="CC8E5F"/>
              </a:buClr>
              <a:buSzPct val="60416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This activity is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at </a:t>
            </a:r>
            <a:r>
              <a:rPr lang="en-US" sz="2400" spc="-5" dirty="0">
                <a:solidFill>
                  <a:prstClr val="black"/>
                </a:solidFill>
                <a:latin typeface="Tw Cen MT"/>
                <a:cs typeface="Tw Cen MT"/>
              </a:rPr>
              <a:t>the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core of 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requirements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analysis</a:t>
            </a:r>
          </a:p>
          <a:p>
            <a:pPr marL="851535" indent="-320040" defTabSz="914400">
              <a:spcBef>
                <a:spcPts val="214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Divide and conquer policy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for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complex</a:t>
            </a:r>
            <a:r>
              <a:rPr sz="24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problems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213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  <a:tab pos="1168400" algn="l"/>
                <a:tab pos="2305685" algn="l"/>
                <a:tab pos="3444240" algn="l"/>
                <a:tab pos="3747770" algn="l"/>
                <a:tab pos="5229225" algn="l"/>
                <a:tab pos="5797550" algn="l"/>
                <a:tab pos="6791959" algn="l"/>
                <a:tab pos="8032750" algn="l"/>
              </a:tabLst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	compl</a:t>
            </a:r>
            <a:r>
              <a:rPr sz="2400" spc="-80" dirty="0">
                <a:solidFill>
                  <a:prstClr val="black"/>
                </a:solidFill>
                <a:latin typeface="Tw Cen MT"/>
                <a:cs typeface="Tw Cen MT"/>
              </a:rPr>
              <a:t>e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x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oblem	is	p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spc="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titioned	</a:t>
            </a: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i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nto	smaller	p</a:t>
            </a:r>
            <a:r>
              <a:rPr sz="2400" spc="-50" dirty="0">
                <a:solidFill>
                  <a:prstClr val="black"/>
                </a:solidFill>
                <a:latin typeface="Tw Cen MT"/>
                <a:cs typeface="Tw Cen MT"/>
              </a:rPr>
              <a:t>r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oblems	th</a:t>
            </a:r>
            <a:r>
              <a:rPr sz="2400" spc="10" dirty="0">
                <a:solidFill>
                  <a:prstClr val="black"/>
                </a:solidFill>
                <a:latin typeface="Tw Cen MT"/>
                <a:cs typeface="Tw Cen MT"/>
              </a:rPr>
              <a:t>a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t</a:t>
            </a:r>
          </a:p>
          <a:p>
            <a:pPr marL="851535" defTabSz="914400">
              <a:spcBef>
                <a:spcPts val="1440"/>
              </a:spcBef>
            </a:pP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 more</a:t>
            </a:r>
            <a:r>
              <a:rPr sz="2400" spc="-9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10" dirty="0">
                <a:solidFill>
                  <a:prstClr val="black"/>
                </a:solidFill>
                <a:latin typeface="Tw Cen MT"/>
                <a:cs typeface="Tw Cen MT"/>
              </a:rPr>
              <a:t>manageable.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2135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Decomposition 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make</a:t>
            </a:r>
            <a:r>
              <a:rPr lang="en-US" sz="2400" spc="-15" dirty="0">
                <a:solidFill>
                  <a:prstClr val="black"/>
                </a:solidFill>
                <a:latin typeface="Tw Cen MT"/>
                <a:cs typeface="Tw Cen MT"/>
              </a:rPr>
              <a:t>s</a:t>
            </a:r>
            <a:r>
              <a:rPr sz="2400" spc="-1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planning</a:t>
            </a:r>
            <a:r>
              <a:rPr sz="2400"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spc="-25" dirty="0">
                <a:solidFill>
                  <a:prstClr val="black"/>
                </a:solidFill>
                <a:latin typeface="Tw Cen MT"/>
                <a:cs typeface="Tw Cen MT"/>
              </a:rPr>
              <a:t>easier.</a:t>
            </a:r>
            <a:endParaRPr sz="24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851535" indent="-320040" defTabSz="914400">
              <a:spcBef>
                <a:spcPts val="2150"/>
              </a:spcBef>
              <a:buClr>
                <a:srgbClr val="CC8E5F"/>
              </a:buClr>
              <a:buSzPct val="58333"/>
              <a:buFont typeface="Wingdings"/>
              <a:buChar char=""/>
              <a:tabLst>
                <a:tab pos="851535" algn="l"/>
                <a:tab pos="852169" algn="l"/>
              </a:tabLst>
            </a:pPr>
            <a:r>
              <a:rPr sz="2400" spc="-5" dirty="0">
                <a:solidFill>
                  <a:prstClr val="black"/>
                </a:solidFill>
                <a:latin typeface="Tw Cen MT"/>
                <a:cs typeface="Tw Cen MT"/>
              </a:rPr>
              <a:t>Decomposition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in 2 major</a:t>
            </a:r>
            <a:r>
              <a:rPr sz="2400" spc="-65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2400" dirty="0">
                <a:solidFill>
                  <a:prstClr val="black"/>
                </a:solidFill>
                <a:latin typeface="Tw Cen MT"/>
                <a:cs typeface="Tw Cen MT"/>
              </a:rPr>
              <a:t>areas</a:t>
            </a:r>
          </a:p>
          <a:p>
            <a:pPr marL="1445895" lvl="1" indent="-228600" defTabSz="914400">
              <a:spcBef>
                <a:spcPts val="780"/>
              </a:spcBef>
              <a:buClr>
                <a:srgbClr val="CC8E5F"/>
              </a:buClr>
              <a:buSzPct val="75000"/>
              <a:buFont typeface="Wingdings"/>
              <a:buChar char=""/>
              <a:tabLst>
                <a:tab pos="1446530" algn="l"/>
              </a:tabLst>
            </a:pP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Functionality that </a:t>
            </a:r>
            <a:r>
              <a:rPr spc="5" dirty="0">
                <a:solidFill>
                  <a:prstClr val="black"/>
                </a:solidFill>
                <a:latin typeface="Tw Cen MT"/>
                <a:cs typeface="Tw Cen MT"/>
              </a:rPr>
              <a:t>must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be</a:t>
            </a:r>
            <a:r>
              <a:rPr spc="-11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delivered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445895" lvl="1" indent="-228600" defTabSz="914400">
              <a:spcBef>
                <a:spcPts val="285"/>
              </a:spcBef>
              <a:buClr>
                <a:srgbClr val="CC8E5F"/>
              </a:buClr>
              <a:buSzPct val="75000"/>
              <a:buFont typeface="Wingdings"/>
              <a:buChar char=""/>
              <a:tabLst>
                <a:tab pos="1446530" algn="l"/>
              </a:tabLst>
            </a:pP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Process </a:t>
            </a:r>
            <a:r>
              <a:rPr dirty="0">
                <a:solidFill>
                  <a:prstClr val="black"/>
                </a:solidFill>
                <a:latin typeface="Tw Cen MT"/>
                <a:cs typeface="Tw Cen MT"/>
              </a:rPr>
              <a:t>that will be used to </a:t>
            </a:r>
            <a:r>
              <a:rPr spc="-10" dirty="0">
                <a:solidFill>
                  <a:prstClr val="black"/>
                </a:solidFill>
                <a:latin typeface="Tw Cen MT"/>
                <a:cs typeface="Tw Cen MT"/>
              </a:rPr>
              <a:t>deliver</a:t>
            </a:r>
            <a:r>
              <a:rPr spc="-4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pc="-5" dirty="0">
                <a:solidFill>
                  <a:prstClr val="black"/>
                </a:solidFill>
                <a:latin typeface="Tw Cen MT"/>
                <a:cs typeface="Tw Cen MT"/>
              </a:rPr>
              <a:t>product</a:t>
            </a:r>
            <a:endParaRPr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115"/>
            <a:r>
              <a:rPr spc="-125" dirty="0"/>
              <a:t>R</a:t>
            </a:r>
            <a:r>
              <a:rPr dirty="0"/>
              <a:t>ef</a:t>
            </a:r>
            <a:r>
              <a:rPr spc="5" dirty="0"/>
              <a:t>e</a:t>
            </a:r>
            <a:r>
              <a:rPr dirty="0"/>
              <a:t>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5387" y="1717547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1.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5387" y="2050160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2.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5387" y="2382392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3.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5387" y="2716148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4.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5387" y="3048380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5.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5387" y="3380613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6.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5387" y="3714622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7.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5387" y="4046854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8.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5387" y="4379086"/>
            <a:ext cx="11938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9.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5388" y="4712842"/>
            <a:ext cx="186055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950" spc="-5" dirty="0">
                <a:solidFill>
                  <a:srgbClr val="CC8E5F"/>
                </a:solidFill>
                <a:latin typeface="Tw Cen MT"/>
                <a:cs typeface="Tw Cen MT"/>
              </a:rPr>
              <a:t>10.</a:t>
            </a:r>
            <a:endParaRPr sz="950">
              <a:solidFill>
                <a:prstClr val="black"/>
              </a:solidFill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0805" y="1634997"/>
            <a:ext cx="7465695" cy="3255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defTabSz="914400"/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Engineering </a:t>
            </a:r>
            <a:r>
              <a:rPr sz="1600" spc="-50" dirty="0">
                <a:solidFill>
                  <a:prstClr val="black"/>
                </a:solidFill>
                <a:latin typeface="Tw Cen MT"/>
                <a:cs typeface="Tw Cen MT"/>
              </a:rPr>
              <a:t>by </a:t>
            </a:r>
            <a:r>
              <a:rPr sz="1600" spc="-20" dirty="0">
                <a:solidFill>
                  <a:prstClr val="black"/>
                </a:solidFill>
                <a:latin typeface="Tw Cen MT"/>
                <a:cs typeface="Tw Cen MT"/>
              </a:rPr>
              <a:t>Roger</a:t>
            </a:r>
            <a:r>
              <a:rPr sz="1600" spc="100" dirty="0">
                <a:solidFill>
                  <a:prstClr val="black"/>
                </a:solidFill>
                <a:latin typeface="Tw Cen MT"/>
                <a:cs typeface="Tw Cen MT"/>
              </a:rPr>
              <a:t>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Pressman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179705" defTabSz="914400">
              <a:lnSpc>
                <a:spcPct val="136300"/>
              </a:lnSpc>
            </a:pPr>
            <a:r>
              <a:rPr sz="1600" spc="-40" dirty="0">
                <a:solidFill>
                  <a:prstClr val="black"/>
                </a:solidFill>
                <a:latin typeface="Tw Cen MT"/>
                <a:cs typeface="Tw Cen MT"/>
              </a:rPr>
              <a:t>Team </a:t>
            </a:r>
            <a:r>
              <a:rPr sz="1600" dirty="0">
                <a:solidFill>
                  <a:prstClr val="black"/>
                </a:solidFill>
                <a:latin typeface="Tw Cen MT"/>
                <a:cs typeface="Tw Cen MT"/>
              </a:rPr>
              <a:t>Structures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Portion </a:t>
            </a:r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taken from </a:t>
            </a:r>
            <a:r>
              <a:rPr sz="1600" spc="-5" dirty="0">
                <a:solidFill>
                  <a:prstClr val="black"/>
                </a:solidFill>
                <a:latin typeface="Tw Cen MT"/>
                <a:cs typeface="Tw Cen MT"/>
              </a:rPr>
              <a:t>Gary </a:t>
            </a:r>
            <a:r>
              <a:rPr sz="1600" spc="-20" dirty="0">
                <a:solidFill>
                  <a:prstClr val="black"/>
                </a:solidFill>
                <a:latin typeface="Tw Cen MT"/>
                <a:cs typeface="Tw Cen MT"/>
              </a:rPr>
              <a:t>Pollice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lectures </a:t>
            </a:r>
            <a:r>
              <a:rPr sz="1600" dirty="0">
                <a:solidFill>
                  <a:prstClr val="black"/>
                </a:solidFill>
                <a:latin typeface="Tw Cen MT"/>
                <a:cs typeface="Tw Cen MT"/>
              </a:rPr>
              <a:t>on </a:t>
            </a:r>
            <a:r>
              <a:rPr sz="1600" spc="-15" dirty="0">
                <a:solidFill>
                  <a:prstClr val="black"/>
                </a:solidFill>
                <a:latin typeface="Tw Cen MT"/>
                <a:cs typeface="Tw Cen MT"/>
              </a:rPr>
              <a:t>Software </a:t>
            </a:r>
            <a:r>
              <a:rPr sz="1600" spc="-10" dirty="0">
                <a:solidFill>
                  <a:prstClr val="black"/>
                </a:solidFill>
                <a:latin typeface="Tw Cen MT"/>
                <a:cs typeface="Tw Cen MT"/>
              </a:rPr>
              <a:t>Project Management 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2"/>
              </a:rPr>
              <a:t>http://recruitment.naukrihub.com/recruitment-vs-selection.html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2645410" defTabSz="914400">
              <a:lnSpc>
                <a:spcPct val="136500"/>
              </a:lnSpc>
              <a:spcBef>
                <a:spcPts val="5"/>
              </a:spcBef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3"/>
              </a:rPr>
              <a:t>http://en.wikipedia.org/wiki/Performance_management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4"/>
              </a:rPr>
              <a:t>http://en.wikipedia.org/wiki/Workers%27_compensation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  <a:hlinkClick r:id="rId5"/>
              </a:rPr>
              <a:t>http://www.inovus.com/organiza.htm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10" dirty="0">
                <a:solidFill>
                  <a:srgbClr val="636363"/>
                </a:solidFill>
                <a:latin typeface="Tw Cen MT"/>
                <a:cs typeface="Tw Cen MT"/>
                <a:hlinkClick r:id="rId6"/>
              </a:rPr>
              <a:t>http://www.wisegeek.com/what-is-career-development.htm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marR="5080" defTabSz="914400">
              <a:lnSpc>
                <a:spcPct val="136300"/>
              </a:lnSpc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7"/>
              </a:rPr>
              <a:t>http://pathikconsulting.com/team-and-culture-development-corporate-culture-consulting.html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</a:rPr>
              <a:t> </a:t>
            </a: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8"/>
              </a:rPr>
              <a:t>http://www.conx2u.com/index.php?option=com_content&amp;view=article&amp;id=53&amp;Itemid=55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  <a:p>
            <a:pPr marL="12700" defTabSz="914400">
              <a:spcBef>
                <a:spcPts val="705"/>
              </a:spcBef>
            </a:pPr>
            <a:r>
              <a:rPr sz="1600" u="sng" spc="-5" dirty="0">
                <a:solidFill>
                  <a:srgbClr val="636363"/>
                </a:solidFill>
                <a:latin typeface="Tw Cen MT"/>
                <a:cs typeface="Tw Cen MT"/>
                <a:hlinkClick r:id="rId9"/>
              </a:rPr>
              <a:t>http://en.wikipedia.org/wiki/Bulletin_board_system</a:t>
            </a:r>
            <a:endParaRPr sz="1600" dirty="0">
              <a:solidFill>
                <a:prstClr val="black"/>
              </a:solidFill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A3E36E-02EB-9A77-79D7-58A4ADD6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0" y="2352675"/>
            <a:ext cx="7421216" cy="27891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459</TotalTime>
  <Words>1148</Words>
  <Application>Microsoft Office PowerPoint</Application>
  <PresentationFormat>Widescreen</PresentationFormat>
  <Paragraphs>234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Corbel</vt:lpstr>
      <vt:lpstr>Times New Roman</vt:lpstr>
      <vt:lpstr>Tw Cen MT</vt:lpstr>
      <vt:lpstr>Wingdings</vt:lpstr>
      <vt:lpstr>Wingdings 2</vt:lpstr>
      <vt:lpstr>Parallax</vt:lpstr>
      <vt:lpstr>Office Theme</vt:lpstr>
      <vt:lpstr>The 4 P’s in PM Spectrum (1) Lecture 3</vt:lpstr>
      <vt:lpstr>The 4 P’s in PM Spectrum</vt:lpstr>
      <vt:lpstr>People [1]</vt:lpstr>
      <vt:lpstr>People</vt:lpstr>
      <vt:lpstr>PM-CMM</vt:lpstr>
      <vt:lpstr>PM-CMM</vt:lpstr>
      <vt:lpstr>PM-CMM</vt:lpstr>
      <vt:lpstr>PM-CMM</vt:lpstr>
      <vt:lpstr>Peoples involved in Software Process</vt:lpstr>
      <vt:lpstr>The Stakeholders</vt:lpstr>
      <vt:lpstr>The Team Leaders</vt:lpstr>
      <vt:lpstr>The Team Leaders</vt:lpstr>
      <vt:lpstr>The Team Leaders</vt:lpstr>
      <vt:lpstr>The Software Teams</vt:lpstr>
      <vt:lpstr>The Software Teams: Democratic decentralized</vt:lpstr>
      <vt:lpstr>The Software Teams: Democratic decentralized</vt:lpstr>
      <vt:lpstr>The Software Teams: Controlled Centralized</vt:lpstr>
      <vt:lpstr>The Software Teams: Controlled Centralized</vt:lpstr>
      <vt:lpstr>The Software Teams: Controlled Decentralized</vt:lpstr>
      <vt:lpstr>The Software Teams</vt:lpstr>
      <vt:lpstr>Communication &amp; Coordination Issues</vt:lpstr>
      <vt:lpstr>The Product [1]</vt:lpstr>
      <vt:lpstr>The Product</vt:lpstr>
      <vt:lpstr>Software Scope</vt:lpstr>
      <vt:lpstr>Problem Decomposition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Engineering</dc:title>
  <cp:lastModifiedBy>Office</cp:lastModifiedBy>
  <cp:revision>152</cp:revision>
  <dcterms:created xsi:type="dcterms:W3CDTF">2020-01-31T11:17:02Z</dcterms:created>
  <dcterms:modified xsi:type="dcterms:W3CDTF">2023-02-21T04:37:56Z</dcterms:modified>
</cp:coreProperties>
</file>