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8" r:id="rId2"/>
    <p:sldMasterId id="2147483684" r:id="rId3"/>
  </p:sldMasterIdLst>
  <p:notesMasterIdLst>
    <p:notesMasterId r:id="rId18"/>
  </p:notesMasterIdLst>
  <p:sldIdLst>
    <p:sldId id="256" r:id="rId4"/>
    <p:sldId id="258" r:id="rId5"/>
    <p:sldId id="370" r:id="rId6"/>
    <p:sldId id="259" r:id="rId7"/>
    <p:sldId id="306" r:id="rId8"/>
    <p:sldId id="307" r:id="rId9"/>
    <p:sldId id="369" r:id="rId10"/>
    <p:sldId id="308" r:id="rId11"/>
    <p:sldId id="371" r:id="rId12"/>
    <p:sldId id="372" r:id="rId13"/>
    <p:sldId id="373" r:id="rId14"/>
    <p:sldId id="377" r:id="rId15"/>
    <p:sldId id="375" r:id="rId16"/>
    <p:sldId id="287"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BCF48E-191A-4E97-AB7E-70F10538655B}" type="datetimeFigureOut">
              <a:rPr lang="en-US" smtClean="0"/>
              <a:t>3/7/2023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6695C5-2509-4C26-BD86-73E00A70DF3A}" type="slidenum">
              <a:rPr lang="en-US" smtClean="0"/>
              <a:t>‹#›</a:t>
            </a:fld>
            <a:endParaRPr lang="en-US"/>
          </a:p>
        </p:txBody>
      </p:sp>
    </p:spTree>
    <p:extLst>
      <p:ext uri="{BB962C8B-B14F-4D97-AF65-F5344CB8AC3E}">
        <p14:creationId xmlns:p14="http://schemas.microsoft.com/office/powerpoint/2010/main" val="13860490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7DCEA6F-A451-4A26-96B2-9AE2BE5E0FA7}" type="datetimeFigureOut">
              <a:rPr lang="en-PK" smtClean="0"/>
              <a:t>03/07/2023</a:t>
            </a:fld>
            <a:endParaRPr lang="en-PK"/>
          </a:p>
        </p:txBody>
      </p:sp>
      <p:sp>
        <p:nvSpPr>
          <p:cNvPr id="5" name="Footer Placeholder 4"/>
          <p:cNvSpPr>
            <a:spLocks noGrp="1"/>
          </p:cNvSpPr>
          <p:nvPr>
            <p:ph type="ftr" sz="quarter" idx="11"/>
          </p:nvPr>
        </p:nvSpPr>
        <p:spPr>
          <a:xfrm>
            <a:off x="5332412" y="5883275"/>
            <a:ext cx="4324044" cy="365125"/>
          </a:xfrm>
        </p:spPr>
        <p:txBody>
          <a:bodyPr/>
          <a:lstStyle/>
          <a:p>
            <a:endParaRPr lang="en-PK"/>
          </a:p>
        </p:txBody>
      </p:sp>
      <p:sp>
        <p:nvSpPr>
          <p:cNvPr id="6" name="Slide Number Placeholder 5"/>
          <p:cNvSpPr>
            <a:spLocks noGrp="1"/>
          </p:cNvSpPr>
          <p:nvPr>
            <p:ph type="sldNum" sz="quarter" idx="12"/>
          </p:nvPr>
        </p:nvSpPr>
        <p:spPr/>
        <p:txBody>
          <a:bodyPr/>
          <a:lstStyle/>
          <a:p>
            <a:fld id="{21B6CD44-7799-4C17-9166-73EBBFFD28F2}" type="slidenum">
              <a:rPr lang="en-PK" smtClean="0"/>
              <a:t>‹#›</a:t>
            </a:fld>
            <a:endParaRPr lang="en-PK"/>
          </a:p>
        </p:txBody>
      </p:sp>
    </p:spTree>
    <p:extLst>
      <p:ext uri="{BB962C8B-B14F-4D97-AF65-F5344CB8AC3E}">
        <p14:creationId xmlns:p14="http://schemas.microsoft.com/office/powerpoint/2010/main" val="12357568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CEA6F-A451-4A26-96B2-9AE2BE5E0FA7}" type="datetimeFigureOut">
              <a:rPr lang="en-PK" smtClean="0"/>
              <a:t>03/07/2023</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a:xfrm>
            <a:off x="10951856" y="5867131"/>
            <a:ext cx="551167" cy="365125"/>
          </a:xfrm>
        </p:spPr>
        <p:txBody>
          <a:bodyPr/>
          <a:lstStyle/>
          <a:p>
            <a:fld id="{21B6CD44-7799-4C17-9166-73EBBFFD28F2}" type="slidenum">
              <a:rPr lang="en-PK" smtClean="0"/>
              <a:t>‹#›</a:t>
            </a:fld>
            <a:endParaRPr lang="en-PK"/>
          </a:p>
        </p:txBody>
      </p:sp>
    </p:spTree>
    <p:extLst>
      <p:ext uri="{BB962C8B-B14F-4D97-AF65-F5344CB8AC3E}">
        <p14:creationId xmlns:p14="http://schemas.microsoft.com/office/powerpoint/2010/main" val="4209006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CEA6F-A451-4A26-96B2-9AE2BE5E0FA7}" type="datetimeFigureOut">
              <a:rPr lang="en-PK" smtClean="0"/>
              <a:t>03/07/2023</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21B6CD44-7799-4C17-9166-73EBBFFD28F2}" type="slidenum">
              <a:rPr lang="en-PK" smtClean="0"/>
              <a:t>‹#›</a:t>
            </a:fld>
            <a:endParaRPr lang="en-PK"/>
          </a:p>
        </p:txBody>
      </p:sp>
    </p:spTree>
    <p:extLst>
      <p:ext uri="{BB962C8B-B14F-4D97-AF65-F5344CB8AC3E}">
        <p14:creationId xmlns:p14="http://schemas.microsoft.com/office/powerpoint/2010/main" val="1687682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CEA6F-A451-4A26-96B2-9AE2BE5E0FA7}" type="datetimeFigureOut">
              <a:rPr lang="en-PK" smtClean="0"/>
              <a:t>03/07/2023</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21B6CD44-7799-4C17-9166-73EBBFFD28F2}" type="slidenum">
              <a:rPr lang="en-PK" smtClean="0"/>
              <a:t>‹#›</a:t>
            </a:fld>
            <a:endParaRPr lang="en-PK"/>
          </a:p>
        </p:txBody>
      </p:sp>
    </p:spTree>
    <p:extLst>
      <p:ext uri="{BB962C8B-B14F-4D97-AF65-F5344CB8AC3E}">
        <p14:creationId xmlns:p14="http://schemas.microsoft.com/office/powerpoint/2010/main" val="2733601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CEA6F-A451-4A26-96B2-9AE2BE5E0FA7}" type="datetimeFigureOut">
              <a:rPr lang="en-PK" smtClean="0"/>
              <a:t>03/07/2023</a:t>
            </a:fld>
            <a:endParaRPr lang="en-PK"/>
          </a:p>
        </p:txBody>
      </p:sp>
      <p:sp>
        <p:nvSpPr>
          <p:cNvPr id="8" name="Footer Placeholder 7"/>
          <p:cNvSpPr>
            <a:spLocks noGrp="1"/>
          </p:cNvSpPr>
          <p:nvPr>
            <p:ph type="ftr" sz="quarter" idx="11"/>
          </p:nvPr>
        </p:nvSpPr>
        <p:spPr/>
        <p:txBody>
          <a:bodyPr/>
          <a:lstStyle/>
          <a:p>
            <a:endParaRPr lang="en-PK"/>
          </a:p>
        </p:txBody>
      </p:sp>
      <p:sp>
        <p:nvSpPr>
          <p:cNvPr id="9" name="Slide Number Placeholder 8"/>
          <p:cNvSpPr>
            <a:spLocks noGrp="1"/>
          </p:cNvSpPr>
          <p:nvPr>
            <p:ph type="sldNum" sz="quarter" idx="12"/>
          </p:nvPr>
        </p:nvSpPr>
        <p:spPr/>
        <p:txBody>
          <a:bodyPr/>
          <a:lstStyle/>
          <a:p>
            <a:fld id="{21B6CD44-7799-4C17-9166-73EBBFFD28F2}" type="slidenum">
              <a:rPr lang="en-PK" smtClean="0"/>
              <a:t>‹#›</a:t>
            </a:fld>
            <a:endParaRPr lang="en-PK"/>
          </a:p>
        </p:txBody>
      </p:sp>
    </p:spTree>
    <p:extLst>
      <p:ext uri="{BB962C8B-B14F-4D97-AF65-F5344CB8AC3E}">
        <p14:creationId xmlns:p14="http://schemas.microsoft.com/office/powerpoint/2010/main" val="4050942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CEA6F-A451-4A26-96B2-9AE2BE5E0FA7}" type="datetimeFigureOut">
              <a:rPr lang="en-PK" smtClean="0"/>
              <a:t>03/07/2023</a:t>
            </a:fld>
            <a:endParaRPr lang="en-PK"/>
          </a:p>
        </p:txBody>
      </p:sp>
      <p:sp>
        <p:nvSpPr>
          <p:cNvPr id="4" name="Footer Placeholder 3"/>
          <p:cNvSpPr>
            <a:spLocks noGrp="1"/>
          </p:cNvSpPr>
          <p:nvPr>
            <p:ph type="ftr" sz="quarter" idx="11"/>
          </p:nvPr>
        </p:nvSpPr>
        <p:spPr/>
        <p:txBody>
          <a:bodyPr/>
          <a:lstStyle/>
          <a:p>
            <a:endParaRPr lang="en-PK"/>
          </a:p>
        </p:txBody>
      </p:sp>
      <p:sp>
        <p:nvSpPr>
          <p:cNvPr id="5" name="Slide Number Placeholder 4"/>
          <p:cNvSpPr>
            <a:spLocks noGrp="1"/>
          </p:cNvSpPr>
          <p:nvPr>
            <p:ph type="sldNum" sz="quarter" idx="12"/>
          </p:nvPr>
        </p:nvSpPr>
        <p:spPr/>
        <p:txBody>
          <a:bodyPr/>
          <a:lstStyle/>
          <a:p>
            <a:fld id="{21B6CD44-7799-4C17-9166-73EBBFFD28F2}" type="slidenum">
              <a:rPr lang="en-PK" smtClean="0"/>
              <a:t>‹#›</a:t>
            </a:fld>
            <a:endParaRPr lang="en-PK"/>
          </a:p>
        </p:txBody>
      </p:sp>
    </p:spTree>
    <p:extLst>
      <p:ext uri="{BB962C8B-B14F-4D97-AF65-F5344CB8AC3E}">
        <p14:creationId xmlns:p14="http://schemas.microsoft.com/office/powerpoint/2010/main" val="4028960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CEA6F-A451-4A26-96B2-9AE2BE5E0FA7}" type="datetimeFigureOut">
              <a:rPr lang="en-PK" smtClean="0"/>
              <a:t>03/07/2023</a:t>
            </a:fld>
            <a:endParaRPr lang="en-PK"/>
          </a:p>
        </p:txBody>
      </p:sp>
      <p:sp>
        <p:nvSpPr>
          <p:cNvPr id="3" name="Footer Placeholder 2"/>
          <p:cNvSpPr>
            <a:spLocks noGrp="1"/>
          </p:cNvSpPr>
          <p:nvPr>
            <p:ph type="ftr" sz="quarter" idx="11"/>
          </p:nvPr>
        </p:nvSpPr>
        <p:spPr/>
        <p:txBody>
          <a:bodyPr/>
          <a:lstStyle/>
          <a:p>
            <a:endParaRPr lang="en-PK"/>
          </a:p>
        </p:txBody>
      </p:sp>
      <p:sp>
        <p:nvSpPr>
          <p:cNvPr id="4" name="Slide Number Placeholder 3"/>
          <p:cNvSpPr>
            <a:spLocks noGrp="1"/>
          </p:cNvSpPr>
          <p:nvPr>
            <p:ph type="sldNum" sz="quarter" idx="12"/>
          </p:nvPr>
        </p:nvSpPr>
        <p:spPr/>
        <p:txBody>
          <a:bodyPr/>
          <a:lstStyle/>
          <a:p>
            <a:fld id="{21B6CD44-7799-4C17-9166-73EBBFFD28F2}" type="slidenum">
              <a:rPr lang="en-PK" smtClean="0"/>
              <a:t>‹#›</a:t>
            </a:fld>
            <a:endParaRPr lang="en-PK"/>
          </a:p>
        </p:txBody>
      </p:sp>
    </p:spTree>
    <p:extLst>
      <p:ext uri="{BB962C8B-B14F-4D97-AF65-F5344CB8AC3E}">
        <p14:creationId xmlns:p14="http://schemas.microsoft.com/office/powerpoint/2010/main" val="37681219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DCEA6F-A451-4A26-96B2-9AE2BE5E0FA7}" type="datetimeFigureOut">
              <a:rPr lang="en-PK" smtClean="0"/>
              <a:t>03/07/2023</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21B6CD44-7799-4C17-9166-73EBBFFD28F2}" type="slidenum">
              <a:rPr lang="en-PK" smtClean="0"/>
              <a:t>‹#›</a:t>
            </a:fld>
            <a:endParaRPr lang="en-PK"/>
          </a:p>
        </p:txBody>
      </p:sp>
    </p:spTree>
    <p:extLst>
      <p:ext uri="{BB962C8B-B14F-4D97-AF65-F5344CB8AC3E}">
        <p14:creationId xmlns:p14="http://schemas.microsoft.com/office/powerpoint/2010/main" val="11823687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DCEA6F-A451-4A26-96B2-9AE2BE5E0FA7}" type="datetimeFigureOut">
              <a:rPr lang="en-PK" smtClean="0"/>
              <a:t>03/07/2023</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21B6CD44-7799-4C17-9166-73EBBFFD28F2}" type="slidenum">
              <a:rPr lang="en-PK" smtClean="0"/>
              <a:t>‹#›</a:t>
            </a:fld>
            <a:endParaRPr lang="en-PK"/>
          </a:p>
        </p:txBody>
      </p:sp>
    </p:spTree>
    <p:extLst>
      <p:ext uri="{BB962C8B-B14F-4D97-AF65-F5344CB8AC3E}">
        <p14:creationId xmlns:p14="http://schemas.microsoft.com/office/powerpoint/2010/main" val="977572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DCEA6F-A451-4A26-96B2-9AE2BE5E0FA7}" type="datetimeFigureOut">
              <a:rPr lang="en-PK" smtClean="0"/>
              <a:t>03/07/2023</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21B6CD44-7799-4C17-9166-73EBBFFD28F2}" type="slidenum">
              <a:rPr lang="en-PK" smtClean="0"/>
              <a:t>‹#›</a:t>
            </a:fld>
            <a:endParaRPr lang="en-PK"/>
          </a:p>
        </p:txBody>
      </p:sp>
    </p:spTree>
    <p:extLst>
      <p:ext uri="{BB962C8B-B14F-4D97-AF65-F5344CB8AC3E}">
        <p14:creationId xmlns:p14="http://schemas.microsoft.com/office/powerpoint/2010/main" val="26306665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CEA6F-A451-4A26-96B2-9AE2BE5E0FA7}" type="datetimeFigureOut">
              <a:rPr lang="en-PK" smtClean="0"/>
              <a:t>03/07/2023</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21B6CD44-7799-4C17-9166-73EBBFFD28F2}" type="slidenum">
              <a:rPr lang="en-PK" smtClean="0"/>
              <a:t>‹#›</a:t>
            </a:fld>
            <a:endParaRPr lang="en-PK"/>
          </a:p>
        </p:txBody>
      </p:sp>
    </p:spTree>
    <p:extLst>
      <p:ext uri="{BB962C8B-B14F-4D97-AF65-F5344CB8AC3E}">
        <p14:creationId xmlns:p14="http://schemas.microsoft.com/office/powerpoint/2010/main" val="28099464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CEA6F-A451-4A26-96B2-9AE2BE5E0FA7}" type="datetimeFigureOut">
              <a:rPr lang="en-PK" smtClean="0"/>
              <a:t>03/07/2023</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21B6CD44-7799-4C17-9166-73EBBFFD28F2}" type="slidenum">
              <a:rPr lang="en-PK" smtClean="0"/>
              <a:t>‹#›</a:t>
            </a:fld>
            <a:endParaRPr lang="en-PK"/>
          </a:p>
        </p:txBody>
      </p:sp>
    </p:spTree>
    <p:extLst>
      <p:ext uri="{BB962C8B-B14F-4D97-AF65-F5344CB8AC3E}">
        <p14:creationId xmlns:p14="http://schemas.microsoft.com/office/powerpoint/2010/main" val="13653841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CEA6F-A451-4A26-96B2-9AE2BE5E0FA7}" type="datetimeFigureOut">
              <a:rPr lang="en-PK" smtClean="0"/>
              <a:t>03/07/2023</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21B6CD44-7799-4C17-9166-73EBBFFD28F2}" type="slidenum">
              <a:rPr lang="en-PK" smtClean="0"/>
              <a:t>‹#›</a:t>
            </a:fld>
            <a:endParaRPr lang="en-PK"/>
          </a:p>
        </p:txBody>
      </p:sp>
    </p:spTree>
    <p:extLst>
      <p:ext uri="{BB962C8B-B14F-4D97-AF65-F5344CB8AC3E}">
        <p14:creationId xmlns:p14="http://schemas.microsoft.com/office/powerpoint/2010/main" val="33273322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CEA6F-A451-4A26-96B2-9AE2BE5E0FA7}" type="datetimeFigureOut">
              <a:rPr lang="en-PK" smtClean="0"/>
              <a:t>03/07/2023</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21B6CD44-7799-4C17-9166-73EBBFFD28F2}" type="slidenum">
              <a:rPr lang="en-PK" smtClean="0"/>
              <a:t>‹#›</a:t>
            </a:fld>
            <a:endParaRPr lang="en-PK"/>
          </a:p>
        </p:txBody>
      </p:sp>
    </p:spTree>
    <p:extLst>
      <p:ext uri="{BB962C8B-B14F-4D97-AF65-F5344CB8AC3E}">
        <p14:creationId xmlns:p14="http://schemas.microsoft.com/office/powerpoint/2010/main" val="25259786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CEA6F-A451-4A26-96B2-9AE2BE5E0FA7}" type="datetimeFigureOut">
              <a:rPr lang="en-PK" smtClean="0"/>
              <a:t>03/07/2023</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21B6CD44-7799-4C17-9166-73EBBFFD28F2}" type="slidenum">
              <a:rPr lang="en-PK" smtClean="0"/>
              <a:t>‹#›</a:t>
            </a:fld>
            <a:endParaRPr lang="en-PK"/>
          </a:p>
        </p:txBody>
      </p:sp>
    </p:spTree>
    <p:extLst>
      <p:ext uri="{BB962C8B-B14F-4D97-AF65-F5344CB8AC3E}">
        <p14:creationId xmlns:p14="http://schemas.microsoft.com/office/powerpoint/2010/main" val="6990928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CEA6F-A451-4A26-96B2-9AE2BE5E0FA7}" type="datetimeFigureOut">
              <a:rPr lang="en-PK" smtClean="0"/>
              <a:t>03/07/2023</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21B6CD44-7799-4C17-9166-73EBBFFD28F2}" type="slidenum">
              <a:rPr lang="en-PK" smtClean="0"/>
              <a:t>‹#›</a:t>
            </a:fld>
            <a:endParaRPr lang="en-PK"/>
          </a:p>
        </p:txBody>
      </p:sp>
    </p:spTree>
    <p:extLst>
      <p:ext uri="{BB962C8B-B14F-4D97-AF65-F5344CB8AC3E}">
        <p14:creationId xmlns:p14="http://schemas.microsoft.com/office/powerpoint/2010/main" val="23080960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CEA6F-A451-4A26-96B2-9AE2BE5E0FA7}" type="datetimeFigureOut">
              <a:rPr lang="en-PK" smtClean="0"/>
              <a:t>03/07/2023</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21B6CD44-7799-4C17-9166-73EBBFFD28F2}" type="slidenum">
              <a:rPr lang="en-PK" smtClean="0"/>
              <a:t>‹#›</a:t>
            </a:fld>
            <a:endParaRPr lang="en-PK"/>
          </a:p>
        </p:txBody>
      </p:sp>
    </p:spTree>
    <p:extLst>
      <p:ext uri="{BB962C8B-B14F-4D97-AF65-F5344CB8AC3E}">
        <p14:creationId xmlns:p14="http://schemas.microsoft.com/office/powerpoint/2010/main" val="37385479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677108"/>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84666"/>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600" b="1" i="0">
                <a:solidFill>
                  <a:srgbClr val="1F2022"/>
                </a:solidFill>
                <a:latin typeface="Tw Cen MT"/>
                <a:cs typeface="Tw Cen MT"/>
              </a:defRPr>
            </a:lvl1pPr>
          </a:lstStyle>
          <a:p>
            <a:pPr marL="12700">
              <a:lnSpc>
                <a:spcPts val="1675"/>
              </a:lnSpc>
            </a:pPr>
            <a:endParaRPr lang="en-US"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8E0CCBC6-BBD0-4269-8E15-E397A128398C}" type="datetime1">
              <a:rPr lang="LID4096" smtClean="0"/>
              <a:t>03/07/2023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4017944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1F2022"/>
                </a:solidFill>
                <a:latin typeface="Tw Cen MT"/>
                <a:cs typeface="Tw Cen MT"/>
              </a:defRPr>
            </a:lvl1pPr>
          </a:lstStyle>
          <a:p>
            <a:endParaRPr/>
          </a:p>
        </p:txBody>
      </p:sp>
      <p:sp>
        <p:nvSpPr>
          <p:cNvPr id="3" name="Holder 3"/>
          <p:cNvSpPr>
            <a:spLocks noGrp="1"/>
          </p:cNvSpPr>
          <p:nvPr>
            <p:ph type="body" idx="1"/>
          </p:nvPr>
        </p:nvSpPr>
        <p:spPr/>
        <p:txBody>
          <a:bodyPr lIns="0" tIns="0" rIns="0" bIns="0"/>
          <a:lstStyle>
            <a:lvl1pPr>
              <a:defRPr sz="1200" b="1" i="0">
                <a:solidFill>
                  <a:schemeClr val="bg1"/>
                </a:solidFill>
                <a:latin typeface="Tw Cen MT"/>
                <a:cs typeface="Tw Cen MT"/>
              </a:defRPr>
            </a:lvl1pPr>
          </a:lstStyle>
          <a:p>
            <a:endParaRPr/>
          </a:p>
        </p:txBody>
      </p:sp>
      <p:sp>
        <p:nvSpPr>
          <p:cNvPr id="4" name="Holder 4"/>
          <p:cNvSpPr>
            <a:spLocks noGrp="1"/>
          </p:cNvSpPr>
          <p:nvPr>
            <p:ph type="ftr" sz="quarter" idx="5"/>
          </p:nvPr>
        </p:nvSpPr>
        <p:spPr/>
        <p:txBody>
          <a:bodyPr lIns="0" tIns="0" rIns="0" bIns="0"/>
          <a:lstStyle>
            <a:lvl1pPr>
              <a:defRPr sz="1600" b="1" i="0">
                <a:solidFill>
                  <a:srgbClr val="1F2022"/>
                </a:solidFill>
                <a:latin typeface="Tw Cen MT"/>
                <a:cs typeface="Tw Cen MT"/>
              </a:defRPr>
            </a:lvl1pPr>
          </a:lstStyle>
          <a:p>
            <a:pPr marL="12700">
              <a:lnSpc>
                <a:spcPts val="1675"/>
              </a:lnSpc>
            </a:pPr>
            <a:endParaRPr lang="en-US"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D138B18A-0D71-4EB1-B2A0-EEBDD3591E14}" type="datetime1">
              <a:rPr lang="LID4096" smtClean="0"/>
              <a:t>03/07/2023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8134868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1F2022"/>
                </a:solidFill>
                <a:latin typeface="Tw Cen MT"/>
                <a:cs typeface="Tw Cen MT"/>
              </a:defRPr>
            </a:lvl1pPr>
          </a:lstStyle>
          <a:p>
            <a:endParaRPr/>
          </a:p>
        </p:txBody>
      </p:sp>
      <p:sp>
        <p:nvSpPr>
          <p:cNvPr id="3" name="Holder 3"/>
          <p:cNvSpPr>
            <a:spLocks noGrp="1"/>
          </p:cNvSpPr>
          <p:nvPr>
            <p:ph sz="half" idx="2"/>
          </p:nvPr>
        </p:nvSpPr>
        <p:spPr>
          <a:xfrm>
            <a:off x="609600" y="1577340"/>
            <a:ext cx="5303520" cy="18466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18466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600" b="1" i="0">
                <a:solidFill>
                  <a:srgbClr val="1F2022"/>
                </a:solidFill>
                <a:latin typeface="Tw Cen MT"/>
                <a:cs typeface="Tw Cen MT"/>
              </a:defRPr>
            </a:lvl1pPr>
          </a:lstStyle>
          <a:p>
            <a:pPr marL="12700">
              <a:lnSpc>
                <a:spcPts val="1675"/>
              </a:lnSpc>
            </a:pPr>
            <a:endParaRPr lang="en-US"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D02FAC90-24DB-4F90-B081-1EC31F3B35A6}" type="datetime1">
              <a:rPr lang="LID4096" smtClean="0"/>
              <a:t>03/07/2023</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29258241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1F2022"/>
                </a:solidFill>
                <a:latin typeface="Tw Cen MT"/>
                <a:cs typeface="Tw Cen MT"/>
              </a:defRPr>
            </a:lvl1pPr>
          </a:lstStyle>
          <a:p>
            <a:endParaRPr/>
          </a:p>
        </p:txBody>
      </p:sp>
      <p:sp>
        <p:nvSpPr>
          <p:cNvPr id="3" name="Holder 3"/>
          <p:cNvSpPr>
            <a:spLocks noGrp="1"/>
          </p:cNvSpPr>
          <p:nvPr>
            <p:ph type="ftr" sz="quarter" idx="5"/>
          </p:nvPr>
        </p:nvSpPr>
        <p:spPr/>
        <p:txBody>
          <a:bodyPr lIns="0" tIns="0" rIns="0" bIns="0"/>
          <a:lstStyle>
            <a:lvl1pPr>
              <a:defRPr sz="1600" b="1" i="0">
                <a:solidFill>
                  <a:srgbClr val="1F2022"/>
                </a:solidFill>
                <a:latin typeface="Tw Cen MT"/>
                <a:cs typeface="Tw Cen MT"/>
              </a:defRPr>
            </a:lvl1pPr>
          </a:lstStyle>
          <a:p>
            <a:pPr marL="12700">
              <a:lnSpc>
                <a:spcPts val="1675"/>
              </a:lnSpc>
            </a:pPr>
            <a:endParaRPr lang="en-US" spc="-5"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5734A5EB-F155-43A3-8B21-E2F6D67F4297}" type="datetime1">
              <a:rPr lang="LID4096" smtClean="0"/>
              <a:t>03/07/2023</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2406008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600" b="1" i="0">
                <a:solidFill>
                  <a:srgbClr val="1F2022"/>
                </a:solidFill>
                <a:latin typeface="Tw Cen MT"/>
                <a:cs typeface="Tw Cen MT"/>
              </a:defRPr>
            </a:lvl1pPr>
          </a:lstStyle>
          <a:p>
            <a:pPr marL="12700">
              <a:lnSpc>
                <a:spcPts val="1675"/>
              </a:lnSpc>
            </a:pPr>
            <a:endParaRPr lang="en-US" spc="-5"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9C48824C-3111-496A-9251-7FECDF68981E}" type="datetime1">
              <a:rPr lang="LID4096" smtClean="0"/>
              <a:t>03/07/2023</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8671550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09600" y="1981200"/>
            <a:ext cx="5384800" cy="166199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981200"/>
            <a:ext cx="5384800" cy="166199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a:extLst>
              <a:ext uri="{FF2B5EF4-FFF2-40B4-BE49-F238E27FC236}">
                <a16:creationId xmlns:a16="http://schemas.microsoft.com/office/drawing/2014/main" id="{6D8AF5B4-59F1-3088-0A57-9F17342CF85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8DACDE2F-8994-F581-7759-AA8CD3C7FABE}"/>
              </a:ext>
            </a:extLst>
          </p:cNvPr>
          <p:cNvSpPr>
            <a:spLocks noGrp="1" noChangeArrowheads="1"/>
          </p:cNvSpPr>
          <p:nvPr>
            <p:ph type="ftr" sz="quarter" idx="11"/>
          </p:nvPr>
        </p:nvSpPr>
        <p:spPr>
          <a:xfrm>
            <a:off x="104986" y="6575017"/>
            <a:ext cx="1736513" cy="246221"/>
          </a:xfrm>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4216578A-D5AE-63EF-2FAE-6AB68B33E286}"/>
              </a:ext>
            </a:extLst>
          </p:cNvPr>
          <p:cNvSpPr>
            <a:spLocks noGrp="1" noChangeArrowheads="1"/>
          </p:cNvSpPr>
          <p:nvPr>
            <p:ph type="sldNum" sz="quarter" idx="12"/>
          </p:nvPr>
        </p:nvSpPr>
        <p:spPr>
          <a:ln/>
        </p:spPr>
        <p:txBody>
          <a:bodyPr/>
          <a:lstStyle>
            <a:lvl1pPr>
              <a:defRPr/>
            </a:lvl1pPr>
          </a:lstStyle>
          <a:p>
            <a:fld id="{EAC230D8-613F-45C4-A022-751245848773}" type="slidenum">
              <a:rPr lang="en-US" altLang="en-US"/>
              <a:pPr/>
              <a:t>‹#›</a:t>
            </a:fld>
            <a:endParaRPr lang="en-US" altLang="en-US"/>
          </a:p>
        </p:txBody>
      </p:sp>
    </p:spTree>
    <p:extLst>
      <p:ext uri="{BB962C8B-B14F-4D97-AF65-F5344CB8AC3E}">
        <p14:creationId xmlns:p14="http://schemas.microsoft.com/office/powerpoint/2010/main" val="164061092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BF9F184-E909-4D49-800A-9D398A30288D}" type="datetimeFigureOut">
              <a:rPr lang="en-US" smtClean="0"/>
              <a:pPr/>
              <a:t>3/7/2023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0FFC51-6BAC-654F-8F95-219186C56A39}" type="slidenum">
              <a:rPr lang="en-US" smtClean="0"/>
              <a:pPr/>
              <a:t>‹#›</a:t>
            </a:fld>
            <a:endParaRPr lang="en-US"/>
          </a:p>
        </p:txBody>
      </p:sp>
    </p:spTree>
    <p:extLst>
      <p:ext uri="{BB962C8B-B14F-4D97-AF65-F5344CB8AC3E}">
        <p14:creationId xmlns:p14="http://schemas.microsoft.com/office/powerpoint/2010/main" val="24982819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BF9F184-E909-4D49-800A-9D398A30288D}" type="datetimeFigureOut">
              <a:rPr lang="en-US" smtClean="0"/>
              <a:pPr/>
              <a:t>3/7/2023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0FFC51-6BAC-654F-8F95-219186C56A39}" type="slidenum">
              <a:rPr lang="en-US" smtClean="0"/>
              <a:pPr/>
              <a:t>‹#›</a:t>
            </a:fld>
            <a:endParaRPr lang="en-US"/>
          </a:p>
        </p:txBody>
      </p:sp>
    </p:spTree>
    <p:extLst>
      <p:ext uri="{BB962C8B-B14F-4D97-AF65-F5344CB8AC3E}">
        <p14:creationId xmlns:p14="http://schemas.microsoft.com/office/powerpoint/2010/main" val="351065234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F9F184-E909-4D49-800A-9D398A30288D}" type="datetimeFigureOut">
              <a:rPr lang="en-US" smtClean="0"/>
              <a:pPr/>
              <a:t>3/7/2023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0FFC51-6BAC-654F-8F95-219186C56A39}" type="slidenum">
              <a:rPr lang="en-US" smtClean="0"/>
              <a:pPr/>
              <a:t>‹#›</a:t>
            </a:fld>
            <a:endParaRPr lang="en-US"/>
          </a:p>
        </p:txBody>
      </p:sp>
    </p:spTree>
    <p:extLst>
      <p:ext uri="{BB962C8B-B14F-4D97-AF65-F5344CB8AC3E}">
        <p14:creationId xmlns:p14="http://schemas.microsoft.com/office/powerpoint/2010/main" val="111457867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BF9F184-E909-4D49-800A-9D398A30288D}" type="datetimeFigureOut">
              <a:rPr lang="en-US" smtClean="0"/>
              <a:pPr/>
              <a:t>3/7/2023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0FFC51-6BAC-654F-8F95-219186C56A39}" type="slidenum">
              <a:rPr lang="en-US" smtClean="0"/>
              <a:pPr/>
              <a:t>‹#›</a:t>
            </a:fld>
            <a:endParaRPr lang="en-US"/>
          </a:p>
        </p:txBody>
      </p:sp>
    </p:spTree>
    <p:extLst>
      <p:ext uri="{BB962C8B-B14F-4D97-AF65-F5344CB8AC3E}">
        <p14:creationId xmlns:p14="http://schemas.microsoft.com/office/powerpoint/2010/main" val="258845140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BF9F184-E909-4D49-800A-9D398A30288D}" type="datetimeFigureOut">
              <a:rPr lang="en-US" smtClean="0"/>
              <a:pPr/>
              <a:t>3/7/2023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D0FFC51-6BAC-654F-8F95-219186C56A39}" type="slidenum">
              <a:rPr lang="en-US" smtClean="0"/>
              <a:pPr/>
              <a:t>‹#›</a:t>
            </a:fld>
            <a:endParaRPr lang="en-US"/>
          </a:p>
        </p:txBody>
      </p:sp>
    </p:spTree>
    <p:extLst>
      <p:ext uri="{BB962C8B-B14F-4D97-AF65-F5344CB8AC3E}">
        <p14:creationId xmlns:p14="http://schemas.microsoft.com/office/powerpoint/2010/main" val="44226265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BF9F184-E909-4D49-800A-9D398A30288D}" type="datetimeFigureOut">
              <a:rPr lang="en-US" smtClean="0"/>
              <a:pPr/>
              <a:t>3/7/2023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D0FFC51-6BAC-654F-8F95-219186C56A39}" type="slidenum">
              <a:rPr lang="en-US" smtClean="0"/>
              <a:pPr/>
              <a:t>‹#›</a:t>
            </a:fld>
            <a:endParaRPr lang="en-US"/>
          </a:p>
        </p:txBody>
      </p:sp>
    </p:spTree>
    <p:extLst>
      <p:ext uri="{BB962C8B-B14F-4D97-AF65-F5344CB8AC3E}">
        <p14:creationId xmlns:p14="http://schemas.microsoft.com/office/powerpoint/2010/main" val="240139131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F9F184-E909-4D49-800A-9D398A30288D}" type="datetimeFigureOut">
              <a:rPr lang="en-US" smtClean="0"/>
              <a:pPr/>
              <a:t>3/7/2023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D0FFC51-6BAC-654F-8F95-219186C56A39}" type="slidenum">
              <a:rPr lang="en-US" smtClean="0"/>
              <a:pPr/>
              <a:t>‹#›</a:t>
            </a:fld>
            <a:endParaRPr lang="en-US"/>
          </a:p>
        </p:txBody>
      </p:sp>
    </p:spTree>
    <p:extLst>
      <p:ext uri="{BB962C8B-B14F-4D97-AF65-F5344CB8AC3E}">
        <p14:creationId xmlns:p14="http://schemas.microsoft.com/office/powerpoint/2010/main" val="148863372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BF9F184-E909-4D49-800A-9D398A30288D}" type="datetimeFigureOut">
              <a:rPr lang="en-US" smtClean="0"/>
              <a:pPr/>
              <a:t>3/7/2023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0FFC51-6BAC-654F-8F95-219186C56A39}" type="slidenum">
              <a:rPr lang="en-US" smtClean="0"/>
              <a:pPr/>
              <a:t>‹#›</a:t>
            </a:fld>
            <a:endParaRPr lang="en-US"/>
          </a:p>
        </p:txBody>
      </p:sp>
    </p:spTree>
    <p:extLst>
      <p:ext uri="{BB962C8B-B14F-4D97-AF65-F5344CB8AC3E}">
        <p14:creationId xmlns:p14="http://schemas.microsoft.com/office/powerpoint/2010/main" val="176600727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BF9F184-E909-4D49-800A-9D398A30288D}" type="datetimeFigureOut">
              <a:rPr lang="en-US" smtClean="0"/>
              <a:pPr/>
              <a:t>3/7/2023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0FFC51-6BAC-654F-8F95-219186C56A39}" type="slidenum">
              <a:rPr lang="en-US" smtClean="0"/>
              <a:pPr/>
              <a:t>‹#›</a:t>
            </a:fld>
            <a:endParaRPr lang="en-US"/>
          </a:p>
        </p:txBody>
      </p:sp>
    </p:spTree>
    <p:extLst>
      <p:ext uri="{BB962C8B-B14F-4D97-AF65-F5344CB8AC3E}">
        <p14:creationId xmlns:p14="http://schemas.microsoft.com/office/powerpoint/2010/main" val="282016820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BF9F184-E909-4D49-800A-9D398A30288D}" type="datetimeFigureOut">
              <a:rPr lang="en-US" smtClean="0"/>
              <a:pPr/>
              <a:t>3/7/2023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0FFC51-6BAC-654F-8F95-219186C56A39}" type="slidenum">
              <a:rPr lang="en-US" smtClean="0"/>
              <a:pPr/>
              <a:t>‹#›</a:t>
            </a:fld>
            <a:endParaRPr lang="en-US"/>
          </a:p>
        </p:txBody>
      </p:sp>
    </p:spTree>
    <p:extLst>
      <p:ext uri="{BB962C8B-B14F-4D97-AF65-F5344CB8AC3E}">
        <p14:creationId xmlns:p14="http://schemas.microsoft.com/office/powerpoint/2010/main" val="413791196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BF9F184-E909-4D49-800A-9D398A30288D}" type="datetimeFigureOut">
              <a:rPr lang="en-US" smtClean="0"/>
              <a:pPr/>
              <a:t>3/7/2023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0FFC51-6BAC-654F-8F95-219186C56A39}" type="slidenum">
              <a:rPr lang="en-US" smtClean="0"/>
              <a:pPr/>
              <a:t>‹#›</a:t>
            </a:fld>
            <a:endParaRPr lang="en-US"/>
          </a:p>
        </p:txBody>
      </p:sp>
    </p:spTree>
    <p:extLst>
      <p:ext uri="{BB962C8B-B14F-4D97-AF65-F5344CB8AC3E}">
        <p14:creationId xmlns:p14="http://schemas.microsoft.com/office/powerpoint/2010/main" val="39307659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0.xml"/><Relationship Id="rId7"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7DCEA6F-A451-4A26-96B2-9AE2BE5E0FA7}" type="datetimeFigureOut">
              <a:rPr lang="en-PK" smtClean="0"/>
              <a:t>03/07/2023</a:t>
            </a:fld>
            <a:endParaRPr lang="en-PK"/>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PK"/>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1B6CD44-7799-4C17-9166-73EBBFFD28F2}" type="slidenum">
              <a:rPr lang="en-PK" smtClean="0"/>
              <a:t>‹#›</a:t>
            </a:fld>
            <a:endParaRPr lang="en-PK"/>
          </a:p>
        </p:txBody>
      </p:sp>
    </p:spTree>
    <p:extLst>
      <p:ext uri="{BB962C8B-B14F-4D97-AF65-F5344CB8AC3E}">
        <p14:creationId xmlns:p14="http://schemas.microsoft.com/office/powerpoint/2010/main" val="41562279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1280160"/>
            <a:ext cx="711200" cy="228600"/>
          </a:xfrm>
          <a:custGeom>
            <a:avLst/>
            <a:gdLst/>
            <a:ahLst/>
            <a:cxnLst/>
            <a:rect l="l" t="t" r="r" b="b"/>
            <a:pathLst>
              <a:path w="533400" h="228600">
                <a:moveTo>
                  <a:pt x="0" y="228600"/>
                </a:moveTo>
                <a:lnTo>
                  <a:pt x="533400" y="228600"/>
                </a:lnTo>
                <a:lnTo>
                  <a:pt x="533400" y="0"/>
                </a:lnTo>
                <a:lnTo>
                  <a:pt x="0" y="0"/>
                </a:lnTo>
                <a:lnTo>
                  <a:pt x="0" y="228600"/>
                </a:lnTo>
                <a:close/>
              </a:path>
            </a:pathLst>
          </a:custGeom>
          <a:solidFill>
            <a:srgbClr val="CC8E5F"/>
          </a:solidFill>
        </p:spPr>
        <p:txBody>
          <a:bodyPr wrap="square" lIns="0" tIns="0" rIns="0" bIns="0" rtlCol="0"/>
          <a:lstStyle/>
          <a:p>
            <a:endParaRPr sz="1800"/>
          </a:p>
        </p:txBody>
      </p:sp>
      <p:sp>
        <p:nvSpPr>
          <p:cNvPr id="17" name="bk object 17"/>
          <p:cNvSpPr/>
          <p:nvPr/>
        </p:nvSpPr>
        <p:spPr>
          <a:xfrm>
            <a:off x="787400" y="1280160"/>
            <a:ext cx="11404600" cy="228600"/>
          </a:xfrm>
          <a:custGeom>
            <a:avLst/>
            <a:gdLst/>
            <a:ahLst/>
            <a:cxnLst/>
            <a:rect l="l" t="t" r="r" b="b"/>
            <a:pathLst>
              <a:path w="8553450" h="228600">
                <a:moveTo>
                  <a:pt x="0" y="228600"/>
                </a:moveTo>
                <a:lnTo>
                  <a:pt x="8553450" y="228600"/>
                </a:lnTo>
                <a:lnTo>
                  <a:pt x="8553450" y="0"/>
                </a:lnTo>
                <a:lnTo>
                  <a:pt x="0" y="0"/>
                </a:lnTo>
                <a:lnTo>
                  <a:pt x="0" y="228600"/>
                </a:lnTo>
                <a:close/>
              </a:path>
            </a:pathLst>
          </a:custGeom>
          <a:solidFill>
            <a:srgbClr val="7D96AC"/>
          </a:solidFill>
        </p:spPr>
        <p:txBody>
          <a:bodyPr wrap="square" lIns="0" tIns="0" rIns="0" bIns="0" rtlCol="0"/>
          <a:lstStyle/>
          <a:p>
            <a:endParaRPr sz="1800"/>
          </a:p>
        </p:txBody>
      </p:sp>
      <p:sp>
        <p:nvSpPr>
          <p:cNvPr id="2" name="Holder 2"/>
          <p:cNvSpPr>
            <a:spLocks noGrp="1"/>
          </p:cNvSpPr>
          <p:nvPr>
            <p:ph type="title"/>
          </p:nvPr>
        </p:nvSpPr>
        <p:spPr>
          <a:xfrm>
            <a:off x="388790" y="357379"/>
            <a:ext cx="11414420" cy="691515"/>
          </a:xfrm>
          <a:prstGeom prst="rect">
            <a:avLst/>
          </a:prstGeom>
        </p:spPr>
        <p:txBody>
          <a:bodyPr wrap="square" lIns="0" tIns="0" rIns="0" bIns="0">
            <a:spAutoFit/>
          </a:bodyPr>
          <a:lstStyle>
            <a:lvl1pPr>
              <a:defRPr sz="4400" b="0" i="0">
                <a:solidFill>
                  <a:srgbClr val="1F2022"/>
                </a:solidFill>
                <a:latin typeface="Tw Cen MT"/>
                <a:cs typeface="Tw Cen MT"/>
              </a:defRPr>
            </a:lvl1pPr>
          </a:lstStyle>
          <a:p>
            <a:endParaRPr/>
          </a:p>
        </p:txBody>
      </p:sp>
      <p:sp>
        <p:nvSpPr>
          <p:cNvPr id="3" name="Holder 3"/>
          <p:cNvSpPr>
            <a:spLocks noGrp="1"/>
          </p:cNvSpPr>
          <p:nvPr>
            <p:ph type="body" idx="1"/>
          </p:nvPr>
        </p:nvSpPr>
        <p:spPr>
          <a:xfrm>
            <a:off x="229751" y="1278890"/>
            <a:ext cx="5762413" cy="184666"/>
          </a:xfrm>
          <a:prstGeom prst="rect">
            <a:avLst/>
          </a:prstGeom>
        </p:spPr>
        <p:txBody>
          <a:bodyPr wrap="square" lIns="0" tIns="0" rIns="0" bIns="0">
            <a:spAutoFit/>
          </a:bodyPr>
          <a:lstStyle>
            <a:lvl1pPr>
              <a:defRPr sz="1200" b="1" i="0">
                <a:solidFill>
                  <a:schemeClr val="bg1"/>
                </a:solidFill>
                <a:latin typeface="Tw Cen MT"/>
                <a:cs typeface="Tw Cen MT"/>
              </a:defRPr>
            </a:lvl1pPr>
          </a:lstStyle>
          <a:p>
            <a:endParaRPr/>
          </a:p>
        </p:txBody>
      </p:sp>
      <p:sp>
        <p:nvSpPr>
          <p:cNvPr id="4" name="Holder 4"/>
          <p:cNvSpPr>
            <a:spLocks noGrp="1"/>
          </p:cNvSpPr>
          <p:nvPr>
            <p:ph type="ftr" sz="quarter" idx="5"/>
          </p:nvPr>
        </p:nvSpPr>
        <p:spPr>
          <a:xfrm>
            <a:off x="104986" y="6575017"/>
            <a:ext cx="1736513" cy="218008"/>
          </a:xfrm>
          <a:prstGeom prst="rect">
            <a:avLst/>
          </a:prstGeom>
        </p:spPr>
        <p:txBody>
          <a:bodyPr wrap="square" lIns="0" tIns="0" rIns="0" bIns="0">
            <a:spAutoFit/>
          </a:bodyPr>
          <a:lstStyle>
            <a:lvl1pPr>
              <a:defRPr sz="1600" b="1" i="0">
                <a:solidFill>
                  <a:srgbClr val="1F2022"/>
                </a:solidFill>
                <a:latin typeface="Tw Cen MT"/>
                <a:cs typeface="Tw Cen MT"/>
              </a:defRPr>
            </a:lvl1pPr>
          </a:lstStyle>
          <a:p>
            <a:pPr marL="12700">
              <a:lnSpc>
                <a:spcPts val="1675"/>
              </a:lnSpc>
            </a:pPr>
            <a:endParaRPr lang="en-US" spc="-5" dirty="0"/>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8BE92C42-D69F-4F44-BACC-179757B97AA7}" type="datetime1">
              <a:rPr lang="LID4096" smtClean="0"/>
              <a:t>03/07/2023</a:t>
            </a:fld>
            <a:endParaRPr lang="en-US"/>
          </a:p>
        </p:txBody>
      </p:sp>
      <p:sp>
        <p:nvSpPr>
          <p:cNvPr id="6" name="Holder 6"/>
          <p:cNvSpPr>
            <a:spLocks noGrp="1"/>
          </p:cNvSpPr>
          <p:nvPr>
            <p:ph type="sldNum" sz="quarter" idx="7"/>
          </p:nvPr>
        </p:nvSpPr>
        <p:spPr>
          <a:xfrm>
            <a:off x="8778240" y="6377940"/>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684245942"/>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96" r:id="rId6"/>
  </p:sldLayoutIdLst>
  <p:hf sldNum="0"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F9F184-E909-4D49-800A-9D398A30288D}" type="datetimeFigureOut">
              <a:rPr lang="en-US" smtClean="0"/>
              <a:pPr/>
              <a:t>3/7/2023</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0FFC51-6BAC-654F-8F95-219186C56A39}" type="slidenum">
              <a:rPr lang="en-US" smtClean="0"/>
              <a:pPr/>
              <a:t>‹#›</a:t>
            </a:fld>
            <a:endParaRPr lang="en-US"/>
          </a:p>
        </p:txBody>
      </p:sp>
    </p:spTree>
    <p:extLst>
      <p:ext uri="{BB962C8B-B14F-4D97-AF65-F5344CB8AC3E}">
        <p14:creationId xmlns:p14="http://schemas.microsoft.com/office/powerpoint/2010/main" val="164842053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5E0F1-384E-41A2-B1AC-FDE81B241C29}"/>
              </a:ext>
            </a:extLst>
          </p:cNvPr>
          <p:cNvSpPr>
            <a:spLocks noGrp="1"/>
          </p:cNvSpPr>
          <p:nvPr>
            <p:ph type="ctrTitle"/>
          </p:nvPr>
        </p:nvSpPr>
        <p:spPr>
          <a:xfrm>
            <a:off x="1696278" y="1400658"/>
            <a:ext cx="9144000" cy="2387600"/>
          </a:xfrm>
        </p:spPr>
        <p:txBody>
          <a:bodyPr/>
          <a:lstStyle/>
          <a:p>
            <a:r>
              <a:rPr lang="en-US" sz="4300" b="1" dirty="0">
                <a:solidFill>
                  <a:prstClr val="black"/>
                </a:solidFill>
                <a:latin typeface="Times New Roman" panose="02020603050405020304" pitchFamily="18" charset="0"/>
                <a:cs typeface="Times New Roman" panose="02020603050405020304" pitchFamily="18" charset="0"/>
              </a:rPr>
              <a:t>Project Life Cycle and Organization</a:t>
            </a:r>
            <a:br>
              <a:rPr lang="en-US" sz="4300" b="1" dirty="0">
                <a:solidFill>
                  <a:prstClr val="black"/>
                </a:solidFill>
                <a:latin typeface="Times New Roman" panose="02020603050405020304" pitchFamily="18" charset="0"/>
                <a:cs typeface="Times New Roman" panose="02020603050405020304" pitchFamily="18" charset="0"/>
              </a:rPr>
            </a:br>
            <a:r>
              <a:rPr lang="en-US" sz="4000" b="1" dirty="0">
                <a:solidFill>
                  <a:prstClr val="black"/>
                </a:solidFill>
                <a:latin typeface="Times New Roman" panose="02020603050405020304" pitchFamily="18" charset="0"/>
                <a:cs typeface="Times New Roman" panose="02020603050405020304" pitchFamily="18" charset="0"/>
              </a:rPr>
              <a:t>Lecture 2</a:t>
            </a:r>
            <a:endParaRPr lang="en-PK"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8958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412115"/>
            <a:r>
              <a:rPr lang="en-US" dirty="0"/>
              <a:t>Covered So Far</a:t>
            </a:r>
            <a:endParaRPr dirty="0"/>
          </a:p>
        </p:txBody>
      </p:sp>
      <p:sp>
        <p:nvSpPr>
          <p:cNvPr id="3" name="object 3"/>
          <p:cNvSpPr txBox="1"/>
          <p:nvPr/>
        </p:nvSpPr>
        <p:spPr>
          <a:xfrm>
            <a:off x="1737462" y="1278890"/>
            <a:ext cx="8562975" cy="3046988"/>
          </a:xfrm>
          <a:prstGeom prst="rect">
            <a:avLst/>
          </a:prstGeom>
        </p:spPr>
        <p:txBody>
          <a:bodyPr vert="horz" wrap="square" lIns="0" tIns="0" rIns="0" bIns="0" rtlCol="0">
            <a:spAutoFit/>
          </a:bodyPr>
          <a:lstStyle/>
          <a:p>
            <a:pPr marL="12700" defTabSz="914400"/>
            <a:endParaRPr sz="1600" dirty="0">
              <a:solidFill>
                <a:prstClr val="black"/>
              </a:solidFill>
              <a:latin typeface="Tw Cen MT"/>
              <a:cs typeface="Tw Cen MT"/>
            </a:endParaRPr>
          </a:p>
          <a:p>
            <a:pPr defTabSz="914400">
              <a:spcBef>
                <a:spcPts val="10"/>
              </a:spcBef>
            </a:pPr>
            <a:endParaRPr sz="1400" dirty="0">
              <a:solidFill>
                <a:prstClr val="black"/>
              </a:solidFill>
              <a:latin typeface="Times New Roman"/>
              <a:cs typeface="Times New Roman"/>
            </a:endParaRPr>
          </a:p>
          <a:p>
            <a:pPr marL="810895" indent="-320675" defTabSz="914400">
              <a:buClr>
                <a:srgbClr val="CC8E5F"/>
              </a:buClr>
              <a:buSzPct val="60000"/>
              <a:buFont typeface="Wingdings"/>
              <a:buChar char=""/>
              <a:tabLst>
                <a:tab pos="810895" algn="l"/>
                <a:tab pos="811530" algn="l"/>
              </a:tabLst>
            </a:pPr>
            <a:r>
              <a:rPr lang="en-US" sz="2800" b="1" dirty="0">
                <a:solidFill>
                  <a:prstClr val="black"/>
                </a:solidFill>
                <a:latin typeface="Tw Cen MT"/>
                <a:cs typeface="Tw Cen MT"/>
              </a:rPr>
              <a:t>What is management</a:t>
            </a:r>
          </a:p>
          <a:p>
            <a:pPr marL="810895" indent="-320675" defTabSz="914400">
              <a:buClr>
                <a:srgbClr val="CC8E5F"/>
              </a:buClr>
              <a:buSzPct val="60000"/>
              <a:buFont typeface="Wingdings"/>
              <a:buChar char=""/>
              <a:tabLst>
                <a:tab pos="810895" algn="l"/>
                <a:tab pos="811530" algn="l"/>
              </a:tabLst>
            </a:pPr>
            <a:r>
              <a:rPr lang="en-US" sz="2800" b="1" dirty="0">
                <a:solidFill>
                  <a:prstClr val="black"/>
                </a:solidFill>
                <a:latin typeface="Tw Cen MT"/>
                <a:cs typeface="Tw Cen MT"/>
              </a:rPr>
              <a:t>Why we need management</a:t>
            </a:r>
          </a:p>
          <a:p>
            <a:pPr marL="810895" indent="-320675" defTabSz="914400">
              <a:buClr>
                <a:srgbClr val="CC8E5F"/>
              </a:buClr>
              <a:buSzPct val="60000"/>
              <a:buFont typeface="Wingdings"/>
              <a:buChar char=""/>
              <a:tabLst>
                <a:tab pos="810895" algn="l"/>
                <a:tab pos="811530" algn="l"/>
              </a:tabLst>
            </a:pPr>
            <a:r>
              <a:rPr lang="en-US" sz="2800" b="1" dirty="0">
                <a:solidFill>
                  <a:prstClr val="black"/>
                </a:solidFill>
                <a:latin typeface="Tw Cen MT"/>
                <a:cs typeface="Tw Cen MT"/>
              </a:rPr>
              <a:t>Responsibilities of Management</a:t>
            </a:r>
          </a:p>
          <a:p>
            <a:pPr marL="810895" indent="-320675" defTabSz="914400">
              <a:buClr>
                <a:srgbClr val="CC8E5F"/>
              </a:buClr>
              <a:buSzPct val="60000"/>
              <a:buFont typeface="Wingdings"/>
              <a:buChar char=""/>
              <a:tabLst>
                <a:tab pos="810895" algn="l"/>
                <a:tab pos="811530" algn="l"/>
              </a:tabLst>
            </a:pPr>
            <a:r>
              <a:rPr lang="en-US" sz="2800" b="1" dirty="0">
                <a:solidFill>
                  <a:prstClr val="black"/>
                </a:solidFill>
                <a:latin typeface="Tw Cen MT"/>
                <a:cs typeface="Tw Cen MT"/>
              </a:rPr>
              <a:t>Project management</a:t>
            </a:r>
          </a:p>
          <a:p>
            <a:pPr marL="810895" indent="-320675" defTabSz="914400">
              <a:buClr>
                <a:srgbClr val="CC8E5F"/>
              </a:buClr>
              <a:buSzPct val="60000"/>
              <a:buFont typeface="Wingdings"/>
              <a:buChar char=""/>
              <a:tabLst>
                <a:tab pos="810895" algn="l"/>
                <a:tab pos="811530" algn="l"/>
              </a:tabLst>
            </a:pPr>
            <a:r>
              <a:rPr lang="en-US" sz="2800" b="1" dirty="0">
                <a:solidFill>
                  <a:prstClr val="black"/>
                </a:solidFill>
                <a:latin typeface="Tw Cen MT"/>
                <a:cs typeface="Tw Cen MT"/>
              </a:rPr>
              <a:t>Software Project Management</a:t>
            </a:r>
          </a:p>
          <a:p>
            <a:pPr defTabSz="914400">
              <a:buClr>
                <a:srgbClr val="CC8E5F"/>
              </a:buClr>
              <a:buFont typeface="Wingdings"/>
              <a:buChar char=""/>
            </a:pPr>
            <a:endParaRPr sz="2800" dirty="0">
              <a:solidFill>
                <a:prstClr val="black"/>
              </a:solidFill>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412115"/>
            <a:r>
              <a:rPr lang="en-US" dirty="0"/>
              <a:t>Project Life Cycle and Organization </a:t>
            </a:r>
            <a:endParaRPr dirty="0"/>
          </a:p>
        </p:txBody>
      </p:sp>
      <p:sp>
        <p:nvSpPr>
          <p:cNvPr id="4" name="Content Placeholder 2">
            <a:extLst>
              <a:ext uri="{FF2B5EF4-FFF2-40B4-BE49-F238E27FC236}">
                <a16:creationId xmlns:a16="http://schemas.microsoft.com/office/drawing/2014/main" id="{635E10B3-ECFE-2A87-CDF1-B4BBD94259B7}"/>
              </a:ext>
            </a:extLst>
          </p:cNvPr>
          <p:cNvSpPr txBox="1">
            <a:spLocks/>
          </p:cNvSpPr>
          <p:nvPr/>
        </p:nvSpPr>
        <p:spPr>
          <a:xfrm>
            <a:off x="609600" y="1600201"/>
            <a:ext cx="10972800" cy="4525963"/>
          </a:xfrm>
          <a:prstGeom prst="rect">
            <a:avLst/>
          </a:prstGeom>
        </p:spPr>
        <p:txBody>
          <a:bodyPr wrap="square" lIns="0" tIns="0" rIns="0" bIns="0">
            <a:normAutofit/>
          </a:bodyPr>
          <a:lstStyle>
            <a:lvl1pPr marL="0">
              <a:defRPr sz="1200" b="1" i="0">
                <a:solidFill>
                  <a:schemeClr val="bg1"/>
                </a:solidFill>
                <a:latin typeface="Tw Cen MT"/>
                <a:ea typeface="+mn-ea"/>
                <a:cs typeface="Tw Cen MT"/>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defTabSz="914400"/>
            <a:r>
              <a:rPr lang="en-US" kern="0" dirty="0"/>
              <a:t>Project life cycle</a:t>
            </a:r>
            <a:br>
              <a:rPr lang="en-US" kern="0" dirty="0"/>
            </a:br>
            <a:r>
              <a:rPr lang="en-US" kern="0" dirty="0"/>
              <a:t>Divide projects into </a:t>
            </a:r>
            <a:r>
              <a:rPr lang="en-US" i="1" kern="0" dirty="0"/>
              <a:t>phases</a:t>
            </a:r>
            <a:r>
              <a:rPr lang="en-US" kern="0" dirty="0"/>
              <a:t> to provide better management control with appropriate link to ongoing operations.</a:t>
            </a:r>
          </a:p>
          <a:p>
            <a:pPr defTabSz="914400"/>
            <a:br>
              <a:rPr lang="en-US" kern="0" dirty="0"/>
            </a:br>
            <a:r>
              <a:rPr lang="en-US" i="1" kern="0" dirty="0"/>
              <a:t>Project life cycle defines:</a:t>
            </a:r>
            <a:br>
              <a:rPr lang="en-US" kern="0" dirty="0"/>
            </a:br>
            <a:r>
              <a:rPr lang="en-US" kern="0" dirty="0"/>
              <a:t>- What technical work to do in each phase.</a:t>
            </a:r>
            <a:br>
              <a:rPr lang="en-US" kern="0" dirty="0"/>
            </a:br>
            <a:r>
              <a:rPr lang="en-US" kern="0" dirty="0"/>
              <a:t>- What deliverables are to be generated in each 	phase and how they are reviewed, verified and validated.</a:t>
            </a:r>
            <a:br>
              <a:rPr lang="en-US" kern="0" dirty="0"/>
            </a:br>
            <a:r>
              <a:rPr lang="en-US" kern="0" dirty="0"/>
              <a:t>- Who is involved in each phase.</a:t>
            </a:r>
            <a:br>
              <a:rPr lang="en-US" kern="0" dirty="0"/>
            </a:br>
            <a:r>
              <a:rPr lang="en-US" kern="0" dirty="0"/>
              <a:t>- How to control and approve each phase.</a:t>
            </a:r>
            <a:br>
              <a:rPr lang="en-US" kern="0" dirty="0"/>
            </a:br>
            <a:endParaRPr lang="en-US" kern="0" dirty="0"/>
          </a:p>
        </p:txBody>
      </p:sp>
      <p:sp>
        <p:nvSpPr>
          <p:cNvPr id="5" name="Content Placeholder 2">
            <a:extLst>
              <a:ext uri="{FF2B5EF4-FFF2-40B4-BE49-F238E27FC236}">
                <a16:creationId xmlns:a16="http://schemas.microsoft.com/office/drawing/2014/main" id="{DF64CCA6-54DE-7F36-3599-898E2D755B2C}"/>
              </a:ext>
            </a:extLst>
          </p:cNvPr>
          <p:cNvSpPr txBox="1">
            <a:spLocks/>
          </p:cNvSpPr>
          <p:nvPr/>
        </p:nvSpPr>
        <p:spPr>
          <a:xfrm>
            <a:off x="762000" y="1752601"/>
            <a:ext cx="10972800" cy="4525963"/>
          </a:xfrm>
          <a:prstGeom prst="rect">
            <a:avLst/>
          </a:prstGeom>
        </p:spPr>
        <p:txBody>
          <a:bodyPr vert="horz" lIns="91440" tIns="45720" rIns="91440" bIns="45720" rtlCol="0">
            <a:normAutofit fontScale="925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None/>
              <a:tabLst/>
              <a:defRPr/>
            </a:pPr>
            <a:r>
              <a:rPr kumimoji="0" lang="en-US" sz="3200" b="1" i="0" u="none" strike="noStrike" kern="1200" cap="none" spc="0" normalizeH="0" baseline="0" noProof="0" dirty="0">
                <a:ln>
                  <a:noFill/>
                </a:ln>
                <a:solidFill>
                  <a:sysClr val="windowText" lastClr="000000"/>
                </a:solidFill>
                <a:effectLst/>
                <a:uLnTx/>
                <a:uFillTx/>
                <a:latin typeface="Calibri"/>
                <a:ea typeface="+mn-ea"/>
                <a:cs typeface="+mn-cs"/>
              </a:rPr>
              <a:t>Project life cycle</a:t>
            </a:r>
            <a:b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b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Divide projects into </a:t>
            </a:r>
            <a:r>
              <a:rPr kumimoji="0" lang="en-US" sz="3200" b="1" i="1" u="none" strike="noStrike" kern="1200" cap="none" spc="0" normalizeH="0" baseline="0" noProof="0" dirty="0">
                <a:ln>
                  <a:noFill/>
                </a:ln>
                <a:solidFill>
                  <a:sysClr val="windowText" lastClr="000000"/>
                </a:solidFill>
                <a:effectLst/>
                <a:uLnTx/>
                <a:uFillTx/>
                <a:latin typeface="Calibri"/>
                <a:ea typeface="+mn-ea"/>
                <a:cs typeface="+mn-cs"/>
              </a:rPr>
              <a:t>phases</a:t>
            </a: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to provide better management control with appropriate link to ongoing operations.</a:t>
            </a:r>
          </a:p>
          <a:p>
            <a:pPr marL="342900" marR="0" lvl="0" indent="-342900" algn="l" defTabSz="457200" rtl="0" eaLnBrk="1" fontAlgn="auto" latinLnBrk="0" hangingPunct="1">
              <a:lnSpc>
                <a:spcPct val="100000"/>
              </a:lnSpc>
              <a:spcBef>
                <a:spcPct val="20000"/>
              </a:spcBef>
              <a:spcAft>
                <a:spcPts val="0"/>
              </a:spcAft>
              <a:buClrTx/>
              <a:buSzTx/>
              <a:buFont typeface="Arial"/>
              <a:buNone/>
              <a:tabLst/>
              <a:defRPr/>
            </a:pPr>
            <a:b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br>
            <a:r>
              <a:rPr kumimoji="0" lang="en-US" sz="3200" b="0" i="1" u="none" strike="noStrike" kern="1200" cap="none" spc="0" normalizeH="0" baseline="0" noProof="0" dirty="0">
                <a:ln>
                  <a:noFill/>
                </a:ln>
                <a:solidFill>
                  <a:sysClr val="windowText" lastClr="000000"/>
                </a:solidFill>
                <a:effectLst/>
                <a:uLnTx/>
                <a:uFillTx/>
                <a:latin typeface="Calibri"/>
                <a:ea typeface="+mn-ea"/>
                <a:cs typeface="+mn-cs"/>
              </a:rPr>
              <a:t>Project life cycle defines:</a:t>
            </a:r>
            <a:b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b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What technical work to do in each phase.</a:t>
            </a:r>
            <a:b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b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What deliverables are to be generated in each 	phase and how they are reviewed, verified and validated.</a:t>
            </a:r>
            <a:b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b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Who is involved in each phase.</a:t>
            </a:r>
            <a:b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br>
            <a: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t>- How to control and approve each phase.</a:t>
            </a:r>
            <a:b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br>
            <a:endParaRPr kumimoji="0" lang="en-US" sz="32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1775857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Project Life Cycle Structure </a:t>
            </a:r>
          </a:p>
        </p:txBody>
      </p:sp>
      <p:pic>
        <p:nvPicPr>
          <p:cNvPr id="4" name="Picture 3"/>
          <p:cNvPicPr>
            <a:picLocks noChangeAspect="1"/>
          </p:cNvPicPr>
          <p:nvPr/>
        </p:nvPicPr>
        <p:blipFill>
          <a:blip r:embed="rId2"/>
          <a:stretch>
            <a:fillRect/>
          </a:stretch>
        </p:blipFill>
        <p:spPr>
          <a:xfrm>
            <a:off x="1524001" y="1142557"/>
            <a:ext cx="9806608" cy="571544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Characteristics of The Project Life Cycle </a:t>
            </a:r>
          </a:p>
        </p:txBody>
      </p:sp>
      <p:pic>
        <p:nvPicPr>
          <p:cNvPr id="5" name="Picture 4"/>
          <p:cNvPicPr>
            <a:picLocks noChangeAspect="1"/>
          </p:cNvPicPr>
          <p:nvPr/>
        </p:nvPicPr>
        <p:blipFill>
          <a:blip r:embed="rId2"/>
          <a:stretch>
            <a:fillRect/>
          </a:stretch>
        </p:blipFill>
        <p:spPr>
          <a:xfrm>
            <a:off x="1524000" y="1417638"/>
            <a:ext cx="9106837" cy="544036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Project Phases</a:t>
            </a:r>
            <a:endParaRPr lang="en-US" dirty="0"/>
          </a:p>
        </p:txBody>
      </p:sp>
      <p:sp>
        <p:nvSpPr>
          <p:cNvPr id="3" name="Content Placeholder 2"/>
          <p:cNvSpPr>
            <a:spLocks noGrp="1"/>
          </p:cNvSpPr>
          <p:nvPr>
            <p:ph idx="1"/>
          </p:nvPr>
        </p:nvSpPr>
        <p:spPr/>
        <p:txBody>
          <a:bodyPr>
            <a:normAutofit/>
          </a:bodyPr>
          <a:lstStyle/>
          <a:p>
            <a:r>
              <a:rPr lang="en-US" dirty="0"/>
              <a:t>The completion and approval of one or more deliverables characterize a project phase. </a:t>
            </a:r>
          </a:p>
          <a:p>
            <a:r>
              <a:rPr lang="en-US" dirty="0"/>
              <a:t>For reason of size, complexity, level of risk, and cash flow constraints, project phases can be further subdivided into sub phases aligned with one or more specific deliverables for monitoring and control. </a:t>
            </a:r>
          </a:p>
          <a:p>
            <a:r>
              <a:rPr lang="en-US" dirty="0"/>
              <a:t>For each phase and sub phase, the project management processes can be applied.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p:cNvSpPr>
            <a:spLocks noGrp="1" noChangeArrowheads="1"/>
          </p:cNvSpPr>
          <p:nvPr>
            <p:ph type="title"/>
          </p:nvPr>
        </p:nvSpPr>
        <p:spPr>
          <a:xfrm>
            <a:off x="1981200" y="76200"/>
            <a:ext cx="8229600" cy="914400"/>
          </a:xfrm>
        </p:spPr>
        <p:txBody>
          <a:bodyPr/>
          <a:lstStyle/>
          <a:p>
            <a:r>
              <a:rPr lang="en-US" dirty="0"/>
              <a:t>More on Project Phases</a:t>
            </a:r>
          </a:p>
        </p:txBody>
      </p:sp>
      <p:sp>
        <p:nvSpPr>
          <p:cNvPr id="27653" name="Rectangle 3"/>
          <p:cNvSpPr>
            <a:spLocks noGrp="1" noChangeArrowheads="1"/>
          </p:cNvSpPr>
          <p:nvPr>
            <p:ph idx="1"/>
          </p:nvPr>
        </p:nvSpPr>
        <p:spPr>
          <a:xfrm>
            <a:off x="1981200" y="1263651"/>
            <a:ext cx="8229600" cy="4525962"/>
          </a:xfrm>
        </p:spPr>
        <p:txBody>
          <a:bodyPr>
            <a:normAutofit fontScale="92500" lnSpcReduction="10000"/>
          </a:bodyPr>
          <a:lstStyle/>
          <a:p>
            <a:pPr>
              <a:lnSpc>
                <a:spcPct val="90000"/>
              </a:lnSpc>
            </a:pPr>
            <a:r>
              <a:rPr lang="en-US" dirty="0"/>
              <a:t>In early phases of a project life cycle</a:t>
            </a:r>
          </a:p>
          <a:p>
            <a:pPr lvl="1">
              <a:lnSpc>
                <a:spcPct val="90000"/>
              </a:lnSpc>
            </a:pPr>
            <a:r>
              <a:rPr lang="en-US" dirty="0"/>
              <a:t>resource needs are usually lowest</a:t>
            </a:r>
          </a:p>
          <a:p>
            <a:pPr lvl="1">
              <a:lnSpc>
                <a:spcPct val="90000"/>
              </a:lnSpc>
            </a:pPr>
            <a:r>
              <a:rPr lang="en-US" dirty="0"/>
              <a:t>the level of uncertainty (risk) is highest</a:t>
            </a:r>
          </a:p>
          <a:p>
            <a:pPr lvl="1">
              <a:lnSpc>
                <a:spcPct val="90000"/>
              </a:lnSpc>
            </a:pPr>
            <a:r>
              <a:rPr lang="en-US" dirty="0"/>
              <a:t>project stakeholders have the greatest opportunity to influence the project</a:t>
            </a:r>
          </a:p>
          <a:p>
            <a:pPr>
              <a:lnSpc>
                <a:spcPct val="90000"/>
              </a:lnSpc>
            </a:pPr>
            <a:r>
              <a:rPr lang="en-US" dirty="0"/>
              <a:t>In middle phases of a project life cycle</a:t>
            </a:r>
          </a:p>
          <a:p>
            <a:pPr lvl="1">
              <a:lnSpc>
                <a:spcPct val="90000"/>
              </a:lnSpc>
            </a:pPr>
            <a:r>
              <a:rPr lang="en-US" dirty="0"/>
              <a:t>the certainty of completing a project improves</a:t>
            </a:r>
          </a:p>
          <a:p>
            <a:pPr lvl="1">
              <a:lnSpc>
                <a:spcPct val="90000"/>
              </a:lnSpc>
            </a:pPr>
            <a:r>
              <a:rPr lang="en-US" dirty="0"/>
              <a:t>more resources are needed</a:t>
            </a:r>
          </a:p>
          <a:p>
            <a:pPr>
              <a:lnSpc>
                <a:spcPct val="90000"/>
              </a:lnSpc>
            </a:pPr>
            <a:r>
              <a:rPr lang="en-US" dirty="0"/>
              <a:t>The final phase of a project life cycle focuses on</a:t>
            </a:r>
          </a:p>
          <a:p>
            <a:pPr lvl="1">
              <a:lnSpc>
                <a:spcPct val="90000"/>
              </a:lnSpc>
            </a:pPr>
            <a:r>
              <a:rPr lang="en-US" dirty="0"/>
              <a:t>ensuring that project requirements were met</a:t>
            </a:r>
          </a:p>
          <a:p>
            <a:pPr lvl="1">
              <a:lnSpc>
                <a:spcPct val="90000"/>
              </a:lnSpc>
            </a:pPr>
            <a:r>
              <a:rPr lang="en-US" dirty="0"/>
              <a:t>the sponsor approves completion of the project</a:t>
            </a:r>
          </a:p>
        </p:txBody>
      </p:sp>
      <p:sp>
        <p:nvSpPr>
          <p:cNvPr id="5" name="Slide Number Placeholder 4"/>
          <p:cNvSpPr>
            <a:spLocks noGrp="1"/>
          </p:cNvSpPr>
          <p:nvPr>
            <p:ph type="sldNum"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6E850ECD-DC50-44BE-9E96-61A1A4867365}"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6871102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Project life cycle and product life cycle</a:t>
            </a:r>
            <a:endParaRPr lang="en-US" dirty="0"/>
          </a:p>
        </p:txBody>
      </p:sp>
      <p:sp>
        <p:nvSpPr>
          <p:cNvPr id="3" name="Content Placeholder 2"/>
          <p:cNvSpPr>
            <a:spLocks noGrp="1"/>
          </p:cNvSpPr>
          <p:nvPr>
            <p:ph idx="1"/>
          </p:nvPr>
        </p:nvSpPr>
        <p:spPr/>
        <p:txBody>
          <a:bodyPr/>
          <a:lstStyle/>
          <a:p>
            <a:r>
              <a:rPr lang="en-US" dirty="0"/>
              <a:t>Product life cycle starts with the business plan, through ideas to product, ongoing operations and product divestment.</a:t>
            </a:r>
          </a:p>
          <a:p>
            <a:endParaRPr lang="en-US" dirty="0"/>
          </a:p>
          <a:p>
            <a:r>
              <a:rPr lang="en-US" dirty="0"/>
              <a:t>The project life cycle goes through a series of phases to create the product.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412115"/>
            <a:r>
              <a:rPr lang="en-US" dirty="0"/>
              <a:t>Organizational Culture</a:t>
            </a:r>
            <a:endParaRPr dirty="0"/>
          </a:p>
        </p:txBody>
      </p:sp>
      <p:sp>
        <p:nvSpPr>
          <p:cNvPr id="4" name="Content Placeholder 2">
            <a:extLst>
              <a:ext uri="{FF2B5EF4-FFF2-40B4-BE49-F238E27FC236}">
                <a16:creationId xmlns:a16="http://schemas.microsoft.com/office/drawing/2014/main" id="{635E10B3-ECFE-2A87-CDF1-B4BBD94259B7}"/>
              </a:ext>
            </a:extLst>
          </p:cNvPr>
          <p:cNvSpPr txBox="1">
            <a:spLocks/>
          </p:cNvSpPr>
          <p:nvPr/>
        </p:nvSpPr>
        <p:spPr>
          <a:xfrm>
            <a:off x="609600" y="1600201"/>
            <a:ext cx="10972800" cy="4525963"/>
          </a:xfrm>
          <a:prstGeom prst="rect">
            <a:avLst/>
          </a:prstGeom>
        </p:spPr>
        <p:txBody>
          <a:bodyPr wrap="square" lIns="0" tIns="0" rIns="0" bIns="0">
            <a:normAutofit/>
          </a:bodyPr>
          <a:lstStyle>
            <a:lvl1pPr marL="0">
              <a:defRPr sz="1200" b="1" i="0">
                <a:solidFill>
                  <a:schemeClr val="bg1"/>
                </a:solidFill>
                <a:latin typeface="Tw Cen MT"/>
                <a:ea typeface="+mn-ea"/>
                <a:cs typeface="Tw Cen MT"/>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Tw Cen MT"/>
                <a:ea typeface="+mn-ea"/>
              </a:rPr>
              <a:t>Project life cycle</a:t>
            </a:r>
            <a:br>
              <a:rPr kumimoji="0" lang="en-US" sz="1200" b="1" i="0" u="none" strike="noStrike" kern="0" cap="none" spc="0" normalizeH="0" baseline="0" noProof="0" dirty="0">
                <a:ln>
                  <a:noFill/>
                </a:ln>
                <a:solidFill>
                  <a:prstClr val="white"/>
                </a:solidFill>
                <a:effectLst/>
                <a:uLnTx/>
                <a:uFillTx/>
                <a:latin typeface="Tw Cen MT"/>
                <a:ea typeface="+mn-ea"/>
              </a:rPr>
            </a:br>
            <a:r>
              <a:rPr kumimoji="0" lang="en-US" sz="1200" b="1" i="0" u="none" strike="noStrike" kern="0" cap="none" spc="0" normalizeH="0" baseline="0" noProof="0" dirty="0">
                <a:ln>
                  <a:noFill/>
                </a:ln>
                <a:solidFill>
                  <a:prstClr val="white"/>
                </a:solidFill>
                <a:effectLst/>
                <a:uLnTx/>
                <a:uFillTx/>
                <a:latin typeface="Tw Cen MT"/>
                <a:ea typeface="+mn-ea"/>
              </a:rPr>
              <a:t>Divide projects into </a:t>
            </a:r>
            <a:r>
              <a:rPr kumimoji="0" lang="en-US" sz="1200" b="1" i="1" u="none" strike="noStrike" kern="0" cap="none" spc="0" normalizeH="0" baseline="0" noProof="0" dirty="0">
                <a:ln>
                  <a:noFill/>
                </a:ln>
                <a:solidFill>
                  <a:prstClr val="white"/>
                </a:solidFill>
                <a:effectLst/>
                <a:uLnTx/>
                <a:uFillTx/>
                <a:latin typeface="Tw Cen MT"/>
                <a:ea typeface="+mn-ea"/>
              </a:rPr>
              <a:t>phases</a:t>
            </a:r>
            <a:r>
              <a:rPr kumimoji="0" lang="en-US" sz="1200" b="1" i="0" u="none" strike="noStrike" kern="0" cap="none" spc="0" normalizeH="0" baseline="0" noProof="0" dirty="0">
                <a:ln>
                  <a:noFill/>
                </a:ln>
                <a:solidFill>
                  <a:prstClr val="white"/>
                </a:solidFill>
                <a:effectLst/>
                <a:uLnTx/>
                <a:uFillTx/>
                <a:latin typeface="Tw Cen MT"/>
                <a:ea typeface="+mn-ea"/>
              </a:rPr>
              <a:t> to provide better management control with appropriate link to ongoing operations.</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US" sz="1200" b="1" i="0" u="none" strike="noStrike" kern="0" cap="none" spc="0" normalizeH="0" baseline="0" noProof="0" dirty="0">
                <a:ln>
                  <a:noFill/>
                </a:ln>
                <a:solidFill>
                  <a:prstClr val="white"/>
                </a:solidFill>
                <a:effectLst/>
                <a:uLnTx/>
                <a:uFillTx/>
                <a:latin typeface="Tw Cen MT"/>
                <a:ea typeface="+mn-ea"/>
              </a:rPr>
            </a:br>
            <a:r>
              <a:rPr kumimoji="0" lang="en-US" sz="1200" b="1" i="1" u="none" strike="noStrike" kern="0" cap="none" spc="0" normalizeH="0" baseline="0" noProof="0" dirty="0">
                <a:ln>
                  <a:noFill/>
                </a:ln>
                <a:solidFill>
                  <a:prstClr val="white"/>
                </a:solidFill>
                <a:effectLst/>
                <a:uLnTx/>
                <a:uFillTx/>
                <a:latin typeface="Tw Cen MT"/>
                <a:ea typeface="+mn-ea"/>
              </a:rPr>
              <a:t>Project life cycle defines:</a:t>
            </a:r>
            <a:br>
              <a:rPr kumimoji="0" lang="en-US" sz="1200" b="1" i="0" u="none" strike="noStrike" kern="0" cap="none" spc="0" normalizeH="0" baseline="0" noProof="0" dirty="0">
                <a:ln>
                  <a:noFill/>
                </a:ln>
                <a:solidFill>
                  <a:prstClr val="white"/>
                </a:solidFill>
                <a:effectLst/>
                <a:uLnTx/>
                <a:uFillTx/>
                <a:latin typeface="Tw Cen MT"/>
                <a:ea typeface="+mn-ea"/>
              </a:rPr>
            </a:br>
            <a:r>
              <a:rPr kumimoji="0" lang="en-US" sz="1200" b="1" i="0" u="none" strike="noStrike" kern="0" cap="none" spc="0" normalizeH="0" baseline="0" noProof="0" dirty="0">
                <a:ln>
                  <a:noFill/>
                </a:ln>
                <a:solidFill>
                  <a:prstClr val="white"/>
                </a:solidFill>
                <a:effectLst/>
                <a:uLnTx/>
                <a:uFillTx/>
                <a:latin typeface="Tw Cen MT"/>
                <a:ea typeface="+mn-ea"/>
              </a:rPr>
              <a:t>- What technical work to do in each phase.</a:t>
            </a:r>
            <a:br>
              <a:rPr kumimoji="0" lang="en-US" sz="1200" b="1" i="0" u="none" strike="noStrike" kern="0" cap="none" spc="0" normalizeH="0" baseline="0" noProof="0" dirty="0">
                <a:ln>
                  <a:noFill/>
                </a:ln>
                <a:solidFill>
                  <a:prstClr val="white"/>
                </a:solidFill>
                <a:effectLst/>
                <a:uLnTx/>
                <a:uFillTx/>
                <a:latin typeface="Tw Cen MT"/>
                <a:ea typeface="+mn-ea"/>
              </a:rPr>
            </a:br>
            <a:r>
              <a:rPr kumimoji="0" lang="en-US" sz="1200" b="1" i="0" u="none" strike="noStrike" kern="0" cap="none" spc="0" normalizeH="0" baseline="0" noProof="0" dirty="0">
                <a:ln>
                  <a:noFill/>
                </a:ln>
                <a:solidFill>
                  <a:prstClr val="white"/>
                </a:solidFill>
                <a:effectLst/>
                <a:uLnTx/>
                <a:uFillTx/>
                <a:latin typeface="Tw Cen MT"/>
                <a:ea typeface="+mn-ea"/>
              </a:rPr>
              <a:t>- What deliverables are to be generated in each 	phase and how they are reviewed, verified and validated.</a:t>
            </a:r>
            <a:br>
              <a:rPr kumimoji="0" lang="en-US" sz="1200" b="1" i="0" u="none" strike="noStrike" kern="0" cap="none" spc="0" normalizeH="0" baseline="0" noProof="0" dirty="0">
                <a:ln>
                  <a:noFill/>
                </a:ln>
                <a:solidFill>
                  <a:prstClr val="white"/>
                </a:solidFill>
                <a:effectLst/>
                <a:uLnTx/>
                <a:uFillTx/>
                <a:latin typeface="Tw Cen MT"/>
                <a:ea typeface="+mn-ea"/>
              </a:rPr>
            </a:br>
            <a:r>
              <a:rPr kumimoji="0" lang="en-US" sz="1200" b="1" i="0" u="none" strike="noStrike" kern="0" cap="none" spc="0" normalizeH="0" baseline="0" noProof="0" dirty="0">
                <a:ln>
                  <a:noFill/>
                </a:ln>
                <a:solidFill>
                  <a:prstClr val="white"/>
                </a:solidFill>
                <a:effectLst/>
                <a:uLnTx/>
                <a:uFillTx/>
                <a:latin typeface="Tw Cen MT"/>
                <a:ea typeface="+mn-ea"/>
              </a:rPr>
              <a:t>- Who is involved in each phase.</a:t>
            </a:r>
            <a:br>
              <a:rPr kumimoji="0" lang="en-US" sz="1200" b="1" i="0" u="none" strike="noStrike" kern="0" cap="none" spc="0" normalizeH="0" baseline="0" noProof="0" dirty="0">
                <a:ln>
                  <a:noFill/>
                </a:ln>
                <a:solidFill>
                  <a:prstClr val="white"/>
                </a:solidFill>
                <a:effectLst/>
                <a:uLnTx/>
                <a:uFillTx/>
                <a:latin typeface="Tw Cen MT"/>
                <a:ea typeface="+mn-ea"/>
              </a:rPr>
            </a:br>
            <a:r>
              <a:rPr kumimoji="0" lang="en-US" sz="1200" b="1" i="0" u="none" strike="noStrike" kern="0" cap="none" spc="0" normalizeH="0" baseline="0" noProof="0" dirty="0">
                <a:ln>
                  <a:noFill/>
                </a:ln>
                <a:solidFill>
                  <a:prstClr val="white"/>
                </a:solidFill>
                <a:effectLst/>
                <a:uLnTx/>
                <a:uFillTx/>
                <a:latin typeface="Tw Cen MT"/>
                <a:ea typeface="+mn-ea"/>
              </a:rPr>
              <a:t>- How to control and approve each phase.</a:t>
            </a:r>
            <a:br>
              <a:rPr kumimoji="0" lang="en-US" sz="1200" b="1" i="0" u="none" strike="noStrike" kern="0" cap="none" spc="0" normalizeH="0" baseline="0" noProof="0" dirty="0">
                <a:ln>
                  <a:noFill/>
                </a:ln>
                <a:solidFill>
                  <a:prstClr val="white"/>
                </a:solidFill>
                <a:effectLst/>
                <a:uLnTx/>
                <a:uFillTx/>
                <a:latin typeface="Tw Cen MT"/>
                <a:ea typeface="+mn-ea"/>
              </a:rPr>
            </a:br>
            <a:endParaRPr kumimoji="0" lang="en-US" sz="1200" b="1" i="0" u="none" strike="noStrike" kern="0" cap="none" spc="0" normalizeH="0" baseline="0" noProof="0" dirty="0">
              <a:ln>
                <a:noFill/>
              </a:ln>
              <a:solidFill>
                <a:prstClr val="white"/>
              </a:solidFill>
              <a:effectLst/>
              <a:uLnTx/>
              <a:uFillTx/>
              <a:latin typeface="Tw Cen MT"/>
              <a:ea typeface="+mn-ea"/>
            </a:endParaRPr>
          </a:p>
        </p:txBody>
      </p:sp>
      <p:sp>
        <p:nvSpPr>
          <p:cNvPr id="5" name="Content Placeholder 2">
            <a:extLst>
              <a:ext uri="{FF2B5EF4-FFF2-40B4-BE49-F238E27FC236}">
                <a16:creationId xmlns:a16="http://schemas.microsoft.com/office/drawing/2014/main" id="{DF64CCA6-54DE-7F36-3599-898E2D755B2C}"/>
              </a:ext>
            </a:extLst>
          </p:cNvPr>
          <p:cNvSpPr txBox="1">
            <a:spLocks/>
          </p:cNvSpPr>
          <p:nvPr/>
        </p:nvSpPr>
        <p:spPr>
          <a:xfrm>
            <a:off x="762000" y="1752601"/>
            <a:ext cx="10972800" cy="4525963"/>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kumimoji="0" lang="en-US" sz="3200" i="0" u="none" strike="noStrike" kern="1200" cap="none" spc="0" normalizeH="0" baseline="0" noProof="0" dirty="0">
                <a:ln>
                  <a:noFill/>
                </a:ln>
                <a:solidFill>
                  <a:sysClr val="windowText" lastClr="000000"/>
                </a:solidFill>
                <a:effectLst/>
                <a:uLnTx/>
                <a:uFillTx/>
                <a:latin typeface="Calibri"/>
                <a:ea typeface="+mn-ea"/>
                <a:cs typeface="+mn-cs"/>
              </a:rPr>
              <a:t>Organizational culture is a set of shared assumptions, values, and behaviors that characterize the functioning of an organization.</a:t>
            </a:r>
          </a:p>
          <a:p>
            <a:endParaRPr kumimoji="0" lang="en-US" sz="3200" i="0" u="none" strike="noStrike" kern="1200" cap="none" spc="0" normalizeH="0" baseline="0" noProof="0" dirty="0">
              <a:ln>
                <a:noFill/>
              </a:ln>
              <a:solidFill>
                <a:sysClr val="windowText" lastClr="000000"/>
              </a:solidFill>
              <a:effectLst/>
              <a:uLnTx/>
              <a:uFillTx/>
              <a:latin typeface="Calibri"/>
              <a:ea typeface="+mn-ea"/>
              <a:cs typeface="+mn-cs"/>
            </a:endParaRPr>
          </a:p>
          <a:p>
            <a:r>
              <a:rPr kumimoji="0" lang="en-US" sz="3200" i="0" u="none" strike="noStrike" kern="1200" cap="none" spc="0" normalizeH="0" baseline="0" noProof="0" dirty="0">
                <a:ln>
                  <a:noFill/>
                </a:ln>
                <a:solidFill>
                  <a:sysClr val="windowText" lastClr="000000"/>
                </a:solidFill>
                <a:effectLst/>
                <a:uLnTx/>
                <a:uFillTx/>
                <a:latin typeface="Calibri"/>
                <a:ea typeface="+mn-ea"/>
                <a:cs typeface="+mn-cs"/>
              </a:rPr>
              <a:t>Many experts believe the underlying causes of many companies’ problems are not the structure or staff, but the culture.</a:t>
            </a:r>
          </a:p>
          <a:p>
            <a:pPr marL="342900" marR="0" lvl="0" indent="-342900" algn="l" defTabSz="457200" rtl="0" eaLnBrk="1" fontAlgn="auto" latinLnBrk="0" hangingPunct="1">
              <a:lnSpc>
                <a:spcPct val="100000"/>
              </a:lnSpc>
              <a:spcBef>
                <a:spcPct val="20000"/>
              </a:spcBef>
              <a:spcAft>
                <a:spcPts val="0"/>
              </a:spcAft>
              <a:buClrTx/>
              <a:buSzTx/>
              <a:buFont typeface="Arial"/>
              <a:buNone/>
              <a:tabLst/>
              <a:defRPr/>
            </a:pPr>
            <a:b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br>
            <a:endParaRPr kumimoji="0" lang="en-US" sz="32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7480142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412115"/>
            <a:r>
              <a:rPr lang="en-US" dirty="0"/>
              <a:t>Ten Characteristics of Organizational Culture</a:t>
            </a:r>
            <a:endParaRPr dirty="0"/>
          </a:p>
        </p:txBody>
      </p:sp>
      <p:sp>
        <p:nvSpPr>
          <p:cNvPr id="4" name="Content Placeholder 2">
            <a:extLst>
              <a:ext uri="{FF2B5EF4-FFF2-40B4-BE49-F238E27FC236}">
                <a16:creationId xmlns:a16="http://schemas.microsoft.com/office/drawing/2014/main" id="{635E10B3-ECFE-2A87-CDF1-B4BBD94259B7}"/>
              </a:ext>
            </a:extLst>
          </p:cNvPr>
          <p:cNvSpPr txBox="1">
            <a:spLocks/>
          </p:cNvSpPr>
          <p:nvPr/>
        </p:nvSpPr>
        <p:spPr>
          <a:xfrm>
            <a:off x="609600" y="1600201"/>
            <a:ext cx="10972800" cy="4525963"/>
          </a:xfrm>
          <a:prstGeom prst="rect">
            <a:avLst/>
          </a:prstGeom>
        </p:spPr>
        <p:txBody>
          <a:bodyPr wrap="square" lIns="0" tIns="0" rIns="0" bIns="0">
            <a:normAutofit/>
          </a:bodyPr>
          <a:lstStyle>
            <a:lvl1pPr marL="0">
              <a:defRPr sz="1200" b="1" i="0">
                <a:solidFill>
                  <a:schemeClr val="bg1"/>
                </a:solidFill>
                <a:latin typeface="Tw Cen MT"/>
                <a:ea typeface="+mn-ea"/>
                <a:cs typeface="Tw Cen MT"/>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Tw Cen MT"/>
                <a:ea typeface="+mn-ea"/>
              </a:rPr>
              <a:t>Project life cycle</a:t>
            </a:r>
            <a:br>
              <a:rPr kumimoji="0" lang="en-US" sz="1200" b="1" i="0" u="none" strike="noStrike" kern="0" cap="none" spc="0" normalizeH="0" baseline="0" noProof="0" dirty="0">
                <a:ln>
                  <a:noFill/>
                </a:ln>
                <a:solidFill>
                  <a:prstClr val="white"/>
                </a:solidFill>
                <a:effectLst/>
                <a:uLnTx/>
                <a:uFillTx/>
                <a:latin typeface="Tw Cen MT"/>
                <a:ea typeface="+mn-ea"/>
              </a:rPr>
            </a:br>
            <a:r>
              <a:rPr kumimoji="0" lang="en-US" sz="1200" b="1" i="0" u="none" strike="noStrike" kern="0" cap="none" spc="0" normalizeH="0" baseline="0" noProof="0" dirty="0">
                <a:ln>
                  <a:noFill/>
                </a:ln>
                <a:solidFill>
                  <a:prstClr val="white"/>
                </a:solidFill>
                <a:effectLst/>
                <a:uLnTx/>
                <a:uFillTx/>
                <a:latin typeface="Tw Cen MT"/>
                <a:ea typeface="+mn-ea"/>
              </a:rPr>
              <a:t>Divide projects into </a:t>
            </a:r>
            <a:r>
              <a:rPr kumimoji="0" lang="en-US" sz="1200" b="1" i="1" u="none" strike="noStrike" kern="0" cap="none" spc="0" normalizeH="0" baseline="0" noProof="0" dirty="0">
                <a:ln>
                  <a:noFill/>
                </a:ln>
                <a:solidFill>
                  <a:prstClr val="white"/>
                </a:solidFill>
                <a:effectLst/>
                <a:uLnTx/>
                <a:uFillTx/>
                <a:latin typeface="Tw Cen MT"/>
                <a:ea typeface="+mn-ea"/>
              </a:rPr>
              <a:t>phases</a:t>
            </a:r>
            <a:r>
              <a:rPr kumimoji="0" lang="en-US" sz="1200" b="1" i="0" u="none" strike="noStrike" kern="0" cap="none" spc="0" normalizeH="0" baseline="0" noProof="0" dirty="0">
                <a:ln>
                  <a:noFill/>
                </a:ln>
                <a:solidFill>
                  <a:prstClr val="white"/>
                </a:solidFill>
                <a:effectLst/>
                <a:uLnTx/>
                <a:uFillTx/>
                <a:latin typeface="Tw Cen MT"/>
                <a:ea typeface="+mn-ea"/>
              </a:rPr>
              <a:t> to provide better management control with appropriate link to ongoing operations.</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US" sz="1200" b="1" i="0" u="none" strike="noStrike" kern="0" cap="none" spc="0" normalizeH="0" baseline="0" noProof="0" dirty="0">
                <a:ln>
                  <a:noFill/>
                </a:ln>
                <a:solidFill>
                  <a:prstClr val="white"/>
                </a:solidFill>
                <a:effectLst/>
                <a:uLnTx/>
                <a:uFillTx/>
                <a:latin typeface="Tw Cen MT"/>
                <a:ea typeface="+mn-ea"/>
              </a:rPr>
            </a:br>
            <a:r>
              <a:rPr kumimoji="0" lang="en-US" sz="1200" b="1" i="1" u="none" strike="noStrike" kern="0" cap="none" spc="0" normalizeH="0" baseline="0" noProof="0" dirty="0">
                <a:ln>
                  <a:noFill/>
                </a:ln>
                <a:solidFill>
                  <a:prstClr val="white"/>
                </a:solidFill>
                <a:effectLst/>
                <a:uLnTx/>
                <a:uFillTx/>
                <a:latin typeface="Tw Cen MT"/>
                <a:ea typeface="+mn-ea"/>
              </a:rPr>
              <a:t>Project life cycle defines:</a:t>
            </a:r>
            <a:br>
              <a:rPr kumimoji="0" lang="en-US" sz="1200" b="1" i="0" u="none" strike="noStrike" kern="0" cap="none" spc="0" normalizeH="0" baseline="0" noProof="0" dirty="0">
                <a:ln>
                  <a:noFill/>
                </a:ln>
                <a:solidFill>
                  <a:prstClr val="white"/>
                </a:solidFill>
                <a:effectLst/>
                <a:uLnTx/>
                <a:uFillTx/>
                <a:latin typeface="Tw Cen MT"/>
                <a:ea typeface="+mn-ea"/>
              </a:rPr>
            </a:br>
            <a:r>
              <a:rPr kumimoji="0" lang="en-US" sz="1200" b="1" i="0" u="none" strike="noStrike" kern="0" cap="none" spc="0" normalizeH="0" baseline="0" noProof="0" dirty="0">
                <a:ln>
                  <a:noFill/>
                </a:ln>
                <a:solidFill>
                  <a:prstClr val="white"/>
                </a:solidFill>
                <a:effectLst/>
                <a:uLnTx/>
                <a:uFillTx/>
                <a:latin typeface="Tw Cen MT"/>
                <a:ea typeface="+mn-ea"/>
              </a:rPr>
              <a:t>- What technical work to do in each phase.</a:t>
            </a:r>
            <a:br>
              <a:rPr kumimoji="0" lang="en-US" sz="1200" b="1" i="0" u="none" strike="noStrike" kern="0" cap="none" spc="0" normalizeH="0" baseline="0" noProof="0" dirty="0">
                <a:ln>
                  <a:noFill/>
                </a:ln>
                <a:solidFill>
                  <a:prstClr val="white"/>
                </a:solidFill>
                <a:effectLst/>
                <a:uLnTx/>
                <a:uFillTx/>
                <a:latin typeface="Tw Cen MT"/>
                <a:ea typeface="+mn-ea"/>
              </a:rPr>
            </a:br>
            <a:r>
              <a:rPr kumimoji="0" lang="en-US" sz="1200" b="1" i="0" u="none" strike="noStrike" kern="0" cap="none" spc="0" normalizeH="0" baseline="0" noProof="0" dirty="0">
                <a:ln>
                  <a:noFill/>
                </a:ln>
                <a:solidFill>
                  <a:prstClr val="white"/>
                </a:solidFill>
                <a:effectLst/>
                <a:uLnTx/>
                <a:uFillTx/>
                <a:latin typeface="Tw Cen MT"/>
                <a:ea typeface="+mn-ea"/>
              </a:rPr>
              <a:t>- What deliverables are to be generated in each 	phase and how they are reviewed, verified and validated.</a:t>
            </a:r>
            <a:br>
              <a:rPr kumimoji="0" lang="en-US" sz="1200" b="1" i="0" u="none" strike="noStrike" kern="0" cap="none" spc="0" normalizeH="0" baseline="0" noProof="0" dirty="0">
                <a:ln>
                  <a:noFill/>
                </a:ln>
                <a:solidFill>
                  <a:prstClr val="white"/>
                </a:solidFill>
                <a:effectLst/>
                <a:uLnTx/>
                <a:uFillTx/>
                <a:latin typeface="Tw Cen MT"/>
                <a:ea typeface="+mn-ea"/>
              </a:rPr>
            </a:br>
            <a:r>
              <a:rPr kumimoji="0" lang="en-US" sz="1200" b="1" i="0" u="none" strike="noStrike" kern="0" cap="none" spc="0" normalizeH="0" baseline="0" noProof="0" dirty="0">
                <a:ln>
                  <a:noFill/>
                </a:ln>
                <a:solidFill>
                  <a:prstClr val="white"/>
                </a:solidFill>
                <a:effectLst/>
                <a:uLnTx/>
                <a:uFillTx/>
                <a:latin typeface="Tw Cen MT"/>
                <a:ea typeface="+mn-ea"/>
              </a:rPr>
              <a:t>- Who is involved in each phase.</a:t>
            </a:r>
            <a:br>
              <a:rPr kumimoji="0" lang="en-US" sz="1200" b="1" i="0" u="none" strike="noStrike" kern="0" cap="none" spc="0" normalizeH="0" baseline="0" noProof="0" dirty="0">
                <a:ln>
                  <a:noFill/>
                </a:ln>
                <a:solidFill>
                  <a:prstClr val="white"/>
                </a:solidFill>
                <a:effectLst/>
                <a:uLnTx/>
                <a:uFillTx/>
                <a:latin typeface="Tw Cen MT"/>
                <a:ea typeface="+mn-ea"/>
              </a:rPr>
            </a:br>
            <a:r>
              <a:rPr kumimoji="0" lang="en-US" sz="1200" b="1" i="0" u="none" strike="noStrike" kern="0" cap="none" spc="0" normalizeH="0" baseline="0" noProof="0" dirty="0">
                <a:ln>
                  <a:noFill/>
                </a:ln>
                <a:solidFill>
                  <a:prstClr val="white"/>
                </a:solidFill>
                <a:effectLst/>
                <a:uLnTx/>
                <a:uFillTx/>
                <a:latin typeface="Tw Cen MT"/>
                <a:ea typeface="+mn-ea"/>
              </a:rPr>
              <a:t>- How to control and approve each phase.</a:t>
            </a:r>
            <a:br>
              <a:rPr kumimoji="0" lang="en-US" sz="1200" b="1" i="0" u="none" strike="noStrike" kern="0" cap="none" spc="0" normalizeH="0" baseline="0" noProof="0" dirty="0">
                <a:ln>
                  <a:noFill/>
                </a:ln>
                <a:solidFill>
                  <a:prstClr val="white"/>
                </a:solidFill>
                <a:effectLst/>
                <a:uLnTx/>
                <a:uFillTx/>
                <a:latin typeface="Tw Cen MT"/>
                <a:ea typeface="+mn-ea"/>
              </a:rPr>
            </a:br>
            <a:endParaRPr kumimoji="0" lang="en-US" sz="1200" b="1" i="0" u="none" strike="noStrike" kern="0" cap="none" spc="0" normalizeH="0" baseline="0" noProof="0" dirty="0">
              <a:ln>
                <a:noFill/>
              </a:ln>
              <a:solidFill>
                <a:prstClr val="white"/>
              </a:solidFill>
              <a:effectLst/>
              <a:uLnTx/>
              <a:uFillTx/>
              <a:latin typeface="Tw Cen MT"/>
              <a:ea typeface="+mn-ea"/>
            </a:endParaRPr>
          </a:p>
        </p:txBody>
      </p:sp>
      <p:sp>
        <p:nvSpPr>
          <p:cNvPr id="8" name="Rectangle 5">
            <a:extLst>
              <a:ext uri="{FF2B5EF4-FFF2-40B4-BE49-F238E27FC236}">
                <a16:creationId xmlns:a16="http://schemas.microsoft.com/office/drawing/2014/main" id="{A5904B5C-F8A5-0914-13E7-B1C1A80CCCF2}"/>
              </a:ext>
            </a:extLst>
          </p:cNvPr>
          <p:cNvSpPr txBox="1">
            <a:spLocks noChangeArrowheads="1"/>
          </p:cNvSpPr>
          <p:nvPr/>
        </p:nvSpPr>
        <p:spPr>
          <a:xfrm>
            <a:off x="1325219" y="1706218"/>
            <a:ext cx="4075113" cy="2862470"/>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3200" b="0" i="0" u="none" strike="noStrike" kern="1200" cap="none" spc="0" normalizeH="0" baseline="0" noProof="0">
                <a:ln>
                  <a:noFill/>
                </a:ln>
                <a:solidFill>
                  <a:sysClr val="windowText" lastClr="000000"/>
                </a:solidFill>
                <a:effectLst/>
                <a:uLnTx/>
                <a:uFillTx/>
                <a:latin typeface="Calibri"/>
                <a:ea typeface="+mn-ea"/>
                <a:cs typeface="+mn-cs"/>
              </a:rPr>
              <a:t>Member identity*</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3200" b="0" i="0" u="none" strike="noStrike" kern="1200" cap="none" spc="0" normalizeH="0" baseline="0" noProof="0">
                <a:ln>
                  <a:noFill/>
                </a:ln>
                <a:solidFill>
                  <a:sysClr val="windowText" lastClr="000000"/>
                </a:solidFill>
                <a:effectLst/>
                <a:uLnTx/>
                <a:uFillTx/>
                <a:latin typeface="Calibri"/>
                <a:ea typeface="+mn-ea"/>
                <a:cs typeface="+mn-cs"/>
              </a:rPr>
              <a:t>Group emphasis*</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3200" b="0" i="0" u="none" strike="noStrike" kern="1200" cap="none" spc="0" normalizeH="0" baseline="0" noProof="0">
                <a:ln>
                  <a:noFill/>
                </a:ln>
                <a:solidFill>
                  <a:sysClr val="windowText" lastClr="000000"/>
                </a:solidFill>
                <a:effectLst/>
                <a:uLnTx/>
                <a:uFillTx/>
                <a:latin typeface="Calibri"/>
                <a:ea typeface="+mn-ea"/>
                <a:cs typeface="+mn-cs"/>
              </a:rPr>
              <a:t>People focus</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3200" b="0" i="0" u="none" strike="noStrike" kern="1200" cap="none" spc="0" normalizeH="0" baseline="0" noProof="0">
                <a:ln>
                  <a:noFill/>
                </a:ln>
                <a:solidFill>
                  <a:sysClr val="windowText" lastClr="000000"/>
                </a:solidFill>
                <a:effectLst/>
                <a:uLnTx/>
                <a:uFillTx/>
                <a:latin typeface="Calibri"/>
                <a:ea typeface="+mn-ea"/>
                <a:cs typeface="+mn-cs"/>
              </a:rPr>
              <a:t>Unit integration*</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3200" b="0" i="0" u="none" strike="noStrike" kern="1200" cap="none" spc="0" normalizeH="0" baseline="0" noProof="0">
                <a:ln>
                  <a:noFill/>
                </a:ln>
                <a:solidFill>
                  <a:sysClr val="windowText" lastClr="000000"/>
                </a:solidFill>
                <a:effectLst/>
                <a:uLnTx/>
                <a:uFillTx/>
                <a:latin typeface="Calibri"/>
                <a:ea typeface="+mn-ea"/>
                <a:cs typeface="+mn-cs"/>
              </a:rPr>
              <a:t>Control</a:t>
            </a:r>
            <a:endParaRPr kumimoji="0" lang="en-US" sz="32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9" name="Rectangle 6">
            <a:extLst>
              <a:ext uri="{FF2B5EF4-FFF2-40B4-BE49-F238E27FC236}">
                <a16:creationId xmlns:a16="http://schemas.microsoft.com/office/drawing/2014/main" id="{FAAADC51-721C-846B-5BFD-E7693856EDF7}"/>
              </a:ext>
            </a:extLst>
          </p:cNvPr>
          <p:cNvSpPr txBox="1">
            <a:spLocks noChangeArrowheads="1"/>
          </p:cNvSpPr>
          <p:nvPr/>
        </p:nvSpPr>
        <p:spPr>
          <a:xfrm>
            <a:off x="5744819" y="1698626"/>
            <a:ext cx="3942557" cy="2869815"/>
          </a:xfrm>
          <a:prstGeom prst="rect">
            <a:avLst/>
          </a:prstGeom>
        </p:spPr>
        <p:txBody>
          <a:bodyPr vert="horz" lIns="91440" tIns="45720" rIns="91440" bIns="45720" rtlCol="0">
            <a:normAutofit fontScale="925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3200" b="0" i="0" u="none" strike="noStrike" kern="1200" cap="none" spc="0" normalizeH="0" baseline="0" noProof="0">
                <a:ln>
                  <a:noFill/>
                </a:ln>
                <a:solidFill>
                  <a:sysClr val="windowText" lastClr="000000"/>
                </a:solidFill>
                <a:effectLst/>
                <a:uLnTx/>
                <a:uFillTx/>
                <a:latin typeface="Calibri"/>
                <a:ea typeface="+mn-ea"/>
                <a:cs typeface="+mn-cs"/>
              </a:rPr>
              <a:t>Risk tolerance*</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3200" b="0" i="0" u="none" strike="noStrike" kern="1200" cap="none" spc="0" normalizeH="0" baseline="0" noProof="0">
                <a:ln>
                  <a:noFill/>
                </a:ln>
                <a:solidFill>
                  <a:sysClr val="windowText" lastClr="000000"/>
                </a:solidFill>
                <a:effectLst/>
                <a:uLnTx/>
                <a:uFillTx/>
                <a:latin typeface="Calibri"/>
                <a:ea typeface="+mn-ea"/>
                <a:cs typeface="+mn-cs"/>
              </a:rPr>
              <a:t>Reward criteria*</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3200" b="0" i="0" u="none" strike="noStrike" kern="1200" cap="none" spc="0" normalizeH="0" baseline="0" noProof="0">
                <a:ln>
                  <a:noFill/>
                </a:ln>
                <a:solidFill>
                  <a:sysClr val="windowText" lastClr="000000"/>
                </a:solidFill>
                <a:effectLst/>
                <a:uLnTx/>
                <a:uFillTx/>
                <a:latin typeface="Calibri"/>
                <a:ea typeface="+mn-ea"/>
                <a:cs typeface="+mn-cs"/>
              </a:rPr>
              <a:t>Conflict tolerance*</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3200" b="0" i="0" u="none" strike="noStrike" kern="1200" cap="none" spc="0" normalizeH="0" baseline="0" noProof="0">
                <a:ln>
                  <a:noFill/>
                </a:ln>
                <a:solidFill>
                  <a:sysClr val="windowText" lastClr="000000"/>
                </a:solidFill>
                <a:effectLst/>
                <a:uLnTx/>
                <a:uFillTx/>
                <a:latin typeface="Calibri"/>
                <a:ea typeface="+mn-ea"/>
                <a:cs typeface="+mn-cs"/>
              </a:rPr>
              <a:t>Means-ends orientation</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3200" b="0" i="0" u="none" strike="noStrike" kern="1200" cap="none" spc="0" normalizeH="0" baseline="0" noProof="0">
                <a:ln>
                  <a:noFill/>
                </a:ln>
                <a:solidFill>
                  <a:sysClr val="windowText" lastClr="000000"/>
                </a:solidFill>
                <a:effectLst/>
                <a:uLnTx/>
                <a:uFillTx/>
                <a:latin typeface="Calibri"/>
                <a:ea typeface="+mn-ea"/>
                <a:cs typeface="+mn-cs"/>
              </a:rPr>
              <a:t>Open-systems focus*</a:t>
            </a:r>
            <a:endParaRPr kumimoji="0" lang="en-US" sz="32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10" name="Content Placeholder 1">
            <a:extLst>
              <a:ext uri="{FF2B5EF4-FFF2-40B4-BE49-F238E27FC236}">
                <a16:creationId xmlns:a16="http://schemas.microsoft.com/office/drawing/2014/main" id="{69A3DE72-8148-AE1A-8627-465AC2898168}"/>
              </a:ext>
            </a:extLst>
          </p:cNvPr>
          <p:cNvSpPr txBox="1">
            <a:spLocks/>
          </p:cNvSpPr>
          <p:nvPr/>
        </p:nvSpPr>
        <p:spPr>
          <a:xfrm>
            <a:off x="1321590" y="4847387"/>
            <a:ext cx="9013825" cy="1491819"/>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09537"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3200" b="0" i="0" u="none" strike="noStrike" kern="1200" cap="none" spc="0" normalizeH="0" baseline="0" noProof="0">
                <a:ln>
                  <a:noFill/>
                </a:ln>
                <a:solidFill>
                  <a:sysClr val="windowText" lastClr="000000"/>
                </a:solidFill>
                <a:effectLst/>
                <a:uLnTx/>
                <a:uFillTx/>
                <a:latin typeface="Calibri"/>
                <a:ea typeface="+mn-ea"/>
                <a:cs typeface="+mn-cs"/>
              </a:rPr>
              <a:t>*Project work is most successful in an organizational culture where these items are strong/high and other items are balanced. </a:t>
            </a:r>
            <a:endParaRPr kumimoji="0" lang="en-US" sz="32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29807898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BD875209-F16F-3854-9691-2959E4FEE2D9}"/>
              </a:ext>
            </a:extLst>
          </p:cNvPr>
          <p:cNvSpPr>
            <a:spLocks noGrp="1" noChangeArrowheads="1"/>
          </p:cNvSpPr>
          <p:nvPr>
            <p:ph type="title"/>
          </p:nvPr>
        </p:nvSpPr>
        <p:spPr>
          <a:xfrm>
            <a:off x="795131" y="231913"/>
            <a:ext cx="12518827" cy="663038"/>
          </a:xfrm>
        </p:spPr>
        <p:txBody>
          <a:bodyPr/>
          <a:lstStyle/>
          <a:p>
            <a:pPr>
              <a:defRPr/>
            </a:pPr>
            <a:r>
              <a:rPr lang="en-GB" sz="3400" b="1" dirty="0">
                <a:solidFill>
                  <a:schemeClr val="tx1"/>
                </a:solidFill>
              </a:rPr>
              <a:t>The Triple Constraint of Project</a:t>
            </a:r>
            <a:br>
              <a:rPr lang="en-GB" sz="3400" b="1" dirty="0">
                <a:solidFill>
                  <a:schemeClr val="tx1"/>
                </a:solidFill>
              </a:rPr>
            </a:br>
            <a:r>
              <a:rPr lang="en-GB" sz="3400" b="1" dirty="0">
                <a:solidFill>
                  <a:schemeClr val="tx1"/>
                </a:solidFill>
              </a:rPr>
              <a:t>Management</a:t>
            </a:r>
            <a:br>
              <a:rPr lang="en-GB" sz="3800" dirty="0">
                <a:solidFill>
                  <a:schemeClr val="tx1"/>
                </a:solidFill>
              </a:rPr>
            </a:br>
            <a:endParaRPr lang="en-GB" sz="3800" dirty="0">
              <a:solidFill>
                <a:schemeClr val="tx1"/>
              </a:solidFill>
            </a:endParaRPr>
          </a:p>
        </p:txBody>
      </p:sp>
      <p:pic>
        <p:nvPicPr>
          <p:cNvPr id="6" name="Picture 5">
            <a:extLst>
              <a:ext uri="{FF2B5EF4-FFF2-40B4-BE49-F238E27FC236}">
                <a16:creationId xmlns:a16="http://schemas.microsoft.com/office/drawing/2014/main" id="{C09D55A2-6011-758B-1FDB-F014B930AEA5}"/>
              </a:ext>
            </a:extLst>
          </p:cNvPr>
          <p:cNvPicPr>
            <a:picLocks noChangeAspect="1"/>
          </p:cNvPicPr>
          <p:nvPr/>
        </p:nvPicPr>
        <p:blipFill>
          <a:blip r:embed="rId2"/>
          <a:stretch>
            <a:fillRect/>
          </a:stretch>
        </p:blipFill>
        <p:spPr>
          <a:xfrm>
            <a:off x="2782957" y="2266122"/>
            <a:ext cx="7209182" cy="368410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412115"/>
            <a:r>
              <a:rPr lang="en-US" dirty="0"/>
              <a:t>Project Phases</a:t>
            </a:r>
            <a:endParaRPr dirty="0"/>
          </a:p>
        </p:txBody>
      </p:sp>
      <p:sp>
        <p:nvSpPr>
          <p:cNvPr id="4" name="Content Placeholder 2">
            <a:extLst>
              <a:ext uri="{FF2B5EF4-FFF2-40B4-BE49-F238E27FC236}">
                <a16:creationId xmlns:a16="http://schemas.microsoft.com/office/drawing/2014/main" id="{635E10B3-ECFE-2A87-CDF1-B4BBD94259B7}"/>
              </a:ext>
            </a:extLst>
          </p:cNvPr>
          <p:cNvSpPr txBox="1">
            <a:spLocks/>
          </p:cNvSpPr>
          <p:nvPr/>
        </p:nvSpPr>
        <p:spPr>
          <a:xfrm>
            <a:off x="609600" y="1600201"/>
            <a:ext cx="10972800" cy="4525963"/>
          </a:xfrm>
          <a:prstGeom prst="rect">
            <a:avLst/>
          </a:prstGeom>
        </p:spPr>
        <p:txBody>
          <a:bodyPr wrap="square" lIns="0" tIns="0" rIns="0" bIns="0">
            <a:normAutofit/>
          </a:bodyPr>
          <a:lstStyle>
            <a:lvl1pPr marL="0">
              <a:defRPr sz="1200" b="1" i="0">
                <a:solidFill>
                  <a:schemeClr val="bg1"/>
                </a:solidFill>
                <a:latin typeface="Tw Cen MT"/>
                <a:ea typeface="+mn-ea"/>
                <a:cs typeface="Tw Cen MT"/>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Tw Cen MT"/>
                <a:ea typeface="+mn-ea"/>
              </a:rPr>
              <a:t>Project life cycle</a:t>
            </a:r>
            <a:br>
              <a:rPr kumimoji="0" lang="en-US" sz="1200" b="1" i="0" u="none" strike="noStrike" kern="0" cap="none" spc="0" normalizeH="0" baseline="0" noProof="0" dirty="0">
                <a:ln>
                  <a:noFill/>
                </a:ln>
                <a:solidFill>
                  <a:prstClr val="white"/>
                </a:solidFill>
                <a:effectLst/>
                <a:uLnTx/>
                <a:uFillTx/>
                <a:latin typeface="Tw Cen MT"/>
                <a:ea typeface="+mn-ea"/>
              </a:rPr>
            </a:br>
            <a:r>
              <a:rPr kumimoji="0" lang="en-US" sz="1200" b="1" i="0" u="none" strike="noStrike" kern="0" cap="none" spc="0" normalizeH="0" baseline="0" noProof="0" dirty="0">
                <a:ln>
                  <a:noFill/>
                </a:ln>
                <a:solidFill>
                  <a:prstClr val="white"/>
                </a:solidFill>
                <a:effectLst/>
                <a:uLnTx/>
                <a:uFillTx/>
                <a:latin typeface="Tw Cen MT"/>
                <a:ea typeface="+mn-ea"/>
              </a:rPr>
              <a:t>Divide projects into </a:t>
            </a:r>
            <a:r>
              <a:rPr kumimoji="0" lang="en-US" sz="1200" b="1" i="1" u="none" strike="noStrike" kern="0" cap="none" spc="0" normalizeH="0" baseline="0" noProof="0" dirty="0">
                <a:ln>
                  <a:noFill/>
                </a:ln>
                <a:solidFill>
                  <a:prstClr val="white"/>
                </a:solidFill>
                <a:effectLst/>
                <a:uLnTx/>
                <a:uFillTx/>
                <a:latin typeface="Tw Cen MT"/>
                <a:ea typeface="+mn-ea"/>
              </a:rPr>
              <a:t>phases</a:t>
            </a:r>
            <a:r>
              <a:rPr kumimoji="0" lang="en-US" sz="1200" b="1" i="0" u="none" strike="noStrike" kern="0" cap="none" spc="0" normalizeH="0" baseline="0" noProof="0" dirty="0">
                <a:ln>
                  <a:noFill/>
                </a:ln>
                <a:solidFill>
                  <a:prstClr val="white"/>
                </a:solidFill>
                <a:effectLst/>
                <a:uLnTx/>
                <a:uFillTx/>
                <a:latin typeface="Tw Cen MT"/>
                <a:ea typeface="+mn-ea"/>
              </a:rPr>
              <a:t> to provide better management control with appropriate link to ongoing operations.</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US" sz="1200" b="1" i="0" u="none" strike="noStrike" kern="0" cap="none" spc="0" normalizeH="0" baseline="0" noProof="0" dirty="0">
                <a:ln>
                  <a:noFill/>
                </a:ln>
                <a:solidFill>
                  <a:prstClr val="white"/>
                </a:solidFill>
                <a:effectLst/>
                <a:uLnTx/>
                <a:uFillTx/>
                <a:latin typeface="Tw Cen MT"/>
                <a:ea typeface="+mn-ea"/>
              </a:rPr>
            </a:br>
            <a:r>
              <a:rPr kumimoji="0" lang="en-US" sz="1200" b="1" i="1" u="none" strike="noStrike" kern="0" cap="none" spc="0" normalizeH="0" baseline="0" noProof="0" dirty="0">
                <a:ln>
                  <a:noFill/>
                </a:ln>
                <a:solidFill>
                  <a:prstClr val="white"/>
                </a:solidFill>
                <a:effectLst/>
                <a:uLnTx/>
                <a:uFillTx/>
                <a:latin typeface="Tw Cen MT"/>
                <a:ea typeface="+mn-ea"/>
              </a:rPr>
              <a:t>Project life cycle defines:</a:t>
            </a:r>
            <a:br>
              <a:rPr kumimoji="0" lang="en-US" sz="1200" b="1" i="0" u="none" strike="noStrike" kern="0" cap="none" spc="0" normalizeH="0" baseline="0" noProof="0" dirty="0">
                <a:ln>
                  <a:noFill/>
                </a:ln>
                <a:solidFill>
                  <a:prstClr val="white"/>
                </a:solidFill>
                <a:effectLst/>
                <a:uLnTx/>
                <a:uFillTx/>
                <a:latin typeface="Tw Cen MT"/>
                <a:ea typeface="+mn-ea"/>
              </a:rPr>
            </a:br>
            <a:r>
              <a:rPr kumimoji="0" lang="en-US" sz="1200" b="1" i="0" u="none" strike="noStrike" kern="0" cap="none" spc="0" normalizeH="0" baseline="0" noProof="0" dirty="0">
                <a:ln>
                  <a:noFill/>
                </a:ln>
                <a:solidFill>
                  <a:prstClr val="white"/>
                </a:solidFill>
                <a:effectLst/>
                <a:uLnTx/>
                <a:uFillTx/>
                <a:latin typeface="Tw Cen MT"/>
                <a:ea typeface="+mn-ea"/>
              </a:rPr>
              <a:t>- What technical work to do in each phase.</a:t>
            </a:r>
            <a:br>
              <a:rPr kumimoji="0" lang="en-US" sz="1200" b="1" i="0" u="none" strike="noStrike" kern="0" cap="none" spc="0" normalizeH="0" baseline="0" noProof="0" dirty="0">
                <a:ln>
                  <a:noFill/>
                </a:ln>
                <a:solidFill>
                  <a:prstClr val="white"/>
                </a:solidFill>
                <a:effectLst/>
                <a:uLnTx/>
                <a:uFillTx/>
                <a:latin typeface="Tw Cen MT"/>
                <a:ea typeface="+mn-ea"/>
              </a:rPr>
            </a:br>
            <a:r>
              <a:rPr kumimoji="0" lang="en-US" sz="1200" b="1" i="0" u="none" strike="noStrike" kern="0" cap="none" spc="0" normalizeH="0" baseline="0" noProof="0" dirty="0">
                <a:ln>
                  <a:noFill/>
                </a:ln>
                <a:solidFill>
                  <a:prstClr val="white"/>
                </a:solidFill>
                <a:effectLst/>
                <a:uLnTx/>
                <a:uFillTx/>
                <a:latin typeface="Tw Cen MT"/>
                <a:ea typeface="+mn-ea"/>
              </a:rPr>
              <a:t>- What deliverables are to be generated in each 	phase and how they are reviewed, verified and validated.</a:t>
            </a:r>
            <a:br>
              <a:rPr kumimoji="0" lang="en-US" sz="1200" b="1" i="0" u="none" strike="noStrike" kern="0" cap="none" spc="0" normalizeH="0" baseline="0" noProof="0" dirty="0">
                <a:ln>
                  <a:noFill/>
                </a:ln>
                <a:solidFill>
                  <a:prstClr val="white"/>
                </a:solidFill>
                <a:effectLst/>
                <a:uLnTx/>
                <a:uFillTx/>
                <a:latin typeface="Tw Cen MT"/>
                <a:ea typeface="+mn-ea"/>
              </a:rPr>
            </a:br>
            <a:r>
              <a:rPr kumimoji="0" lang="en-US" sz="1200" b="1" i="0" u="none" strike="noStrike" kern="0" cap="none" spc="0" normalizeH="0" baseline="0" noProof="0" dirty="0">
                <a:ln>
                  <a:noFill/>
                </a:ln>
                <a:solidFill>
                  <a:prstClr val="white"/>
                </a:solidFill>
                <a:effectLst/>
                <a:uLnTx/>
                <a:uFillTx/>
                <a:latin typeface="Tw Cen MT"/>
                <a:ea typeface="+mn-ea"/>
              </a:rPr>
              <a:t>- Who is involved in each phase.</a:t>
            </a:r>
            <a:br>
              <a:rPr kumimoji="0" lang="en-US" sz="1200" b="1" i="0" u="none" strike="noStrike" kern="0" cap="none" spc="0" normalizeH="0" baseline="0" noProof="0" dirty="0">
                <a:ln>
                  <a:noFill/>
                </a:ln>
                <a:solidFill>
                  <a:prstClr val="white"/>
                </a:solidFill>
                <a:effectLst/>
                <a:uLnTx/>
                <a:uFillTx/>
                <a:latin typeface="Tw Cen MT"/>
                <a:ea typeface="+mn-ea"/>
              </a:rPr>
            </a:br>
            <a:r>
              <a:rPr kumimoji="0" lang="en-US" sz="1200" b="1" i="0" u="none" strike="noStrike" kern="0" cap="none" spc="0" normalizeH="0" baseline="0" noProof="0" dirty="0">
                <a:ln>
                  <a:noFill/>
                </a:ln>
                <a:solidFill>
                  <a:prstClr val="white"/>
                </a:solidFill>
                <a:effectLst/>
                <a:uLnTx/>
                <a:uFillTx/>
                <a:latin typeface="Tw Cen MT"/>
                <a:ea typeface="+mn-ea"/>
              </a:rPr>
              <a:t>- How to control and approve each phase.</a:t>
            </a:r>
            <a:br>
              <a:rPr kumimoji="0" lang="en-US" sz="1200" b="1" i="0" u="none" strike="noStrike" kern="0" cap="none" spc="0" normalizeH="0" baseline="0" noProof="0" dirty="0">
                <a:ln>
                  <a:noFill/>
                </a:ln>
                <a:solidFill>
                  <a:prstClr val="white"/>
                </a:solidFill>
                <a:effectLst/>
                <a:uLnTx/>
                <a:uFillTx/>
                <a:latin typeface="Tw Cen MT"/>
                <a:ea typeface="+mn-ea"/>
              </a:rPr>
            </a:br>
            <a:endParaRPr kumimoji="0" lang="en-US" sz="1200" b="1" i="0" u="none" strike="noStrike" kern="0" cap="none" spc="0" normalizeH="0" baseline="0" noProof="0" dirty="0">
              <a:ln>
                <a:noFill/>
              </a:ln>
              <a:solidFill>
                <a:prstClr val="white"/>
              </a:solidFill>
              <a:effectLst/>
              <a:uLnTx/>
              <a:uFillTx/>
              <a:latin typeface="Tw Cen MT"/>
              <a:ea typeface="+mn-ea"/>
            </a:endParaRPr>
          </a:p>
        </p:txBody>
      </p:sp>
      <p:sp>
        <p:nvSpPr>
          <p:cNvPr id="5" name="Content Placeholder 2">
            <a:extLst>
              <a:ext uri="{FF2B5EF4-FFF2-40B4-BE49-F238E27FC236}">
                <a16:creationId xmlns:a16="http://schemas.microsoft.com/office/drawing/2014/main" id="{DF64CCA6-54DE-7F36-3599-898E2D755B2C}"/>
              </a:ext>
            </a:extLst>
          </p:cNvPr>
          <p:cNvSpPr txBox="1">
            <a:spLocks/>
          </p:cNvSpPr>
          <p:nvPr/>
        </p:nvSpPr>
        <p:spPr>
          <a:xfrm>
            <a:off x="762000" y="1752601"/>
            <a:ext cx="109728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kumimoji="0" lang="en-US" sz="3200" i="0" u="none" strike="noStrike" kern="1200" cap="none" spc="0" normalizeH="0" baseline="0" noProof="0" dirty="0">
                <a:ln>
                  <a:noFill/>
                </a:ln>
                <a:solidFill>
                  <a:sysClr val="windowText" lastClr="000000"/>
                </a:solidFill>
                <a:effectLst/>
                <a:uLnTx/>
                <a:uFillTx/>
                <a:latin typeface="Calibri"/>
                <a:ea typeface="+mn-ea"/>
                <a:cs typeface="+mn-cs"/>
              </a:rPr>
              <a:t>Initiating phase</a:t>
            </a:r>
          </a:p>
          <a:p>
            <a:r>
              <a:rPr kumimoji="0" lang="en-US" sz="3200" i="0" u="none" strike="noStrike" kern="1200" cap="none" spc="0" normalizeH="0" baseline="0" noProof="0" dirty="0">
                <a:ln>
                  <a:noFill/>
                </a:ln>
                <a:solidFill>
                  <a:sysClr val="windowText" lastClr="000000"/>
                </a:solidFill>
                <a:effectLst/>
                <a:uLnTx/>
                <a:uFillTx/>
                <a:latin typeface="Calibri"/>
                <a:ea typeface="+mn-ea"/>
                <a:cs typeface="+mn-cs"/>
              </a:rPr>
              <a:t>Planning phase</a:t>
            </a:r>
          </a:p>
          <a:p>
            <a:r>
              <a:rPr kumimoji="0" lang="en-US" sz="3200" i="0" u="none" strike="noStrike" kern="1200" cap="none" spc="0" normalizeH="0" baseline="0" noProof="0" dirty="0">
                <a:ln>
                  <a:noFill/>
                </a:ln>
                <a:solidFill>
                  <a:sysClr val="windowText" lastClr="000000"/>
                </a:solidFill>
                <a:effectLst/>
                <a:uLnTx/>
                <a:uFillTx/>
                <a:latin typeface="Calibri"/>
                <a:ea typeface="+mn-ea"/>
                <a:cs typeface="+mn-cs"/>
              </a:rPr>
              <a:t>Executing phase</a:t>
            </a:r>
          </a:p>
          <a:p>
            <a:r>
              <a:rPr kumimoji="0" lang="en-US" sz="3200" i="0" u="none" strike="noStrike" kern="1200" cap="none" spc="0" normalizeH="0" baseline="0" noProof="0" dirty="0">
                <a:ln>
                  <a:noFill/>
                </a:ln>
                <a:solidFill>
                  <a:sysClr val="windowText" lastClr="000000"/>
                </a:solidFill>
                <a:effectLst/>
                <a:uLnTx/>
                <a:uFillTx/>
                <a:latin typeface="Calibri"/>
                <a:ea typeface="+mn-ea"/>
                <a:cs typeface="+mn-cs"/>
              </a:rPr>
              <a:t>Controlling phase</a:t>
            </a:r>
          </a:p>
          <a:p>
            <a:r>
              <a:rPr kumimoji="0" lang="en-US" sz="3200" i="0" u="none" strike="noStrike" kern="1200" cap="none" spc="0" normalizeH="0" baseline="0" noProof="0" dirty="0">
                <a:ln>
                  <a:noFill/>
                </a:ln>
                <a:solidFill>
                  <a:sysClr val="windowText" lastClr="000000"/>
                </a:solidFill>
                <a:effectLst/>
                <a:uLnTx/>
                <a:uFillTx/>
                <a:latin typeface="Calibri"/>
                <a:ea typeface="+mn-ea"/>
                <a:cs typeface="+mn-cs"/>
              </a:rPr>
              <a:t>Closing phase</a:t>
            </a:r>
          </a:p>
          <a:p>
            <a:pPr marL="342900" marR="0" lvl="0" indent="-342900" algn="l" defTabSz="457200" rtl="0" eaLnBrk="1" fontAlgn="auto" latinLnBrk="0" hangingPunct="1">
              <a:lnSpc>
                <a:spcPct val="100000"/>
              </a:lnSpc>
              <a:spcBef>
                <a:spcPct val="20000"/>
              </a:spcBef>
              <a:spcAft>
                <a:spcPts val="0"/>
              </a:spcAft>
              <a:buClrTx/>
              <a:buSzTx/>
              <a:buFont typeface="Arial"/>
              <a:buNone/>
              <a:tabLst/>
              <a:defRPr/>
            </a:pPr>
            <a:br>
              <a:rPr kumimoji="0" lang="en-US" sz="3200" b="0" i="0" u="none" strike="noStrike" kern="1200" cap="none" spc="0" normalizeH="0" baseline="0" noProof="0" dirty="0">
                <a:ln>
                  <a:noFill/>
                </a:ln>
                <a:solidFill>
                  <a:sysClr val="windowText" lastClr="000000"/>
                </a:solidFill>
                <a:effectLst/>
                <a:uLnTx/>
                <a:uFillTx/>
                <a:latin typeface="Calibri"/>
                <a:ea typeface="+mn-ea"/>
                <a:cs typeface="+mn-cs"/>
              </a:rPr>
            </a:br>
            <a:endParaRPr kumimoji="0" lang="en-US" sz="32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2675228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C0CA3F48-82F1-6DC6-0A54-7EFD35FD0A79}"/>
              </a:ext>
            </a:extLst>
          </p:cNvPr>
          <p:cNvSpPr>
            <a:spLocks noGrp="1" noChangeArrowheads="1"/>
          </p:cNvSpPr>
          <p:nvPr>
            <p:ph type="title"/>
          </p:nvPr>
        </p:nvSpPr>
        <p:spPr>
          <a:xfrm>
            <a:off x="1981200" y="325439"/>
            <a:ext cx="8229600" cy="677108"/>
          </a:xfrm>
        </p:spPr>
        <p:txBody>
          <a:bodyPr/>
          <a:lstStyle/>
          <a:p>
            <a:pPr>
              <a:defRPr/>
            </a:pPr>
            <a:r>
              <a:rPr lang="en-GB"/>
              <a:t>Links among processes (phases) </a:t>
            </a:r>
          </a:p>
        </p:txBody>
      </p:sp>
      <p:pic>
        <p:nvPicPr>
          <p:cNvPr id="6" name="Picture 5">
            <a:extLst>
              <a:ext uri="{FF2B5EF4-FFF2-40B4-BE49-F238E27FC236}">
                <a16:creationId xmlns:a16="http://schemas.microsoft.com/office/drawing/2014/main" id="{80EF8E2B-EDD0-8032-BA6D-9D8347C5FB0F}"/>
              </a:ext>
            </a:extLst>
          </p:cNvPr>
          <p:cNvPicPr>
            <a:picLocks noChangeAspect="1"/>
          </p:cNvPicPr>
          <p:nvPr/>
        </p:nvPicPr>
        <p:blipFill>
          <a:blip r:embed="rId2"/>
          <a:stretch>
            <a:fillRect/>
          </a:stretch>
        </p:blipFill>
        <p:spPr>
          <a:xfrm>
            <a:off x="2756452" y="2319337"/>
            <a:ext cx="6904383" cy="352487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4A3E36E-02EB-9A77-79D7-58A4ADD63337}"/>
              </a:ext>
            </a:extLst>
          </p:cNvPr>
          <p:cNvPicPr>
            <a:picLocks noChangeAspect="1"/>
          </p:cNvPicPr>
          <p:nvPr/>
        </p:nvPicPr>
        <p:blipFill>
          <a:blip r:embed="rId2"/>
          <a:stretch>
            <a:fillRect/>
          </a:stretch>
        </p:blipFill>
        <p:spPr>
          <a:xfrm>
            <a:off x="2186610" y="2352675"/>
            <a:ext cx="7421216" cy="2789168"/>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TM04033927[[fn=Main Event]]</Template>
  <TotalTime>469</TotalTime>
  <Words>753</Words>
  <Application>Microsoft Office PowerPoint</Application>
  <PresentationFormat>Widescreen</PresentationFormat>
  <Paragraphs>68</Paragraphs>
  <Slides>14</Slides>
  <Notes>0</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14</vt:i4>
      </vt:variant>
    </vt:vector>
  </HeadingPairs>
  <TitlesOfParts>
    <vt:vector size="23" baseType="lpstr">
      <vt:lpstr>Arial</vt:lpstr>
      <vt:lpstr>Calibri</vt:lpstr>
      <vt:lpstr>Corbel</vt:lpstr>
      <vt:lpstr>Times New Roman</vt:lpstr>
      <vt:lpstr>Tw Cen MT</vt:lpstr>
      <vt:lpstr>Wingdings</vt:lpstr>
      <vt:lpstr>Parallax</vt:lpstr>
      <vt:lpstr>Office Theme</vt:lpstr>
      <vt:lpstr>1_Office Theme</vt:lpstr>
      <vt:lpstr>Project Life Cycle and Organization Lecture 2</vt:lpstr>
      <vt:lpstr>Covered So Far</vt:lpstr>
      <vt:lpstr>Project Life Cycle and Organization </vt:lpstr>
      <vt:lpstr>The Project Life Cycle Structure </vt:lpstr>
      <vt:lpstr>Characteristics of The Project Life Cycle </vt:lpstr>
      <vt:lpstr>Project Phases</vt:lpstr>
      <vt:lpstr>More on Project Phases</vt:lpstr>
      <vt:lpstr>Project life cycle and product life cycle</vt:lpstr>
      <vt:lpstr>Organizational Culture</vt:lpstr>
      <vt:lpstr>Ten Characteristics of Organizational Culture</vt:lpstr>
      <vt:lpstr>The Triple Constraint of Project Management </vt:lpstr>
      <vt:lpstr>Project Phases</vt:lpstr>
      <vt:lpstr>Links among processes (phases)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Quality Engineering</dc:title>
  <dc:creator>Yasir</dc:creator>
  <cp:lastModifiedBy>Office</cp:lastModifiedBy>
  <cp:revision>150</cp:revision>
  <dcterms:created xsi:type="dcterms:W3CDTF">2020-01-31T11:17:02Z</dcterms:created>
  <dcterms:modified xsi:type="dcterms:W3CDTF">2023-03-07T04:23:53Z</dcterms:modified>
</cp:coreProperties>
</file>