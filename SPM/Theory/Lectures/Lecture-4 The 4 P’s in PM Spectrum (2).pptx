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8" r:id="rId2"/>
  </p:sldMasterIdLst>
  <p:notesMasterIdLst>
    <p:notesMasterId r:id="rId21"/>
  </p:notesMasterIdLst>
  <p:sldIdLst>
    <p:sldId id="256" r:id="rId3"/>
    <p:sldId id="261" r:id="rId4"/>
    <p:sldId id="287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301" r:id="rId19"/>
    <p:sldId id="303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BCF48E-191A-4E97-AB7E-70F10538655B}" type="datetimeFigureOut">
              <a:rPr lang="en-US" smtClean="0"/>
              <a:t>2/21/2023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6695C5-2509-4C26-BD86-73E00A70D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049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EA6F-A451-4A26-96B2-9AE2BE5E0FA7}" type="datetimeFigureOut">
              <a:rPr lang="en-PK" smtClean="0"/>
              <a:t>02/21/2023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6CD44-7799-4C17-9166-73EBBFFD28F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35756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EA6F-A451-4A26-96B2-9AE2BE5E0FA7}" type="datetimeFigureOut">
              <a:rPr lang="en-PK" smtClean="0"/>
              <a:t>02/21/2023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21B6CD44-7799-4C17-9166-73EBBFFD28F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09006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EA6F-A451-4A26-96B2-9AE2BE5E0FA7}" type="datetimeFigureOut">
              <a:rPr lang="en-PK" smtClean="0"/>
              <a:t>02/21/2023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6CD44-7799-4C17-9166-73EBBFFD28F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87682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EA6F-A451-4A26-96B2-9AE2BE5E0FA7}" type="datetimeFigureOut">
              <a:rPr lang="en-PK" smtClean="0"/>
              <a:t>02/21/2023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6CD44-7799-4C17-9166-73EBBFFD28F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33601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EA6F-A451-4A26-96B2-9AE2BE5E0FA7}" type="datetimeFigureOut">
              <a:rPr lang="en-PK" smtClean="0"/>
              <a:t>02/21/2023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6CD44-7799-4C17-9166-73EBBFFD28F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50942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EA6F-A451-4A26-96B2-9AE2BE5E0FA7}" type="datetimeFigureOut">
              <a:rPr lang="en-PK" smtClean="0"/>
              <a:t>02/21/2023</a:t>
            </a:fld>
            <a:endParaRPr lang="en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6CD44-7799-4C17-9166-73EBBFFD28F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28960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EA6F-A451-4A26-96B2-9AE2BE5E0FA7}" type="datetimeFigureOut">
              <a:rPr lang="en-PK" smtClean="0"/>
              <a:t>02/21/2023</a:t>
            </a:fld>
            <a:endParaRPr lang="en-P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6CD44-7799-4C17-9166-73EBBFFD28F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68121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EA6F-A451-4A26-96B2-9AE2BE5E0FA7}" type="datetimeFigureOut">
              <a:rPr lang="en-PK" smtClean="0"/>
              <a:t>02/21/2023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6CD44-7799-4C17-9166-73EBBFFD28F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82368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EA6F-A451-4A26-96B2-9AE2BE5E0FA7}" type="datetimeFigureOut">
              <a:rPr lang="en-PK" smtClean="0"/>
              <a:t>02/21/2023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6CD44-7799-4C17-9166-73EBBFFD28F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7757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EA6F-A451-4A26-96B2-9AE2BE5E0FA7}" type="datetimeFigureOut">
              <a:rPr lang="en-PK" smtClean="0"/>
              <a:t>02/21/2023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6CD44-7799-4C17-9166-73EBBFFD28F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30666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EA6F-A451-4A26-96B2-9AE2BE5E0FA7}" type="datetimeFigureOut">
              <a:rPr lang="en-PK" smtClean="0"/>
              <a:t>02/21/2023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6CD44-7799-4C17-9166-73EBBFFD28F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099464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EA6F-A451-4A26-96B2-9AE2BE5E0FA7}" type="datetimeFigureOut">
              <a:rPr lang="en-PK" smtClean="0"/>
              <a:t>02/21/2023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6CD44-7799-4C17-9166-73EBBFFD28F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653841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EA6F-A451-4A26-96B2-9AE2BE5E0FA7}" type="datetimeFigureOut">
              <a:rPr lang="en-PK" smtClean="0"/>
              <a:t>02/21/2023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6CD44-7799-4C17-9166-73EBBFFD28F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273322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EA6F-A451-4A26-96B2-9AE2BE5E0FA7}" type="datetimeFigureOut">
              <a:rPr lang="en-PK" smtClean="0"/>
              <a:t>02/21/2023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6CD44-7799-4C17-9166-73EBBFFD28F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259786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EA6F-A451-4A26-96B2-9AE2BE5E0FA7}" type="datetimeFigureOut">
              <a:rPr lang="en-PK" smtClean="0"/>
              <a:t>02/21/2023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6CD44-7799-4C17-9166-73EBBFFD28F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990928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EA6F-A451-4A26-96B2-9AE2BE5E0FA7}" type="datetimeFigureOut">
              <a:rPr lang="en-PK" smtClean="0"/>
              <a:t>02/21/2023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6CD44-7799-4C17-9166-73EBBFFD28F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080960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EA6F-A451-4A26-96B2-9AE2BE5E0FA7}" type="datetimeFigureOut">
              <a:rPr lang="en-PK" smtClean="0"/>
              <a:t>02/21/2023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6CD44-7799-4C17-9166-73EBBFFD28F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385479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1F2022"/>
                </a:solidFill>
                <a:latin typeface="Tw Cen MT"/>
                <a:cs typeface="Tw Cen MT"/>
              </a:defRPr>
            </a:lvl1pPr>
          </a:lstStyle>
          <a:p>
            <a:pPr marL="12700">
              <a:lnSpc>
                <a:spcPts val="1675"/>
              </a:lnSpc>
            </a:pPr>
            <a:endParaRPr lang="en-US"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CCBC6-BBD0-4269-8E15-E397A128398C}" type="datetime1">
              <a:rPr lang="LID4096" smtClean="0"/>
              <a:t>02/21/2023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17944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1F2022"/>
                </a:solidFill>
                <a:latin typeface="Tw Cen MT"/>
                <a:cs typeface="Tw Cen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Tw Cen MT"/>
                <a:cs typeface="Tw Cen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1F2022"/>
                </a:solidFill>
                <a:latin typeface="Tw Cen MT"/>
                <a:cs typeface="Tw Cen MT"/>
              </a:defRPr>
            </a:lvl1pPr>
          </a:lstStyle>
          <a:p>
            <a:pPr marL="12700">
              <a:lnSpc>
                <a:spcPts val="1675"/>
              </a:lnSpc>
            </a:pPr>
            <a:endParaRPr lang="en-US"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38B18A-0D71-4EB1-B2A0-EEBDD3591E14}" type="datetime1">
              <a:rPr lang="LID4096" smtClean="0"/>
              <a:t>02/21/2023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134868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1F2022"/>
                </a:solidFill>
                <a:latin typeface="Tw Cen MT"/>
                <a:cs typeface="Tw Cen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1F2022"/>
                </a:solidFill>
                <a:latin typeface="Tw Cen MT"/>
                <a:cs typeface="Tw Cen MT"/>
              </a:defRPr>
            </a:lvl1pPr>
          </a:lstStyle>
          <a:p>
            <a:pPr marL="12700">
              <a:lnSpc>
                <a:spcPts val="1675"/>
              </a:lnSpc>
            </a:pPr>
            <a:endParaRPr lang="en-US" spc="-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2FAC90-24DB-4F90-B081-1EC31F3B35A6}" type="datetime1">
              <a:rPr lang="LID4096" smtClean="0"/>
              <a:t>02/21/2023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925824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1F2022"/>
                </a:solidFill>
                <a:latin typeface="Tw Cen MT"/>
                <a:cs typeface="Tw Cen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1F2022"/>
                </a:solidFill>
                <a:latin typeface="Tw Cen MT"/>
                <a:cs typeface="Tw Cen MT"/>
              </a:defRPr>
            </a:lvl1pPr>
          </a:lstStyle>
          <a:p>
            <a:pPr marL="12700">
              <a:lnSpc>
                <a:spcPts val="1675"/>
              </a:lnSpc>
            </a:pPr>
            <a:endParaRPr lang="en-US" spc="-5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34A5EB-F155-43A3-8B21-E2F6D67F4297}" type="datetime1">
              <a:rPr lang="LID4096" smtClean="0"/>
              <a:t>02/21/2023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406008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1F2022"/>
                </a:solidFill>
                <a:latin typeface="Tw Cen MT"/>
                <a:cs typeface="Tw Cen MT"/>
              </a:defRPr>
            </a:lvl1pPr>
          </a:lstStyle>
          <a:p>
            <a:pPr marL="12700">
              <a:lnSpc>
                <a:spcPts val="1675"/>
              </a:lnSpc>
            </a:pPr>
            <a:endParaRPr lang="en-US" spc="-5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8824C-3111-496A-9251-7FECDF68981E}" type="datetime1">
              <a:rPr lang="LID4096" smtClean="0"/>
              <a:t>02/21/2023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67155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7DCEA6F-A451-4A26-96B2-9AE2BE5E0FA7}" type="datetimeFigureOut">
              <a:rPr lang="en-PK" smtClean="0"/>
              <a:t>02/21/2023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1B6CD44-7799-4C17-9166-73EBBFFD28F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56227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280160"/>
            <a:ext cx="7112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0" y="228600"/>
                </a:moveTo>
                <a:lnTo>
                  <a:pt x="533400" y="228600"/>
                </a:lnTo>
                <a:lnTo>
                  <a:pt x="5334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CC8E5F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7" name="bk object 17"/>
          <p:cNvSpPr/>
          <p:nvPr/>
        </p:nvSpPr>
        <p:spPr>
          <a:xfrm>
            <a:off x="787400" y="1280160"/>
            <a:ext cx="11404600" cy="228600"/>
          </a:xfrm>
          <a:custGeom>
            <a:avLst/>
            <a:gdLst/>
            <a:ahLst/>
            <a:cxnLst/>
            <a:rect l="l" t="t" r="r" b="b"/>
            <a:pathLst>
              <a:path w="8553450" h="228600">
                <a:moveTo>
                  <a:pt x="0" y="228600"/>
                </a:moveTo>
                <a:lnTo>
                  <a:pt x="8553450" y="228600"/>
                </a:lnTo>
                <a:lnTo>
                  <a:pt x="855345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7D96AC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790" y="357379"/>
            <a:ext cx="11414420" cy="691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1F2022"/>
                </a:solidFill>
                <a:latin typeface="Tw Cen MT"/>
                <a:cs typeface="Tw Cen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29751" y="1278890"/>
            <a:ext cx="5762413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bg1"/>
                </a:solidFill>
                <a:latin typeface="Tw Cen MT"/>
                <a:cs typeface="Tw Cen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04986" y="6575017"/>
            <a:ext cx="1736513" cy="2180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rgbClr val="1F2022"/>
                </a:solidFill>
                <a:latin typeface="Tw Cen MT"/>
                <a:cs typeface="Tw Cen MT"/>
              </a:defRPr>
            </a:lvl1pPr>
          </a:lstStyle>
          <a:p>
            <a:pPr marL="12700">
              <a:lnSpc>
                <a:spcPts val="1675"/>
              </a:lnSpc>
            </a:pPr>
            <a:endParaRPr lang="en-US"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92C42-D69F-4F44-BACC-179757B97AA7}" type="datetime1">
              <a:rPr lang="LID4096" smtClean="0"/>
              <a:t>02/21/2023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84245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9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2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://www.conx2u.com/index.php?option=com_content&amp;amp;view=article&amp;amp;id=53&amp;amp;Itemid=55" TargetMode="External"/><Relationship Id="rId3" Type="http://schemas.openxmlformats.org/officeDocument/2006/relationships/hyperlink" Target="http://en.wikipedia.org/wiki/Performance_management" TargetMode="External"/><Relationship Id="rId7" Type="http://schemas.openxmlformats.org/officeDocument/2006/relationships/hyperlink" Target="http://pathikconsulting.com/team-and-culture-development-corporate-culture-consulting.html" TargetMode="External"/><Relationship Id="rId2" Type="http://schemas.openxmlformats.org/officeDocument/2006/relationships/hyperlink" Target="http://recruitment.naukrihub.com/recruitment-vs-selection.html" TargetMode="External"/><Relationship Id="rId1" Type="http://schemas.openxmlformats.org/officeDocument/2006/relationships/slideLayout" Target="../slideLayouts/slideLayout19.xml"/><Relationship Id="rId6" Type="http://schemas.openxmlformats.org/officeDocument/2006/relationships/hyperlink" Target="http://www.wisegeek.com/what-is-career-development.htm" TargetMode="External"/><Relationship Id="rId5" Type="http://schemas.openxmlformats.org/officeDocument/2006/relationships/hyperlink" Target="http://www.inovus.com/organiza.htm" TargetMode="External"/><Relationship Id="rId4" Type="http://schemas.openxmlformats.org/officeDocument/2006/relationships/hyperlink" Target="http://en.wikipedia.org/wiki/Workers'_compensation" TargetMode="External"/><Relationship Id="rId9" Type="http://schemas.openxmlformats.org/officeDocument/2006/relationships/hyperlink" Target="http://en.wikipedia.org/wiki/Bulletin_board_system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5E0F1-384E-41A2-B1AC-FDE81B241C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96278" y="1400658"/>
            <a:ext cx="9144000" cy="2387600"/>
          </a:xfrm>
        </p:spPr>
        <p:txBody>
          <a:bodyPr/>
          <a:lstStyle/>
          <a:p>
            <a:r>
              <a:rPr lang="en-US" sz="43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P’s in PM Spectrum (2)</a:t>
            </a:r>
            <a:br>
              <a:rPr lang="en-US" sz="43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4</a:t>
            </a:r>
            <a:endParaRPr lang="en-PK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8958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0"/>
            <a:ext cx="9144000" cy="1524000"/>
          </a:xfrm>
          <a:custGeom>
            <a:avLst/>
            <a:gdLst/>
            <a:ahLst/>
            <a:cxnLst/>
            <a:rect l="l" t="t" r="r" b="b"/>
            <a:pathLst>
              <a:path w="9144000" h="1524000">
                <a:moveTo>
                  <a:pt x="0" y="1524000"/>
                </a:moveTo>
                <a:lnTo>
                  <a:pt x="9144000" y="1524000"/>
                </a:lnTo>
                <a:lnTo>
                  <a:pt x="9144000" y="0"/>
                </a:lnTo>
                <a:lnTo>
                  <a:pt x="0" y="0"/>
                </a:lnTo>
                <a:lnTo>
                  <a:pt x="0" y="1524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24000" y="2667000"/>
            <a:ext cx="9144000" cy="4191000"/>
          </a:xfrm>
          <a:custGeom>
            <a:avLst/>
            <a:gdLst/>
            <a:ahLst/>
            <a:cxnLst/>
            <a:rect l="l" t="t" r="r" b="b"/>
            <a:pathLst>
              <a:path w="9144000" h="4191000">
                <a:moveTo>
                  <a:pt x="0" y="4190999"/>
                </a:moveTo>
                <a:lnTo>
                  <a:pt x="9144000" y="4190999"/>
                </a:lnTo>
                <a:lnTo>
                  <a:pt x="9144000" y="0"/>
                </a:lnTo>
                <a:lnTo>
                  <a:pt x="0" y="0"/>
                </a:lnTo>
                <a:lnTo>
                  <a:pt x="0" y="4190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24000" y="152400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0" y="1143000"/>
                </a:moveTo>
                <a:lnTo>
                  <a:pt x="9144000" y="1143000"/>
                </a:lnTo>
                <a:lnTo>
                  <a:pt x="9144000" y="0"/>
                </a:lnTo>
                <a:lnTo>
                  <a:pt x="0" y="0"/>
                </a:lnTo>
                <a:lnTo>
                  <a:pt x="0" y="1143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24000" y="1600200"/>
            <a:ext cx="1295400" cy="990600"/>
          </a:xfrm>
          <a:custGeom>
            <a:avLst/>
            <a:gdLst/>
            <a:ahLst/>
            <a:cxnLst/>
            <a:rect l="l" t="t" r="r" b="b"/>
            <a:pathLst>
              <a:path w="1295400" h="990600">
                <a:moveTo>
                  <a:pt x="0" y="990600"/>
                </a:moveTo>
                <a:lnTo>
                  <a:pt x="1295400" y="990600"/>
                </a:lnTo>
                <a:lnTo>
                  <a:pt x="1295400" y="0"/>
                </a:lnTo>
                <a:lnTo>
                  <a:pt x="0" y="0"/>
                </a:lnTo>
                <a:lnTo>
                  <a:pt x="0" y="990600"/>
                </a:lnTo>
                <a:close/>
              </a:path>
            </a:pathLst>
          </a:custGeom>
          <a:solidFill>
            <a:srgbClr val="CC8E5F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895600" y="1600200"/>
            <a:ext cx="7772400" cy="990600"/>
          </a:xfrm>
          <a:custGeom>
            <a:avLst/>
            <a:gdLst/>
            <a:ahLst/>
            <a:cxnLst/>
            <a:rect l="l" t="t" r="r" b="b"/>
            <a:pathLst>
              <a:path w="7772400" h="990600">
                <a:moveTo>
                  <a:pt x="0" y="990600"/>
                </a:moveTo>
                <a:lnTo>
                  <a:pt x="7772400" y="990600"/>
                </a:lnTo>
                <a:lnTo>
                  <a:pt x="7772400" y="0"/>
                </a:lnTo>
                <a:lnTo>
                  <a:pt x="0" y="0"/>
                </a:lnTo>
                <a:lnTo>
                  <a:pt x="0" y="990600"/>
                </a:lnTo>
                <a:close/>
              </a:path>
            </a:pathLst>
          </a:custGeom>
          <a:solidFill>
            <a:srgbClr val="7D96AC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74595" y="2769234"/>
            <a:ext cx="1364615" cy="1991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 defTabSz="914400">
              <a:buClr>
                <a:srgbClr val="CC8E5F"/>
              </a:buClr>
              <a:buSzPct val="58928"/>
              <a:buFont typeface="Wingdings"/>
              <a:buChar char=""/>
              <a:tabLst>
                <a:tab pos="299720" algn="l"/>
              </a:tabLst>
            </a:pPr>
            <a:r>
              <a:rPr sz="2800" spc="-30" dirty="0">
                <a:solidFill>
                  <a:srgbClr val="FFFFFF"/>
                </a:solidFill>
                <a:latin typeface="Tw Cen MT"/>
                <a:cs typeface="Tw Cen MT"/>
              </a:rPr>
              <a:t>People</a:t>
            </a:r>
            <a:endParaRPr sz="2800">
              <a:solidFill>
                <a:prstClr val="black"/>
              </a:solidFill>
              <a:latin typeface="Tw Cen MT"/>
              <a:cs typeface="Tw Cen MT"/>
            </a:endParaRPr>
          </a:p>
          <a:p>
            <a:pPr marL="299085" indent="-286385" defTabSz="914400">
              <a:spcBef>
                <a:spcPts val="695"/>
              </a:spcBef>
              <a:buClr>
                <a:srgbClr val="CC8E5F"/>
              </a:buClr>
              <a:buSzPct val="58928"/>
              <a:buFont typeface="Wingdings"/>
              <a:buChar char=""/>
              <a:tabLst>
                <a:tab pos="299720" algn="l"/>
              </a:tabLst>
            </a:pPr>
            <a:r>
              <a:rPr sz="2800" spc="-5" dirty="0">
                <a:solidFill>
                  <a:srgbClr val="FFFFFF"/>
                </a:solidFill>
                <a:latin typeface="Tw Cen MT"/>
                <a:cs typeface="Tw Cen MT"/>
              </a:rPr>
              <a:t>P</a:t>
            </a:r>
            <a:r>
              <a:rPr sz="2800" spc="-60" dirty="0">
                <a:solidFill>
                  <a:srgbClr val="FFFFFF"/>
                </a:solidFill>
                <a:latin typeface="Tw Cen MT"/>
                <a:cs typeface="Tw Cen MT"/>
              </a:rPr>
              <a:t>r</a:t>
            </a:r>
            <a:r>
              <a:rPr sz="2800" spc="-5" dirty="0">
                <a:solidFill>
                  <a:srgbClr val="FFFFFF"/>
                </a:solidFill>
                <a:latin typeface="Tw Cen MT"/>
                <a:cs typeface="Tw Cen MT"/>
              </a:rPr>
              <a:t>o</a:t>
            </a:r>
            <a:r>
              <a:rPr sz="2800" dirty="0">
                <a:solidFill>
                  <a:srgbClr val="FFFFFF"/>
                </a:solidFill>
                <a:latin typeface="Tw Cen MT"/>
                <a:cs typeface="Tw Cen MT"/>
              </a:rPr>
              <a:t>d</a:t>
            </a:r>
            <a:r>
              <a:rPr sz="2800" spc="-5" dirty="0">
                <a:solidFill>
                  <a:srgbClr val="FFFFFF"/>
                </a:solidFill>
                <a:latin typeface="Tw Cen MT"/>
                <a:cs typeface="Tw Cen MT"/>
              </a:rPr>
              <a:t>uct</a:t>
            </a:r>
            <a:endParaRPr sz="2800">
              <a:solidFill>
                <a:prstClr val="black"/>
              </a:solidFill>
              <a:latin typeface="Tw Cen MT"/>
              <a:cs typeface="Tw Cen MT"/>
            </a:endParaRPr>
          </a:p>
          <a:p>
            <a:pPr marL="299085" indent="-286385" defTabSz="914400">
              <a:spcBef>
                <a:spcPts val="710"/>
              </a:spcBef>
              <a:buClr>
                <a:srgbClr val="CC8E5F"/>
              </a:buClr>
              <a:buSzPct val="58928"/>
              <a:buFont typeface="Wingdings"/>
              <a:buChar char=""/>
              <a:tabLst>
                <a:tab pos="299720" algn="l"/>
              </a:tabLst>
            </a:pPr>
            <a:r>
              <a:rPr sz="2800" spc="-10" dirty="0">
                <a:solidFill>
                  <a:srgbClr val="FFFFFF"/>
                </a:solidFill>
                <a:latin typeface="Tw Cen MT"/>
                <a:cs typeface="Tw Cen MT"/>
              </a:rPr>
              <a:t>Process</a:t>
            </a:r>
            <a:endParaRPr sz="2800">
              <a:solidFill>
                <a:prstClr val="black"/>
              </a:solidFill>
              <a:latin typeface="Tw Cen MT"/>
              <a:cs typeface="Tw Cen MT"/>
            </a:endParaRPr>
          </a:p>
          <a:p>
            <a:pPr marL="299085" indent="-286385" defTabSz="914400">
              <a:spcBef>
                <a:spcPts val="695"/>
              </a:spcBef>
              <a:buClr>
                <a:srgbClr val="CC8E5F"/>
              </a:buClr>
              <a:buSzPct val="58928"/>
              <a:buFont typeface="Wingdings"/>
              <a:buChar char=""/>
              <a:tabLst>
                <a:tab pos="299720" algn="l"/>
              </a:tabLst>
            </a:pPr>
            <a:r>
              <a:rPr sz="2800" spc="-10" dirty="0">
                <a:solidFill>
                  <a:srgbClr val="FFFFFF"/>
                </a:solidFill>
                <a:latin typeface="Tw Cen MT"/>
                <a:cs typeface="Tw Cen MT"/>
              </a:rPr>
              <a:t>Project</a:t>
            </a:r>
            <a:endParaRPr sz="280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974595" y="1729360"/>
            <a:ext cx="4651375" cy="691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dirty="0">
                <a:solidFill>
                  <a:srgbClr val="FFFFFF"/>
                </a:solidFill>
              </a:rPr>
              <a:t>4</a:t>
            </a:r>
            <a:r>
              <a:rPr lang="en-US" dirty="0">
                <a:solidFill>
                  <a:srgbClr val="FFFFFF"/>
                </a:solidFill>
              </a:rPr>
              <a:t> P’s</a:t>
            </a:r>
            <a:r>
              <a:rPr dirty="0">
                <a:solidFill>
                  <a:srgbClr val="FFFFFF"/>
                </a:solidFill>
              </a:rPr>
              <a:t> in PM</a:t>
            </a:r>
            <a:r>
              <a:rPr spc="-75" dirty="0">
                <a:solidFill>
                  <a:srgbClr val="FFFFFF"/>
                </a:solidFill>
              </a:rPr>
              <a:t> </a:t>
            </a:r>
            <a:r>
              <a:rPr spc="10" dirty="0">
                <a:solidFill>
                  <a:srgbClr val="FFFFFF"/>
                </a:solidFill>
              </a:rPr>
              <a:t>Spectrum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0"/>
            <a:ext cx="9144000" cy="1524000"/>
          </a:xfrm>
          <a:custGeom>
            <a:avLst/>
            <a:gdLst/>
            <a:ahLst/>
            <a:cxnLst/>
            <a:rect l="l" t="t" r="r" b="b"/>
            <a:pathLst>
              <a:path w="9144000" h="1524000">
                <a:moveTo>
                  <a:pt x="0" y="1524000"/>
                </a:moveTo>
                <a:lnTo>
                  <a:pt x="9144000" y="1524000"/>
                </a:lnTo>
                <a:lnTo>
                  <a:pt x="9144000" y="0"/>
                </a:lnTo>
                <a:lnTo>
                  <a:pt x="0" y="0"/>
                </a:lnTo>
                <a:lnTo>
                  <a:pt x="0" y="1524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24000" y="2667000"/>
            <a:ext cx="9144000" cy="4191000"/>
          </a:xfrm>
          <a:custGeom>
            <a:avLst/>
            <a:gdLst/>
            <a:ahLst/>
            <a:cxnLst/>
            <a:rect l="l" t="t" r="r" b="b"/>
            <a:pathLst>
              <a:path w="9144000" h="4191000">
                <a:moveTo>
                  <a:pt x="0" y="4190999"/>
                </a:moveTo>
                <a:lnTo>
                  <a:pt x="9144000" y="4190999"/>
                </a:lnTo>
                <a:lnTo>
                  <a:pt x="9144000" y="0"/>
                </a:lnTo>
                <a:lnTo>
                  <a:pt x="0" y="0"/>
                </a:lnTo>
                <a:lnTo>
                  <a:pt x="0" y="4190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24000" y="152400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0" y="1143000"/>
                </a:moveTo>
                <a:lnTo>
                  <a:pt x="9144000" y="1143000"/>
                </a:lnTo>
                <a:lnTo>
                  <a:pt x="9144000" y="0"/>
                </a:lnTo>
                <a:lnTo>
                  <a:pt x="0" y="0"/>
                </a:lnTo>
                <a:lnTo>
                  <a:pt x="0" y="1143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24000" y="1600200"/>
            <a:ext cx="1295400" cy="990600"/>
          </a:xfrm>
          <a:custGeom>
            <a:avLst/>
            <a:gdLst/>
            <a:ahLst/>
            <a:cxnLst/>
            <a:rect l="l" t="t" r="r" b="b"/>
            <a:pathLst>
              <a:path w="1295400" h="990600">
                <a:moveTo>
                  <a:pt x="0" y="990600"/>
                </a:moveTo>
                <a:lnTo>
                  <a:pt x="1295400" y="990600"/>
                </a:lnTo>
                <a:lnTo>
                  <a:pt x="1295400" y="0"/>
                </a:lnTo>
                <a:lnTo>
                  <a:pt x="0" y="0"/>
                </a:lnTo>
                <a:lnTo>
                  <a:pt x="0" y="990600"/>
                </a:lnTo>
                <a:close/>
              </a:path>
            </a:pathLst>
          </a:custGeom>
          <a:solidFill>
            <a:srgbClr val="CC8E5F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895600" y="1600200"/>
            <a:ext cx="7772400" cy="990600"/>
          </a:xfrm>
          <a:custGeom>
            <a:avLst/>
            <a:gdLst/>
            <a:ahLst/>
            <a:cxnLst/>
            <a:rect l="l" t="t" r="r" b="b"/>
            <a:pathLst>
              <a:path w="7772400" h="990600">
                <a:moveTo>
                  <a:pt x="0" y="990600"/>
                </a:moveTo>
                <a:lnTo>
                  <a:pt x="7772400" y="990600"/>
                </a:lnTo>
                <a:lnTo>
                  <a:pt x="7772400" y="0"/>
                </a:lnTo>
                <a:lnTo>
                  <a:pt x="0" y="0"/>
                </a:lnTo>
                <a:lnTo>
                  <a:pt x="0" y="990600"/>
                </a:lnTo>
                <a:close/>
              </a:path>
            </a:pathLst>
          </a:custGeom>
          <a:solidFill>
            <a:srgbClr val="7D96AC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974594" y="1729360"/>
            <a:ext cx="3034030" cy="691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dirty="0">
                <a:solidFill>
                  <a:srgbClr val="FFFFFF"/>
                </a:solidFill>
              </a:rPr>
              <a:t>The </a:t>
            </a:r>
            <a:r>
              <a:rPr spc="-10" dirty="0">
                <a:solidFill>
                  <a:srgbClr val="FFFFFF"/>
                </a:solidFill>
              </a:rPr>
              <a:t>Process</a:t>
            </a:r>
            <a:r>
              <a:rPr spc="-145" dirty="0">
                <a:solidFill>
                  <a:srgbClr val="FFFFFF"/>
                </a:solidFill>
              </a:rPr>
              <a:t> </a:t>
            </a:r>
            <a:r>
              <a:rPr sz="2400" dirty="0">
                <a:solidFill>
                  <a:srgbClr val="FFFFFF"/>
                </a:solidFill>
              </a:rPr>
              <a:t>[1]</a:t>
            </a:r>
            <a:endParaRPr sz="2400"/>
          </a:p>
        </p:txBody>
      </p:sp>
      <p:sp>
        <p:nvSpPr>
          <p:cNvPr id="9" name="object 9"/>
          <p:cNvSpPr txBox="1"/>
          <p:nvPr/>
        </p:nvSpPr>
        <p:spPr>
          <a:xfrm>
            <a:off x="2974595" y="3155823"/>
            <a:ext cx="2614295" cy="27315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 defTabSz="914400">
              <a:buClr>
                <a:srgbClr val="CC8E5F"/>
              </a:buClr>
              <a:buSzPct val="60000"/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sz="2000" spc="-5" dirty="0">
                <a:solidFill>
                  <a:srgbClr val="FFFFFF"/>
                </a:solidFill>
                <a:latin typeface="Tw Cen MT"/>
                <a:cs typeface="Tw Cen MT"/>
              </a:rPr>
              <a:t>Process</a:t>
            </a:r>
            <a:endParaRPr sz="20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defTabSz="914400">
              <a:buClr>
                <a:srgbClr val="CC8E5F"/>
              </a:buClr>
              <a:buFont typeface="Wingdings"/>
              <a:buChar char=""/>
            </a:pPr>
            <a:endParaRPr sz="20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55600" indent="-342900" defTabSz="914400">
              <a:spcBef>
                <a:spcPts val="1505"/>
              </a:spcBef>
              <a:buClr>
                <a:srgbClr val="CC8E5F"/>
              </a:buClr>
              <a:buSzPct val="60000"/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sz="2000" spc="-10" dirty="0">
                <a:solidFill>
                  <a:srgbClr val="FFFFFF"/>
                </a:solidFill>
                <a:latin typeface="Tw Cen MT"/>
                <a:cs typeface="Tw Cen MT"/>
              </a:rPr>
              <a:t>Framework</a:t>
            </a:r>
            <a:r>
              <a:rPr sz="2000" spc="-90" dirty="0">
                <a:solidFill>
                  <a:srgbClr val="FFFFFF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FFFFFF"/>
                </a:solidFill>
                <a:latin typeface="Tw Cen MT"/>
                <a:cs typeface="Tw Cen MT"/>
              </a:rPr>
              <a:t>Activities</a:t>
            </a:r>
            <a:endParaRPr sz="20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defTabSz="914400">
              <a:buClr>
                <a:srgbClr val="CC8E5F"/>
              </a:buClr>
              <a:buFont typeface="Wingdings"/>
              <a:buChar char=""/>
            </a:pPr>
            <a:endParaRPr sz="20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55600" indent="-342900" defTabSz="914400">
              <a:spcBef>
                <a:spcPts val="1505"/>
              </a:spcBef>
              <a:buClr>
                <a:srgbClr val="CC8E5F"/>
              </a:buClr>
              <a:buSzPct val="60000"/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sz="2000" spc="-5" dirty="0">
                <a:solidFill>
                  <a:srgbClr val="FFFFFF"/>
                </a:solidFill>
                <a:latin typeface="Tw Cen MT"/>
                <a:cs typeface="Tw Cen MT"/>
              </a:rPr>
              <a:t>Process</a:t>
            </a:r>
            <a:r>
              <a:rPr sz="2000" spc="-95" dirty="0">
                <a:solidFill>
                  <a:srgbClr val="FFFFFF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FFFFFF"/>
                </a:solidFill>
                <a:latin typeface="Tw Cen MT"/>
                <a:cs typeface="Tw Cen MT"/>
              </a:rPr>
              <a:t>Models</a:t>
            </a:r>
            <a:endParaRPr sz="20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defTabSz="914400">
              <a:buClr>
                <a:srgbClr val="CC8E5F"/>
              </a:buClr>
              <a:buFont typeface="Wingdings"/>
              <a:buChar char=""/>
            </a:pPr>
            <a:endParaRPr sz="20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55600" indent="-342900" defTabSz="914400">
              <a:spcBef>
                <a:spcPts val="1495"/>
              </a:spcBef>
              <a:buClr>
                <a:srgbClr val="CC8E5F"/>
              </a:buClr>
              <a:buSzPct val="60000"/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sz="2000" spc="-5" dirty="0">
                <a:solidFill>
                  <a:srgbClr val="FFFFFF"/>
                </a:solidFill>
                <a:latin typeface="Tw Cen MT"/>
                <a:cs typeface="Tw Cen MT"/>
              </a:rPr>
              <a:t>Process</a:t>
            </a:r>
            <a:r>
              <a:rPr sz="2000" spc="-114" dirty="0">
                <a:solidFill>
                  <a:srgbClr val="FFFFFF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FFFFFF"/>
                </a:solidFill>
                <a:latin typeface="Tw Cen MT"/>
                <a:cs typeface="Tw Cen MT"/>
              </a:rPr>
              <a:t>Decomposition</a:t>
            </a:r>
            <a:endParaRPr sz="2000" dirty="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239000" y="3124200"/>
            <a:ext cx="2952750" cy="2971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2115"/>
            <a:r>
              <a:rPr dirty="0"/>
              <a:t>The</a:t>
            </a:r>
            <a:r>
              <a:rPr spc="-100" dirty="0"/>
              <a:t> </a:t>
            </a:r>
            <a:r>
              <a:rPr spc="-10" dirty="0"/>
              <a:t>Process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96313" y="1278891"/>
            <a:ext cx="8516620" cy="45048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/>
            <a:endParaRPr sz="12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defTabSz="914400">
              <a:spcBef>
                <a:spcPts val="50"/>
              </a:spcBef>
            </a:pPr>
            <a:endParaRPr sz="11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51535" marR="5715" indent="-320040" algn="just" defTabSz="914400">
              <a:lnSpc>
                <a:spcPct val="90100"/>
              </a:lnSpc>
              <a:buClr>
                <a:srgbClr val="CC8E5F"/>
              </a:buClr>
              <a:buSzPct val="58333"/>
              <a:buFont typeface="Wingdings"/>
              <a:buChar char=""/>
              <a:tabLst>
                <a:tab pos="852169" algn="l"/>
              </a:tabLst>
            </a:pP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A </a:t>
            </a:r>
            <a:r>
              <a:rPr sz="2400" spc="-15" dirty="0">
                <a:solidFill>
                  <a:prstClr val="black"/>
                </a:solidFill>
                <a:latin typeface="Tw Cen MT"/>
                <a:cs typeface="Tw Cen MT"/>
              </a:rPr>
              <a:t>software </a:t>
            </a:r>
            <a:r>
              <a:rPr sz="2400" spc="-10" dirty="0">
                <a:solidFill>
                  <a:prstClr val="black"/>
                </a:solidFill>
                <a:latin typeface="Tw Cen MT"/>
                <a:cs typeface="Tw Cen MT"/>
              </a:rPr>
              <a:t>process provides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the </a:t>
            </a:r>
            <a:r>
              <a:rPr sz="2400" spc="-10" dirty="0">
                <a:solidFill>
                  <a:prstClr val="black"/>
                </a:solidFill>
                <a:latin typeface="Tw Cen MT"/>
                <a:cs typeface="Tw Cen MT"/>
              </a:rPr>
              <a:t>framework from </a:t>
            </a:r>
            <a:r>
              <a:rPr sz="2400" spc="15" dirty="0">
                <a:solidFill>
                  <a:prstClr val="black"/>
                </a:solidFill>
                <a:latin typeface="Tw Cen MT"/>
                <a:cs typeface="Tw Cen MT"/>
              </a:rPr>
              <a:t>which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a  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comprehensive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plan </a:t>
            </a:r>
            <a:r>
              <a:rPr sz="2400" spc="-15" dirty="0">
                <a:solidFill>
                  <a:prstClr val="black"/>
                </a:solidFill>
                <a:latin typeface="Tw Cen MT"/>
                <a:cs typeface="Tw Cen MT"/>
              </a:rPr>
              <a:t>for</a:t>
            </a:r>
            <a:r>
              <a:rPr sz="2400" spc="63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spc="-15" dirty="0">
                <a:solidFill>
                  <a:prstClr val="black"/>
                </a:solidFill>
                <a:latin typeface="Tw Cen MT"/>
                <a:cs typeface="Tw Cen MT"/>
              </a:rPr>
              <a:t>software</a:t>
            </a:r>
            <a:r>
              <a:rPr sz="2400" spc="63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development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can 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be  established</a:t>
            </a:r>
            <a:endParaRPr lang="en-US" sz="2400" spc="-5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851535" marR="5715" indent="-320040" algn="just" defTabSz="914400">
              <a:lnSpc>
                <a:spcPct val="90100"/>
              </a:lnSpc>
              <a:buClr>
                <a:srgbClr val="CC8E5F"/>
              </a:buClr>
              <a:buSzPct val="58333"/>
              <a:buFont typeface="Wingdings"/>
              <a:buChar char=""/>
              <a:tabLst>
                <a:tab pos="852169" algn="l"/>
              </a:tabLst>
            </a:pPr>
            <a:endParaRPr sz="24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851535" marR="5080" indent="-320040" algn="just" defTabSz="914400">
              <a:lnSpc>
                <a:spcPts val="2590"/>
              </a:lnSpc>
              <a:spcBef>
                <a:spcPts val="735"/>
              </a:spcBef>
              <a:buClr>
                <a:srgbClr val="CC8E5F"/>
              </a:buClr>
              <a:buSzPct val="58333"/>
              <a:buFont typeface="Wingdings"/>
              <a:buChar char=""/>
              <a:tabLst>
                <a:tab pos="852169" algn="l"/>
              </a:tabLst>
            </a:pP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Common </a:t>
            </a:r>
            <a:r>
              <a:rPr sz="2400" spc="-10" dirty="0">
                <a:solidFill>
                  <a:prstClr val="black"/>
                </a:solidFill>
                <a:latin typeface="Tw Cen MT"/>
                <a:cs typeface="Tw Cen MT"/>
              </a:rPr>
              <a:t>process framework 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activities </a:t>
            </a:r>
            <a:r>
              <a:rPr sz="2400" spc="15" dirty="0">
                <a:solidFill>
                  <a:prstClr val="black"/>
                </a:solidFill>
                <a:latin typeface="Tw Cen MT"/>
                <a:cs typeface="Tw Cen MT"/>
              </a:rPr>
              <a:t>which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are applicable </a:t>
            </a:r>
            <a:r>
              <a:rPr sz="2400" spc="5" dirty="0">
                <a:solidFill>
                  <a:prstClr val="black"/>
                </a:solidFill>
                <a:latin typeface="Tw Cen MT"/>
                <a:cs typeface="Tw Cen MT"/>
              </a:rPr>
              <a:t>to 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all </a:t>
            </a:r>
            <a:r>
              <a:rPr sz="2400" spc="-15" dirty="0">
                <a:solidFill>
                  <a:prstClr val="black"/>
                </a:solidFill>
                <a:latin typeface="Tw Cen MT"/>
                <a:cs typeface="Tw Cen MT"/>
              </a:rPr>
              <a:t>software </a:t>
            </a:r>
            <a:r>
              <a:rPr sz="2400" spc="-10" dirty="0">
                <a:solidFill>
                  <a:prstClr val="black"/>
                </a:solidFill>
                <a:latin typeface="Tw Cen MT"/>
                <a:cs typeface="Tw Cen MT"/>
              </a:rPr>
              <a:t>projects</a:t>
            </a:r>
            <a:r>
              <a:rPr sz="2400" spc="-3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are:</a:t>
            </a:r>
            <a:endParaRPr sz="24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171575" lvl="1" indent="-274320" defTabSz="914400">
              <a:buClr>
                <a:srgbClr val="7D96AC"/>
              </a:buClr>
              <a:buSzPct val="70000"/>
              <a:buFont typeface="Wingdings 2"/>
              <a:buChar char=""/>
              <a:tabLst>
                <a:tab pos="1171575" algn="l"/>
                <a:tab pos="1172210" algn="l"/>
              </a:tabLst>
            </a:pPr>
            <a:endParaRPr lang="en-US" sz="20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171575" lvl="1" indent="-274320" defTabSz="914400">
              <a:buClr>
                <a:srgbClr val="7D96AC"/>
              </a:buClr>
              <a:buSzPct val="70000"/>
              <a:buFont typeface="Wingdings 2"/>
              <a:buChar char=""/>
              <a:tabLst>
                <a:tab pos="1171575" algn="l"/>
                <a:tab pos="1172210" algn="l"/>
              </a:tabLst>
            </a:pP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Communication</a:t>
            </a:r>
          </a:p>
          <a:p>
            <a:pPr marL="1171575" lvl="1" indent="-274320" defTabSz="914400">
              <a:spcBef>
                <a:spcPts val="359"/>
              </a:spcBef>
              <a:buClr>
                <a:srgbClr val="7D96AC"/>
              </a:buClr>
              <a:buSzPct val="70000"/>
              <a:buFont typeface="Wingdings 2"/>
              <a:buChar char=""/>
              <a:tabLst>
                <a:tab pos="1171575" algn="l"/>
                <a:tab pos="1172210" algn="l"/>
              </a:tabLst>
            </a:pP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Planning</a:t>
            </a:r>
            <a:endParaRPr sz="20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171575" lvl="1" indent="-274320" defTabSz="914400">
              <a:spcBef>
                <a:spcPts val="360"/>
              </a:spcBef>
              <a:buClr>
                <a:srgbClr val="7D96AC"/>
              </a:buClr>
              <a:buSzPct val="70000"/>
              <a:buFont typeface="Wingdings 2"/>
              <a:buChar char=""/>
              <a:tabLst>
                <a:tab pos="1171575" algn="l"/>
                <a:tab pos="1172210" algn="l"/>
              </a:tabLst>
            </a:pP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Modeling</a:t>
            </a:r>
          </a:p>
          <a:p>
            <a:pPr marL="1171575" lvl="1" indent="-274320" defTabSz="914400">
              <a:spcBef>
                <a:spcPts val="360"/>
              </a:spcBef>
              <a:buClr>
                <a:srgbClr val="7D96AC"/>
              </a:buClr>
              <a:buSzPct val="70000"/>
              <a:buFont typeface="Wingdings 2"/>
              <a:buChar char=""/>
              <a:tabLst>
                <a:tab pos="1171575" algn="l"/>
                <a:tab pos="1172210" algn="l"/>
              </a:tabLst>
            </a:pPr>
            <a:r>
              <a:rPr sz="2000" spc="5" dirty="0">
                <a:solidFill>
                  <a:prstClr val="black"/>
                </a:solidFill>
                <a:latin typeface="Tw Cen MT"/>
                <a:cs typeface="Tw Cen MT"/>
              </a:rPr>
              <a:t>Construction</a:t>
            </a:r>
            <a:endParaRPr sz="20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171575" lvl="1" indent="-274320" defTabSz="914400">
              <a:spcBef>
                <a:spcPts val="360"/>
              </a:spcBef>
              <a:buClr>
                <a:srgbClr val="7D96AC"/>
              </a:buClr>
              <a:buSzPct val="70000"/>
              <a:buFont typeface="Wingdings 2"/>
              <a:buChar char=""/>
              <a:tabLst>
                <a:tab pos="1171575" algn="l"/>
                <a:tab pos="1172210" algn="l"/>
              </a:tabLst>
            </a:pP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15387" y="389890"/>
            <a:ext cx="7607300" cy="629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tabLst>
                <a:tab pos="1867535" algn="l"/>
                <a:tab pos="3463290" algn="l"/>
                <a:tab pos="5836285" algn="l"/>
              </a:tabLst>
            </a:pPr>
            <a:r>
              <a:rPr sz="4000" spc="-30" dirty="0"/>
              <a:t>F</a:t>
            </a:r>
            <a:r>
              <a:rPr sz="4000" spc="-40" dirty="0"/>
              <a:t>r</a:t>
            </a:r>
            <a:r>
              <a:rPr sz="4000" spc="-5" dirty="0"/>
              <a:t>am</a:t>
            </a:r>
            <a:r>
              <a:rPr sz="4000" spc="-85" dirty="0"/>
              <a:t>e</a:t>
            </a:r>
            <a:r>
              <a:rPr sz="4000" spc="-90" dirty="0"/>
              <a:t>w</a:t>
            </a:r>
            <a:r>
              <a:rPr sz="4000" spc="-5" dirty="0"/>
              <a:t>o</a:t>
            </a:r>
            <a:r>
              <a:rPr sz="4000" spc="80" dirty="0"/>
              <a:t>r</a:t>
            </a:r>
            <a:r>
              <a:rPr sz="4000" spc="-5" dirty="0"/>
              <a:t>k</a:t>
            </a:r>
            <a:r>
              <a:rPr lang="en-US" sz="4000" spc="-5" dirty="0"/>
              <a:t> </a:t>
            </a:r>
            <a:r>
              <a:rPr sz="4000" spc="-5" dirty="0"/>
              <a:t>Activit</a:t>
            </a:r>
            <a:r>
              <a:rPr sz="4000" dirty="0"/>
              <a:t>i</a:t>
            </a:r>
            <a:r>
              <a:rPr sz="4000" spc="-5" dirty="0"/>
              <a:t>es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1696314" y="1278891"/>
            <a:ext cx="8514715" cy="2864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/>
            <a:endParaRPr sz="12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851535" indent="-320040" defTabSz="914400">
              <a:lnSpc>
                <a:spcPts val="2590"/>
              </a:lnSpc>
              <a:spcBef>
                <a:spcPts val="180"/>
              </a:spcBef>
              <a:buClr>
                <a:srgbClr val="CC8E5F"/>
              </a:buClr>
              <a:buSzPct val="58333"/>
              <a:buFont typeface="Wingdings"/>
              <a:buChar char=""/>
              <a:tabLst>
                <a:tab pos="851535" algn="l"/>
                <a:tab pos="852169" algn="l"/>
              </a:tabLst>
            </a:pP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These </a:t>
            </a:r>
            <a:r>
              <a:rPr sz="2400" spc="5" dirty="0">
                <a:solidFill>
                  <a:prstClr val="black"/>
                </a:solidFill>
                <a:latin typeface="Tw Cen MT"/>
                <a:cs typeface="Tw Cen MT"/>
              </a:rPr>
              <a:t>characterize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a </a:t>
            </a:r>
            <a:r>
              <a:rPr sz="2400" spc="-15" dirty="0">
                <a:solidFill>
                  <a:prstClr val="black"/>
                </a:solidFill>
                <a:latin typeface="Tw Cen MT"/>
                <a:cs typeface="Tw Cen MT"/>
              </a:rPr>
              <a:t>software </a:t>
            </a:r>
            <a:r>
              <a:rPr sz="2400" spc="-10" dirty="0">
                <a:solidFill>
                  <a:prstClr val="black"/>
                </a:solidFill>
                <a:latin typeface="Tw Cen MT"/>
                <a:cs typeface="Tw Cen MT"/>
              </a:rPr>
              <a:t>process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and are applicable 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to</a:t>
            </a:r>
            <a:endParaRPr sz="24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851535" defTabSz="914400">
              <a:lnSpc>
                <a:spcPts val="2590"/>
              </a:lnSpc>
            </a:pP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all </a:t>
            </a:r>
            <a:r>
              <a:rPr sz="2400" spc="-15" dirty="0">
                <a:solidFill>
                  <a:prstClr val="black"/>
                </a:solidFill>
                <a:latin typeface="Tw Cen MT"/>
                <a:cs typeface="Tw Cen MT"/>
              </a:rPr>
              <a:t>software</a:t>
            </a:r>
            <a:r>
              <a:rPr sz="2400" spc="-5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spc="-10" dirty="0">
                <a:solidFill>
                  <a:prstClr val="black"/>
                </a:solidFill>
                <a:latin typeface="Tw Cen MT"/>
                <a:cs typeface="Tw Cen MT"/>
              </a:rPr>
              <a:t>projects</a:t>
            </a:r>
            <a:endParaRPr sz="24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defTabSz="914400">
              <a:spcBef>
                <a:spcPts val="30"/>
              </a:spcBef>
            </a:pPr>
            <a:endParaRPr sz="27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171575" lvl="1" indent="-274320" defTabSz="914400">
              <a:spcBef>
                <a:spcPts val="5"/>
              </a:spcBef>
              <a:buClr>
                <a:srgbClr val="7D96AC"/>
              </a:buClr>
              <a:buSzPct val="70000"/>
              <a:buFont typeface="Wingdings"/>
              <a:buChar char=""/>
              <a:tabLst>
                <a:tab pos="1171575" algn="l"/>
                <a:tab pos="1172210" algn="l"/>
              </a:tabLst>
            </a:pP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Communication</a:t>
            </a:r>
          </a:p>
          <a:p>
            <a:pPr marL="1171575" lvl="1" indent="-274320" defTabSz="914400">
              <a:spcBef>
                <a:spcPts val="120"/>
              </a:spcBef>
              <a:buClr>
                <a:srgbClr val="7D96AC"/>
              </a:buClr>
              <a:buSzPct val="70000"/>
              <a:buFont typeface="Wingdings"/>
              <a:buChar char=""/>
              <a:tabLst>
                <a:tab pos="1171575" algn="l"/>
                <a:tab pos="1172210" algn="l"/>
              </a:tabLst>
            </a:pP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Planning</a:t>
            </a:r>
            <a:endParaRPr sz="20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171575" lvl="1" indent="-274320" defTabSz="914400">
              <a:spcBef>
                <a:spcPts val="120"/>
              </a:spcBef>
              <a:buClr>
                <a:srgbClr val="7D96AC"/>
              </a:buClr>
              <a:buSzPct val="70000"/>
              <a:buFont typeface="Wingdings"/>
              <a:buChar char=""/>
              <a:tabLst>
                <a:tab pos="1171575" algn="l"/>
                <a:tab pos="1172210" algn="l"/>
              </a:tabLst>
            </a:pP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Modeling</a:t>
            </a:r>
          </a:p>
          <a:p>
            <a:pPr marL="1171575" lvl="1" indent="-274320" defTabSz="914400">
              <a:spcBef>
                <a:spcPts val="120"/>
              </a:spcBef>
              <a:buClr>
                <a:srgbClr val="7D96AC"/>
              </a:buClr>
              <a:buSzPct val="70000"/>
              <a:buFont typeface="Wingdings"/>
              <a:buChar char=""/>
              <a:tabLst>
                <a:tab pos="1171575" algn="l"/>
                <a:tab pos="1172210" algn="l"/>
              </a:tabLst>
            </a:pPr>
            <a:r>
              <a:rPr sz="2000" spc="5" dirty="0">
                <a:solidFill>
                  <a:prstClr val="black"/>
                </a:solidFill>
                <a:latin typeface="Tw Cen MT"/>
                <a:cs typeface="Tw Cen MT"/>
              </a:rPr>
              <a:t>Construction</a:t>
            </a:r>
            <a:endParaRPr sz="20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171575" lvl="1" indent="-274320" defTabSz="914400">
              <a:spcBef>
                <a:spcPts val="120"/>
              </a:spcBef>
              <a:buClr>
                <a:srgbClr val="7D96AC"/>
              </a:buClr>
              <a:buSzPct val="70000"/>
              <a:buFont typeface="Wingdings"/>
              <a:buChar char=""/>
              <a:tabLst>
                <a:tab pos="1171575" algn="l"/>
                <a:tab pos="1172210" algn="l"/>
              </a:tabLst>
            </a:pP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Deployment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15388" y="4891785"/>
            <a:ext cx="7997825" cy="675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2740" indent="-320040" defTabSz="914400">
              <a:lnSpc>
                <a:spcPts val="2590"/>
              </a:lnSpc>
              <a:buClr>
                <a:srgbClr val="CC8E5F"/>
              </a:buClr>
              <a:buSzPct val="60416"/>
              <a:buFont typeface="Wingdings"/>
              <a:buChar char=""/>
              <a:tabLst>
                <a:tab pos="332740" algn="l"/>
                <a:tab pos="333375" algn="l"/>
                <a:tab pos="1144905" algn="l"/>
                <a:tab pos="1705610" algn="l"/>
                <a:tab pos="2801620" algn="l"/>
                <a:tab pos="3175000" algn="l"/>
                <a:tab pos="4365625" algn="l"/>
                <a:tab pos="5934075" algn="l"/>
                <a:tab pos="6664325" algn="l"/>
                <a:tab pos="7391400" algn="l"/>
              </a:tabLst>
            </a:pP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These	are	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applied	to	</a:t>
            </a:r>
            <a:r>
              <a:rPr sz="2400" spc="-15" dirty="0">
                <a:solidFill>
                  <a:prstClr val="black"/>
                </a:solidFill>
                <a:latin typeface="Tw Cen MT"/>
                <a:cs typeface="Tw Cen MT"/>
              </a:rPr>
              <a:t>software	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engineering	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work	tasks	</a:t>
            </a:r>
            <a:r>
              <a:rPr sz="2400" spc="-20" dirty="0">
                <a:solidFill>
                  <a:prstClr val="black"/>
                </a:solidFill>
                <a:latin typeface="Tw Cen MT"/>
                <a:cs typeface="Tw Cen MT"/>
              </a:rPr>
              <a:t>(e.g.,</a:t>
            </a:r>
            <a:endParaRPr sz="24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332740" defTabSz="914400">
              <a:lnSpc>
                <a:spcPts val="2590"/>
              </a:lnSpc>
            </a:pP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different </a:t>
            </a:r>
            <a:r>
              <a:rPr sz="2400" spc="-10" dirty="0">
                <a:solidFill>
                  <a:prstClr val="black"/>
                </a:solidFill>
                <a:latin typeface="Tw Cen MT"/>
                <a:cs typeface="Tw Cen MT"/>
              </a:rPr>
              <a:t>product</a:t>
            </a:r>
            <a:r>
              <a:rPr sz="2400" spc="-6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functions)</a:t>
            </a:r>
            <a:r>
              <a:rPr lang="en-US" sz="2400" dirty="0">
                <a:solidFill>
                  <a:prstClr val="black"/>
                </a:solidFill>
                <a:latin typeface="Tw Cen MT"/>
                <a:cs typeface="Tw Cen MT"/>
              </a:rPr>
              <a:t>.</a:t>
            </a:r>
            <a:endParaRPr sz="2400" dirty="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934200" y="2057401"/>
            <a:ext cx="2743200" cy="27044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8940"/>
            <a:r>
              <a:rPr spc="-10" dirty="0"/>
              <a:t>Process</a:t>
            </a:r>
            <a:r>
              <a:rPr spc="-114" dirty="0"/>
              <a:t> </a:t>
            </a:r>
            <a:r>
              <a:rPr dirty="0"/>
              <a:t>Models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96313" y="1278891"/>
            <a:ext cx="6750050" cy="1203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/>
            <a:endParaRPr sz="12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988694" indent="-457200" defTabSz="914400">
              <a:spcBef>
                <a:spcPts val="780"/>
              </a:spcBef>
              <a:buClr>
                <a:srgbClr val="DC9E1F"/>
              </a:buClr>
              <a:buSzPct val="58333"/>
              <a:buFont typeface="Wingdings"/>
              <a:buChar char=""/>
              <a:tabLst>
                <a:tab pos="988694" algn="l"/>
                <a:tab pos="989330" algn="l"/>
              </a:tabLst>
            </a:pP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Different </a:t>
            </a:r>
            <a:r>
              <a:rPr sz="2400" spc="-10" dirty="0">
                <a:solidFill>
                  <a:prstClr val="black"/>
                </a:solidFill>
                <a:latin typeface="Tw Cen MT"/>
                <a:cs typeface="Tw Cen MT"/>
              </a:rPr>
              <a:t>process</a:t>
            </a:r>
            <a:r>
              <a:rPr sz="2400" spc="-6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models:</a:t>
            </a:r>
            <a:endParaRPr sz="24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331595" lvl="1" indent="-342900" defTabSz="914400">
              <a:spcBef>
                <a:spcPts val="1839"/>
              </a:spcBef>
              <a:buClr>
                <a:srgbClr val="7D96AC"/>
              </a:buClr>
              <a:buSzPct val="60000"/>
              <a:buFont typeface="Wingdings"/>
              <a:buChar char=""/>
              <a:tabLst>
                <a:tab pos="1331595" algn="l"/>
                <a:tab pos="1332230" algn="l"/>
              </a:tabLst>
            </a:pP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Linear sequential, </a:t>
            </a:r>
            <a:r>
              <a:rPr sz="2000" spc="-10" dirty="0">
                <a:solidFill>
                  <a:prstClr val="black"/>
                </a:solidFill>
                <a:latin typeface="Tw Cen MT"/>
                <a:cs typeface="Tw Cen MT"/>
              </a:rPr>
              <a:t>Prototyping, </a:t>
            </a:r>
            <a:r>
              <a:rPr sz="2000" spc="-30" dirty="0">
                <a:solidFill>
                  <a:prstClr val="black"/>
                </a:solidFill>
                <a:latin typeface="Tw Cen MT"/>
                <a:cs typeface="Tw Cen MT"/>
              </a:rPr>
              <a:t>RAD,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Spiral, Formal</a:t>
            </a:r>
            <a:r>
              <a:rPr sz="2000" spc="-13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…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44943" y="2698878"/>
            <a:ext cx="768985" cy="382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/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model</a:t>
            </a:r>
            <a:endParaRPr sz="240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22300" y="2698878"/>
            <a:ext cx="838200" cy="382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>
              <a:tabLst>
                <a:tab pos="436245" algn="l"/>
              </a:tabLst>
            </a:pPr>
            <a:r>
              <a:rPr lang="en-US" sz="2400" spc="-5" dirty="0">
                <a:solidFill>
                  <a:prstClr val="black"/>
                </a:solidFill>
                <a:latin typeface="Tw Cen MT"/>
                <a:cs typeface="Tw Cen MT"/>
              </a:rPr>
              <a:t>t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o</a:t>
            </a:r>
            <a:r>
              <a:rPr lang="en-US" sz="240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u</a:t>
            </a:r>
            <a:r>
              <a:rPr sz="2400" spc="5" dirty="0">
                <a:solidFill>
                  <a:prstClr val="black"/>
                </a:solidFill>
                <a:latin typeface="Tw Cen MT"/>
                <a:cs typeface="Tw Cen MT"/>
              </a:rPr>
              <a:t>s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215388" y="2753995"/>
            <a:ext cx="6064885" cy="604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0" marR="5080" indent="-457200" defTabSz="914400">
              <a:lnSpc>
                <a:spcPts val="2300"/>
              </a:lnSpc>
              <a:buClr>
                <a:srgbClr val="DC9E1F"/>
              </a:buClr>
              <a:buSzPct val="58333"/>
              <a:buFont typeface="Wingdings"/>
              <a:buChar char=""/>
              <a:tabLst>
                <a:tab pos="469900" algn="l"/>
                <a:tab pos="470534" algn="l"/>
                <a:tab pos="1478915" algn="l"/>
                <a:tab pos="2755900" algn="l"/>
                <a:tab pos="3474085" algn="l"/>
                <a:tab pos="4487545" algn="l"/>
                <a:tab pos="5384165" algn="l"/>
              </a:tabLst>
            </a:pP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P</a:t>
            </a:r>
            <a:r>
              <a:rPr sz="2400" spc="-45" dirty="0">
                <a:solidFill>
                  <a:prstClr val="black"/>
                </a:solidFill>
                <a:latin typeface="Tw Cen MT"/>
                <a:cs typeface="Tw Cen MT"/>
              </a:rPr>
              <a:t>r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oject	mana</a:t>
            </a:r>
            <a:r>
              <a:rPr sz="2400" spc="-50" dirty="0">
                <a:solidFill>
                  <a:prstClr val="black"/>
                </a:solidFill>
                <a:latin typeface="Tw Cen MT"/>
                <a:cs typeface="Tw Cen MT"/>
              </a:rPr>
              <a:t>g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er	</a:t>
            </a:r>
            <a:r>
              <a:rPr sz="2400" spc="40" dirty="0">
                <a:solidFill>
                  <a:prstClr val="black"/>
                </a:solidFill>
                <a:latin typeface="Tw Cen MT"/>
                <a:cs typeface="Tw Cen MT"/>
              </a:rPr>
              <a:t>m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u</a:t>
            </a:r>
            <a:r>
              <a:rPr sz="2400" spc="5" dirty="0">
                <a:solidFill>
                  <a:prstClr val="black"/>
                </a:solidFill>
                <a:latin typeface="Tw Cen MT"/>
                <a:cs typeface="Tw Cen MT"/>
              </a:rPr>
              <a:t>s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t	decide	</a:t>
            </a:r>
            <a:r>
              <a:rPr sz="2400" spc="5" dirty="0">
                <a:solidFill>
                  <a:prstClr val="black"/>
                </a:solidFill>
                <a:latin typeface="Tw Cen MT"/>
                <a:cs typeface="Tw Cen MT"/>
              </a:rPr>
              <a:t>a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b</a:t>
            </a:r>
            <a:r>
              <a:rPr sz="2400" spc="5" dirty="0">
                <a:solidFill>
                  <a:prstClr val="black"/>
                </a:solidFill>
                <a:latin typeface="Tw Cen MT"/>
                <a:cs typeface="Tw Cen MT"/>
              </a:rPr>
              <a:t>o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ut	depending</a:t>
            </a:r>
            <a:r>
              <a:rPr sz="2400" spc="-10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215387" y="3575177"/>
            <a:ext cx="6098540" cy="1637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2800" indent="-342900" defTabSz="914400">
              <a:lnSpc>
                <a:spcPts val="2160"/>
              </a:lnSpc>
              <a:buClr>
                <a:srgbClr val="7D96AC"/>
              </a:buClr>
              <a:buSzPct val="60000"/>
              <a:buFont typeface="Wingdings"/>
              <a:buChar char=""/>
              <a:tabLst>
                <a:tab pos="812800" algn="l"/>
                <a:tab pos="813435" algn="l"/>
              </a:tabLst>
            </a:pP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Customers who </a:t>
            </a:r>
            <a:r>
              <a:rPr sz="2000" spc="-10" dirty="0">
                <a:solidFill>
                  <a:prstClr val="black"/>
                </a:solidFill>
                <a:latin typeface="Tw Cen MT"/>
                <a:cs typeface="Tw Cen MT"/>
              </a:rPr>
              <a:t>have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requested the</a:t>
            </a:r>
            <a:r>
              <a:rPr sz="2000" spc="-14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product</a:t>
            </a:r>
            <a:endParaRPr sz="20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812800" indent="-342900" defTabSz="914400">
              <a:lnSpc>
                <a:spcPts val="1920"/>
              </a:lnSpc>
              <a:buClr>
                <a:srgbClr val="7D96AC"/>
              </a:buClr>
              <a:buSzPct val="60000"/>
              <a:buFont typeface="Wingdings"/>
              <a:buChar char=""/>
              <a:tabLst>
                <a:tab pos="812800" algn="l"/>
                <a:tab pos="813435" algn="l"/>
              </a:tabLst>
            </a:pPr>
            <a:r>
              <a:rPr sz="2000" spc="-20" dirty="0">
                <a:solidFill>
                  <a:prstClr val="black"/>
                </a:solidFill>
                <a:latin typeface="Tw Cen MT"/>
                <a:cs typeface="Tw Cen MT"/>
              </a:rPr>
              <a:t>People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who </a:t>
            </a:r>
            <a:r>
              <a:rPr sz="2000" spc="-10" dirty="0">
                <a:solidFill>
                  <a:prstClr val="black"/>
                </a:solidFill>
                <a:latin typeface="Tw Cen MT"/>
                <a:cs typeface="Tw Cen MT"/>
              </a:rPr>
              <a:t>would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work on</a:t>
            </a:r>
            <a:r>
              <a:rPr lang="en-US" sz="2000" dirty="0">
                <a:solidFill>
                  <a:prstClr val="black"/>
                </a:solidFill>
                <a:latin typeface="Tw Cen MT"/>
                <a:cs typeface="Tw Cen MT"/>
              </a:rPr>
              <a:t> the</a:t>
            </a:r>
            <a:r>
              <a:rPr sz="2000" spc="-8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project</a:t>
            </a:r>
            <a:endParaRPr sz="20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812800" indent="-342900" defTabSz="914400">
              <a:lnSpc>
                <a:spcPts val="1920"/>
              </a:lnSpc>
              <a:buClr>
                <a:srgbClr val="7D96AC"/>
              </a:buClr>
              <a:buSzPct val="60000"/>
              <a:buFont typeface="Wingdings"/>
              <a:buChar char=""/>
              <a:tabLst>
                <a:tab pos="812800" algn="l"/>
                <a:tab pos="813435" algn="l"/>
              </a:tabLst>
            </a:pP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Product</a:t>
            </a:r>
            <a:r>
              <a:rPr sz="2000" spc="-6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characteristics</a:t>
            </a:r>
          </a:p>
          <a:p>
            <a:pPr marL="812800" indent="-342900" defTabSz="914400">
              <a:lnSpc>
                <a:spcPts val="2160"/>
              </a:lnSpc>
              <a:buClr>
                <a:srgbClr val="7D96AC"/>
              </a:buClr>
              <a:buSzPct val="60000"/>
              <a:buFont typeface="Wingdings"/>
              <a:buChar char=""/>
              <a:tabLst>
                <a:tab pos="812800" algn="l"/>
                <a:tab pos="813435" algn="l"/>
              </a:tabLst>
            </a:pP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Project</a:t>
            </a:r>
            <a:r>
              <a:rPr sz="2000" spc="-8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environment</a:t>
            </a:r>
            <a:endParaRPr sz="20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469900" indent="-457200" defTabSz="914400">
              <a:spcBef>
                <a:spcPts val="1715"/>
              </a:spcBef>
              <a:buClr>
                <a:srgbClr val="DC9E1F"/>
              </a:buClr>
              <a:buSzPct val="60416"/>
              <a:buFont typeface="Wingdings"/>
              <a:buChar char=""/>
              <a:tabLst>
                <a:tab pos="469900" algn="l"/>
                <a:tab pos="470534" algn="l"/>
              </a:tabLst>
            </a:pPr>
            <a:r>
              <a:rPr sz="2400" spc="-10" dirty="0">
                <a:solidFill>
                  <a:prstClr val="black"/>
                </a:solidFill>
                <a:latin typeface="Tw Cen MT"/>
                <a:cs typeface="Tw Cen MT"/>
              </a:rPr>
              <a:t>Project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planning begins once model is</a:t>
            </a:r>
            <a:r>
              <a:rPr sz="2400" spc="-9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selected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8940"/>
            <a:r>
              <a:rPr spc="-10" dirty="0"/>
              <a:t>Process</a:t>
            </a:r>
            <a:r>
              <a:rPr spc="-105" dirty="0"/>
              <a:t> </a:t>
            </a:r>
            <a:r>
              <a:rPr dirty="0"/>
              <a:t>Decomposition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15388" y="1553210"/>
            <a:ext cx="5208905" cy="382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0" indent="-457200" defTabSz="914400">
              <a:buClr>
                <a:srgbClr val="CC8E5F"/>
              </a:buClr>
              <a:buSzPct val="58333"/>
              <a:buFont typeface="Wingdings"/>
              <a:buChar char=""/>
              <a:tabLst>
                <a:tab pos="469900" algn="l"/>
                <a:tab pos="470534" algn="l"/>
                <a:tab pos="1097915" algn="l"/>
                <a:tab pos="1809114" algn="l"/>
                <a:tab pos="2184400" algn="l"/>
                <a:tab pos="3281679" algn="l"/>
                <a:tab pos="3656965" algn="l"/>
              </a:tabLst>
            </a:pPr>
            <a:r>
              <a:rPr sz="2400" spc="5" dirty="0">
                <a:solidFill>
                  <a:prstClr val="black"/>
                </a:solidFill>
                <a:latin typeface="Tw Cen MT"/>
                <a:cs typeface="Tw Cen MT"/>
              </a:rPr>
              <a:t>Th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e	</a:t>
            </a:r>
            <a:r>
              <a:rPr sz="2400" spc="-100" dirty="0">
                <a:solidFill>
                  <a:prstClr val="black"/>
                </a:solidFill>
                <a:latin typeface="Tw Cen MT"/>
                <a:cs typeface="Tw Cen MT"/>
              </a:rPr>
              <a:t>w</a:t>
            </a:r>
            <a:r>
              <a:rPr sz="2400" spc="-50" dirty="0">
                <a:solidFill>
                  <a:prstClr val="black"/>
                </a:solidFill>
                <a:latin typeface="Tw Cen MT"/>
                <a:cs typeface="Tw Cen MT"/>
              </a:rPr>
              <a:t>a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y	a	p</a:t>
            </a:r>
            <a:r>
              <a:rPr sz="2400" spc="-50" dirty="0">
                <a:solidFill>
                  <a:prstClr val="black"/>
                </a:solidFill>
                <a:latin typeface="Tw Cen MT"/>
                <a:cs typeface="Tw Cen MT"/>
              </a:rPr>
              <a:t>r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oc</a:t>
            </a:r>
            <a:r>
              <a:rPr sz="2400" spc="5" dirty="0">
                <a:solidFill>
                  <a:prstClr val="black"/>
                </a:solidFill>
                <a:latin typeface="Tw Cen MT"/>
                <a:cs typeface="Tw Cen MT"/>
              </a:rPr>
              <a:t>e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ss	is	decompo</a:t>
            </a:r>
            <a:r>
              <a:rPr sz="2400" spc="10" dirty="0">
                <a:solidFill>
                  <a:prstClr val="black"/>
                </a:solidFill>
                <a:latin typeface="Tw Cen MT"/>
                <a:cs typeface="Tw Cen MT"/>
              </a:rPr>
              <a:t>s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ed</a:t>
            </a:r>
            <a:endParaRPr sz="240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03997" y="1553210"/>
            <a:ext cx="1071880" cy="382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/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depen</a:t>
            </a:r>
            <a:r>
              <a:rPr sz="2400" spc="5" dirty="0">
                <a:solidFill>
                  <a:prstClr val="black"/>
                </a:solidFill>
                <a:latin typeface="Tw Cen MT"/>
                <a:cs typeface="Tw Cen MT"/>
              </a:rPr>
              <a:t>d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s</a:t>
            </a:r>
            <a:endParaRPr sz="240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56727" y="1553210"/>
            <a:ext cx="1354455" cy="382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>
              <a:tabLst>
                <a:tab pos="506095" algn="l"/>
              </a:tabLst>
            </a:pP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on	p</a:t>
            </a:r>
            <a:r>
              <a:rPr sz="2400" spc="-50" dirty="0">
                <a:solidFill>
                  <a:prstClr val="black"/>
                </a:solidFill>
                <a:latin typeface="Tw Cen MT"/>
                <a:cs typeface="Tw Cen MT"/>
              </a:rPr>
              <a:t>r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oje</a:t>
            </a:r>
            <a:r>
              <a:rPr sz="2400" spc="-10" dirty="0">
                <a:solidFill>
                  <a:prstClr val="black"/>
                </a:solidFill>
                <a:latin typeface="Tw Cen MT"/>
                <a:cs typeface="Tw Cen MT"/>
              </a:rPr>
              <a:t>c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t</a:t>
            </a:r>
            <a:endParaRPr sz="240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58000" y="2456473"/>
            <a:ext cx="2919730" cy="382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>
              <a:tabLst>
                <a:tab pos="775970" algn="l"/>
                <a:tab pos="1536700" algn="l"/>
                <a:tab pos="2705735" algn="l"/>
              </a:tabLst>
            </a:pPr>
            <a:r>
              <a:rPr sz="2400" spc="-55" dirty="0">
                <a:solidFill>
                  <a:prstClr val="black"/>
                </a:solidFill>
                <a:latin typeface="Tw Cen MT"/>
                <a:cs typeface="Tw Cen MT"/>
              </a:rPr>
              <a:t>w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o</a:t>
            </a:r>
            <a:r>
              <a:rPr sz="2400" spc="55" dirty="0">
                <a:solidFill>
                  <a:prstClr val="black"/>
                </a:solidFill>
                <a:latin typeface="Tw Cen MT"/>
                <a:cs typeface="Tw Cen MT"/>
              </a:rPr>
              <a:t>r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k	tas</a:t>
            </a:r>
            <a:r>
              <a:rPr sz="2400" spc="5" dirty="0">
                <a:solidFill>
                  <a:prstClr val="black"/>
                </a:solidFill>
                <a:latin typeface="Tw Cen MT"/>
                <a:cs typeface="Tw Cen MT"/>
              </a:rPr>
              <a:t>k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s	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Tw Cen MT"/>
                <a:cs typeface="Tw Cen MT"/>
              </a:rPr>
              <a:t>n</a:t>
            </a:r>
            <a:r>
              <a:rPr sz="2400" spc="-45" dirty="0">
                <a:solidFill>
                  <a:prstClr val="black"/>
                </a:solidFill>
                <a:latin typeface="Tw Cen MT"/>
                <a:cs typeface="Tw Cen MT"/>
              </a:rPr>
              <a:t>v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ol</a:t>
            </a:r>
            <a:r>
              <a:rPr sz="2400" spc="-40" dirty="0">
                <a:solidFill>
                  <a:prstClr val="black"/>
                </a:solidFill>
                <a:latin typeface="Tw Cen MT"/>
                <a:cs typeface="Tw Cen MT"/>
              </a:rPr>
              <a:t>v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ed	in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215388" y="1919352"/>
            <a:ext cx="4921885" cy="1236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0" defTabSz="914400"/>
            <a:r>
              <a:rPr lang="en-US" sz="2400" spc="-10" dirty="0">
                <a:solidFill>
                  <a:prstClr val="black"/>
                </a:solidFill>
                <a:latin typeface="Tw Cen MT"/>
                <a:cs typeface="Tw Cen MT"/>
              </a:rPr>
              <a:t>C</a:t>
            </a:r>
            <a:r>
              <a:rPr sz="2400" spc="-10" dirty="0">
                <a:solidFill>
                  <a:prstClr val="black"/>
                </a:solidFill>
                <a:latin typeface="Tw Cen MT"/>
                <a:cs typeface="Tw Cen MT"/>
              </a:rPr>
              <a:t>omplexity</a:t>
            </a:r>
            <a:r>
              <a:rPr lang="en-US" sz="2400" spc="-10" dirty="0">
                <a:solidFill>
                  <a:prstClr val="black"/>
                </a:solidFill>
                <a:latin typeface="Tw Cen MT"/>
                <a:cs typeface="Tw Cen MT"/>
              </a:rPr>
              <a:t>.</a:t>
            </a:r>
            <a:endParaRPr sz="24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469900" marR="5080" indent="-457200" defTabSz="914400">
              <a:spcBef>
                <a:spcPts val="960"/>
              </a:spcBef>
              <a:buClr>
                <a:srgbClr val="CC8E5F"/>
              </a:buClr>
              <a:buSzPct val="58333"/>
              <a:buFont typeface="Wingdings"/>
              <a:buChar char=""/>
              <a:tabLst>
                <a:tab pos="469900" algn="l"/>
                <a:tab pos="470534" algn="l"/>
                <a:tab pos="2376805" algn="l"/>
                <a:tab pos="3477260" algn="l"/>
                <a:tab pos="4653915" algn="l"/>
              </a:tabLst>
            </a:pP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Decompos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itio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n	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Tw Cen MT"/>
                <a:cs typeface="Tw Cen MT"/>
              </a:rPr>
              <a:t>n</a:t>
            </a:r>
            <a:r>
              <a:rPr sz="2400" spc="-45" dirty="0">
                <a:solidFill>
                  <a:prstClr val="black"/>
                </a:solidFill>
                <a:latin typeface="Tw Cen MT"/>
                <a:cs typeface="Tw Cen MT"/>
              </a:rPr>
              <a:t>v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o</a:t>
            </a:r>
            <a:r>
              <a:rPr sz="2400" spc="-10" dirty="0">
                <a:solidFill>
                  <a:prstClr val="black"/>
                </a:solidFill>
                <a:latin typeface="Tw Cen MT"/>
                <a:cs typeface="Tw Cen MT"/>
              </a:rPr>
              <a:t>l</a:t>
            </a:r>
            <a:r>
              <a:rPr sz="2400" spc="-45" dirty="0">
                <a:solidFill>
                  <a:prstClr val="black"/>
                </a:solidFill>
                <a:latin typeface="Tw Cen MT"/>
                <a:cs typeface="Tw Cen MT"/>
              </a:rPr>
              <a:t>v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es	o</a:t>
            </a:r>
            <a:r>
              <a:rPr sz="2400" spc="5" dirty="0">
                <a:solidFill>
                  <a:prstClr val="black"/>
                </a:solidFill>
                <a:latin typeface="Tw Cen MT"/>
                <a:cs typeface="Tw Cen MT"/>
              </a:rPr>
              <a:t>u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tlining	</a:t>
            </a:r>
            <a:r>
              <a:rPr sz="2400" spc="20" dirty="0">
                <a:solidFill>
                  <a:prstClr val="black"/>
                </a:solidFill>
                <a:latin typeface="Tw Cen MT"/>
                <a:cs typeface="Tw Cen MT"/>
              </a:rPr>
              <a:t>each </a:t>
            </a:r>
            <a:r>
              <a:rPr sz="2400" spc="-10" dirty="0">
                <a:solidFill>
                  <a:prstClr val="black"/>
                </a:solidFill>
                <a:latin typeface="Tw Cen MT"/>
                <a:cs typeface="Tw Cen MT"/>
              </a:rPr>
              <a:t>process</a:t>
            </a:r>
            <a:r>
              <a:rPr lang="en-US" sz="2400" spc="-10" dirty="0">
                <a:solidFill>
                  <a:prstClr val="black"/>
                </a:solidFill>
                <a:latin typeface="Tw Cen MT"/>
                <a:cs typeface="Tw Cen MT"/>
              </a:rPr>
              <a:t> of</a:t>
            </a:r>
            <a:r>
              <a:rPr sz="2400" spc="-10" dirty="0">
                <a:solidFill>
                  <a:prstClr val="black"/>
                </a:solidFill>
                <a:latin typeface="Tw Cen MT"/>
                <a:cs typeface="Tw Cen MT"/>
              </a:rPr>
              <a:t> framework</a:t>
            </a:r>
            <a:r>
              <a:rPr sz="2400" spc="-4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activity</a:t>
            </a:r>
            <a:r>
              <a:rPr lang="en-US" sz="2400" spc="-5" dirty="0">
                <a:solidFill>
                  <a:prstClr val="black"/>
                </a:solidFill>
                <a:latin typeface="Tw Cen MT"/>
                <a:cs typeface="Tw Cen MT"/>
              </a:rPr>
              <a:t>.</a:t>
            </a:r>
            <a:endParaRPr sz="2400" dirty="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15388" y="3260471"/>
            <a:ext cx="7996555" cy="2340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0" marR="5080" indent="-457200" defTabSz="914400">
              <a:buClr>
                <a:srgbClr val="CC8E5F"/>
              </a:buClr>
              <a:buSzPct val="58333"/>
              <a:buFont typeface="Wingdings"/>
              <a:buChar char=""/>
              <a:tabLst>
                <a:tab pos="469900" algn="l"/>
                <a:tab pos="470534" algn="l"/>
                <a:tab pos="2030730" algn="l"/>
                <a:tab pos="4353560" algn="l"/>
              </a:tabLst>
            </a:pP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Example</a:t>
            </a:r>
            <a:r>
              <a:rPr sz="2400" spc="31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of	decomposition</a:t>
            </a:r>
            <a:r>
              <a:rPr sz="2400" spc="32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spc="-15" dirty="0">
                <a:solidFill>
                  <a:prstClr val="black"/>
                </a:solidFill>
                <a:latin typeface="Tw Cen MT"/>
                <a:cs typeface="Tw Cen MT"/>
              </a:rPr>
              <a:t>for	</a:t>
            </a:r>
            <a:r>
              <a:rPr lang="en-US" sz="2400" spc="-155" dirty="0">
                <a:solidFill>
                  <a:prstClr val="black"/>
                </a:solidFill>
                <a:latin typeface="Tw Cen MT"/>
                <a:cs typeface="Tw Cen MT"/>
              </a:rPr>
              <a:t>"</a:t>
            </a:r>
            <a:r>
              <a:rPr sz="2400" spc="-155" dirty="0">
                <a:solidFill>
                  <a:prstClr val="black"/>
                </a:solidFill>
                <a:latin typeface="Tw Cen MT"/>
                <a:cs typeface="Tw Cen MT"/>
              </a:rPr>
              <a:t>communication</a:t>
            </a:r>
            <a:r>
              <a:rPr lang="en-US" sz="2400" spc="-155" dirty="0">
                <a:solidFill>
                  <a:prstClr val="black"/>
                </a:solidFill>
                <a:latin typeface="Tw Cen MT"/>
                <a:cs typeface="Tw Cen MT"/>
              </a:rPr>
              <a:t>"</a:t>
            </a:r>
            <a:r>
              <a:rPr sz="2400" spc="-155" dirty="0">
                <a:solidFill>
                  <a:prstClr val="black"/>
                </a:solidFill>
                <a:latin typeface="Tw Cen MT"/>
                <a:cs typeface="Tw Cen MT"/>
              </a:rPr>
              <a:t>  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activity</a:t>
            </a:r>
            <a:r>
              <a:rPr sz="2400" spc="27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spc="-15" dirty="0">
                <a:solidFill>
                  <a:prstClr val="black"/>
                </a:solidFill>
                <a:latin typeface="Tw Cen MT"/>
                <a:cs typeface="Tw Cen MT"/>
              </a:rPr>
              <a:t>for</a:t>
            </a:r>
            <a:r>
              <a:rPr sz="2400" spc="31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a  simple</a:t>
            </a:r>
            <a:r>
              <a:rPr sz="2400" spc="-8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spc="-10" dirty="0">
                <a:solidFill>
                  <a:prstClr val="black"/>
                </a:solidFill>
                <a:latin typeface="Tw Cen MT"/>
                <a:cs typeface="Tw Cen MT"/>
              </a:rPr>
              <a:t>project:</a:t>
            </a:r>
            <a:endParaRPr sz="24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defTabSz="914400">
              <a:spcBef>
                <a:spcPts val="35"/>
              </a:spcBef>
              <a:buClr>
                <a:srgbClr val="CC8E5F"/>
              </a:buClr>
              <a:buFont typeface="Wingdings"/>
              <a:buChar char=""/>
            </a:pPr>
            <a:endParaRPr sz="21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12800" lvl="1" indent="-342900" defTabSz="914400">
              <a:lnSpc>
                <a:spcPts val="2160"/>
              </a:lnSpc>
              <a:buClr>
                <a:srgbClr val="7D96AC"/>
              </a:buClr>
              <a:buSzPct val="60000"/>
              <a:buFont typeface="Wingdings"/>
              <a:buChar char=""/>
              <a:tabLst>
                <a:tab pos="812800" algn="l"/>
                <a:tab pos="813435" algn="l"/>
              </a:tabLst>
            </a:pP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Develop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a list of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clarification</a:t>
            </a:r>
            <a:r>
              <a:rPr sz="2000" spc="-5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issues</a:t>
            </a:r>
          </a:p>
          <a:p>
            <a:pPr marL="812800" lvl="1" indent="-342900" defTabSz="914400">
              <a:lnSpc>
                <a:spcPts val="1920"/>
              </a:lnSpc>
              <a:buClr>
                <a:srgbClr val="7D96AC"/>
              </a:buClr>
              <a:buSzPct val="60000"/>
              <a:buFont typeface="Wingdings"/>
              <a:buChar char=""/>
              <a:tabLst>
                <a:tab pos="812800" algn="l"/>
                <a:tab pos="813435" algn="l"/>
              </a:tabLst>
            </a:pPr>
            <a:r>
              <a:rPr sz="2000" spc="5" dirty="0">
                <a:solidFill>
                  <a:prstClr val="black"/>
                </a:solidFill>
                <a:latin typeface="Tw Cen MT"/>
                <a:cs typeface="Tw Cen MT"/>
              </a:rPr>
              <a:t>Meet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with customer to discuss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clarification</a:t>
            </a:r>
            <a:r>
              <a:rPr sz="2000" spc="-14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issues</a:t>
            </a:r>
          </a:p>
          <a:p>
            <a:pPr marL="812800" lvl="1" indent="-342900" defTabSz="914400">
              <a:lnSpc>
                <a:spcPts val="1920"/>
              </a:lnSpc>
              <a:buClr>
                <a:srgbClr val="7D96AC"/>
              </a:buClr>
              <a:buSzPct val="60000"/>
              <a:buFont typeface="Wingdings"/>
              <a:buChar char=""/>
              <a:tabLst>
                <a:tab pos="812800" algn="l"/>
                <a:tab pos="813435" algn="l"/>
              </a:tabLst>
            </a:pP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Jointly develop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statement </a:t>
            </a:r>
            <a:r>
              <a:rPr sz="2000" spc="5" dirty="0">
                <a:solidFill>
                  <a:prstClr val="black"/>
                </a:solidFill>
                <a:latin typeface="Tw Cen MT"/>
                <a:cs typeface="Tw Cen MT"/>
              </a:rPr>
              <a:t>of</a:t>
            </a:r>
            <a:r>
              <a:rPr sz="2000" spc="-7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scope</a:t>
            </a:r>
          </a:p>
          <a:p>
            <a:pPr marL="812800" lvl="1" indent="-342900" defTabSz="914400">
              <a:lnSpc>
                <a:spcPts val="1920"/>
              </a:lnSpc>
              <a:buClr>
                <a:srgbClr val="7D96AC"/>
              </a:buClr>
              <a:buSzPct val="60000"/>
              <a:buFont typeface="Wingdings"/>
              <a:buChar char=""/>
              <a:tabLst>
                <a:tab pos="812800" algn="l"/>
                <a:tab pos="813435" algn="l"/>
              </a:tabLst>
            </a:pPr>
            <a:r>
              <a:rPr sz="2000" spc="-15" dirty="0">
                <a:solidFill>
                  <a:prstClr val="black"/>
                </a:solidFill>
                <a:latin typeface="Tw Cen MT"/>
                <a:cs typeface="Tw Cen MT"/>
              </a:rPr>
              <a:t>Review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the statement of scope with all</a:t>
            </a:r>
            <a:r>
              <a:rPr sz="2000" spc="-7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spc="5" dirty="0">
                <a:solidFill>
                  <a:prstClr val="black"/>
                </a:solidFill>
                <a:latin typeface="Tw Cen MT"/>
                <a:cs typeface="Tw Cen MT"/>
              </a:rPr>
              <a:t>concerned</a:t>
            </a:r>
            <a:endParaRPr sz="20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812800" lvl="1" indent="-342900" defTabSz="914400">
              <a:lnSpc>
                <a:spcPts val="2160"/>
              </a:lnSpc>
              <a:buClr>
                <a:srgbClr val="7D96AC"/>
              </a:buClr>
              <a:buSzPct val="60000"/>
              <a:buFont typeface="Wingdings"/>
              <a:buChar char=""/>
              <a:tabLst>
                <a:tab pos="812800" algn="l"/>
                <a:tab pos="813435" algn="l"/>
              </a:tabLst>
            </a:pP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Modify the statement of scope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i</a:t>
            </a:r>
            <a:r>
              <a:rPr lang="en-US" sz="2000" spc="-5" dirty="0">
                <a:solidFill>
                  <a:prstClr val="black"/>
                </a:solidFill>
                <a:latin typeface="Tw Cen MT"/>
                <a:cs typeface="Tw Cen MT"/>
              </a:rPr>
              <a:t>f</a:t>
            </a:r>
            <a:r>
              <a:rPr sz="2000" spc="-7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required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0"/>
            <a:ext cx="9144000" cy="1524000"/>
          </a:xfrm>
          <a:custGeom>
            <a:avLst/>
            <a:gdLst/>
            <a:ahLst/>
            <a:cxnLst/>
            <a:rect l="l" t="t" r="r" b="b"/>
            <a:pathLst>
              <a:path w="9144000" h="1524000">
                <a:moveTo>
                  <a:pt x="0" y="1524000"/>
                </a:moveTo>
                <a:lnTo>
                  <a:pt x="9144000" y="1524000"/>
                </a:lnTo>
                <a:lnTo>
                  <a:pt x="9144000" y="0"/>
                </a:lnTo>
                <a:lnTo>
                  <a:pt x="0" y="0"/>
                </a:lnTo>
                <a:lnTo>
                  <a:pt x="0" y="1524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24000" y="2667000"/>
            <a:ext cx="9144000" cy="4191000"/>
          </a:xfrm>
          <a:custGeom>
            <a:avLst/>
            <a:gdLst/>
            <a:ahLst/>
            <a:cxnLst/>
            <a:rect l="l" t="t" r="r" b="b"/>
            <a:pathLst>
              <a:path w="9144000" h="4191000">
                <a:moveTo>
                  <a:pt x="0" y="4190999"/>
                </a:moveTo>
                <a:lnTo>
                  <a:pt x="9144000" y="4190999"/>
                </a:lnTo>
                <a:lnTo>
                  <a:pt x="9144000" y="0"/>
                </a:lnTo>
                <a:lnTo>
                  <a:pt x="0" y="0"/>
                </a:lnTo>
                <a:lnTo>
                  <a:pt x="0" y="4190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24000" y="152400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0" y="1143000"/>
                </a:moveTo>
                <a:lnTo>
                  <a:pt x="9144000" y="1143000"/>
                </a:lnTo>
                <a:lnTo>
                  <a:pt x="9144000" y="0"/>
                </a:lnTo>
                <a:lnTo>
                  <a:pt x="0" y="0"/>
                </a:lnTo>
                <a:lnTo>
                  <a:pt x="0" y="1143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24000" y="1600200"/>
            <a:ext cx="1295400" cy="990600"/>
          </a:xfrm>
          <a:custGeom>
            <a:avLst/>
            <a:gdLst/>
            <a:ahLst/>
            <a:cxnLst/>
            <a:rect l="l" t="t" r="r" b="b"/>
            <a:pathLst>
              <a:path w="1295400" h="990600">
                <a:moveTo>
                  <a:pt x="0" y="990600"/>
                </a:moveTo>
                <a:lnTo>
                  <a:pt x="1295400" y="990600"/>
                </a:lnTo>
                <a:lnTo>
                  <a:pt x="1295400" y="0"/>
                </a:lnTo>
                <a:lnTo>
                  <a:pt x="0" y="0"/>
                </a:lnTo>
                <a:lnTo>
                  <a:pt x="0" y="990600"/>
                </a:lnTo>
                <a:close/>
              </a:path>
            </a:pathLst>
          </a:custGeom>
          <a:solidFill>
            <a:srgbClr val="CC8E5F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895600" y="1600200"/>
            <a:ext cx="7772400" cy="990600"/>
          </a:xfrm>
          <a:custGeom>
            <a:avLst/>
            <a:gdLst/>
            <a:ahLst/>
            <a:cxnLst/>
            <a:rect l="l" t="t" r="r" b="b"/>
            <a:pathLst>
              <a:path w="7772400" h="990600">
                <a:moveTo>
                  <a:pt x="0" y="990600"/>
                </a:moveTo>
                <a:lnTo>
                  <a:pt x="7772400" y="990600"/>
                </a:lnTo>
                <a:lnTo>
                  <a:pt x="7772400" y="0"/>
                </a:lnTo>
                <a:lnTo>
                  <a:pt x="0" y="0"/>
                </a:lnTo>
                <a:lnTo>
                  <a:pt x="0" y="990600"/>
                </a:lnTo>
                <a:close/>
              </a:path>
            </a:pathLst>
          </a:custGeom>
          <a:solidFill>
            <a:srgbClr val="7D96AC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974594" y="1729360"/>
            <a:ext cx="2936240" cy="691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dirty="0">
                <a:solidFill>
                  <a:srgbClr val="FFFFFF"/>
                </a:solidFill>
              </a:rPr>
              <a:t>The </a:t>
            </a:r>
            <a:r>
              <a:rPr spc="-10" dirty="0">
                <a:solidFill>
                  <a:srgbClr val="FFFFFF"/>
                </a:solidFill>
              </a:rPr>
              <a:t>Project</a:t>
            </a:r>
            <a:r>
              <a:rPr spc="-140" dirty="0">
                <a:solidFill>
                  <a:srgbClr val="FFFFFF"/>
                </a:solidFill>
              </a:rPr>
              <a:t> </a:t>
            </a:r>
            <a:r>
              <a:rPr sz="2400" dirty="0">
                <a:solidFill>
                  <a:srgbClr val="FFFFFF"/>
                </a:solidFill>
              </a:rPr>
              <a:t>[1]</a:t>
            </a:r>
            <a:endParaRPr sz="2400"/>
          </a:p>
        </p:txBody>
      </p:sp>
      <p:sp>
        <p:nvSpPr>
          <p:cNvPr id="9" name="object 9"/>
          <p:cNvSpPr txBox="1"/>
          <p:nvPr/>
        </p:nvSpPr>
        <p:spPr>
          <a:xfrm>
            <a:off x="2974595" y="3562984"/>
            <a:ext cx="3007995" cy="19236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 defTabSz="914400">
              <a:buClr>
                <a:srgbClr val="CC8E5F"/>
              </a:buClr>
              <a:buSzPct val="60000"/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sz="2000" spc="-5" dirty="0">
                <a:solidFill>
                  <a:srgbClr val="FFFFFF"/>
                </a:solidFill>
                <a:latin typeface="Tw Cen MT"/>
                <a:cs typeface="Tw Cen MT"/>
              </a:rPr>
              <a:t>Project</a:t>
            </a:r>
            <a:endParaRPr sz="2000">
              <a:solidFill>
                <a:prstClr val="black"/>
              </a:solidFill>
              <a:latin typeface="Tw Cen MT"/>
              <a:cs typeface="Tw Cen MT"/>
            </a:endParaRPr>
          </a:p>
          <a:p>
            <a:pPr defTabSz="914400">
              <a:buClr>
                <a:srgbClr val="CC8E5F"/>
              </a:buClr>
              <a:buFont typeface="Wingdings"/>
              <a:buChar char=""/>
            </a:pPr>
            <a:endParaRPr sz="2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55600" indent="-342900" defTabSz="914400">
              <a:spcBef>
                <a:spcPts val="1505"/>
              </a:spcBef>
              <a:buClr>
                <a:srgbClr val="CC8E5F"/>
              </a:buClr>
              <a:buSzPct val="60000"/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sz="2000" dirty="0">
                <a:solidFill>
                  <a:srgbClr val="FFFFFF"/>
                </a:solidFill>
                <a:latin typeface="Tw Cen MT"/>
                <a:cs typeface="Tw Cen MT"/>
              </a:rPr>
              <a:t>Signs of </a:t>
            </a:r>
            <a:r>
              <a:rPr sz="2000" spc="-5" dirty="0">
                <a:solidFill>
                  <a:srgbClr val="FFFFFF"/>
                </a:solidFill>
                <a:latin typeface="Tw Cen MT"/>
                <a:cs typeface="Tw Cen MT"/>
              </a:rPr>
              <a:t>Projects</a:t>
            </a:r>
            <a:r>
              <a:rPr sz="2000" spc="-80" dirty="0">
                <a:solidFill>
                  <a:srgbClr val="FFFFFF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FFFFFF"/>
                </a:solidFill>
                <a:latin typeface="Tw Cen MT"/>
                <a:cs typeface="Tw Cen MT"/>
              </a:rPr>
              <a:t>Risk</a:t>
            </a:r>
            <a:endParaRPr sz="2000">
              <a:solidFill>
                <a:prstClr val="black"/>
              </a:solidFill>
              <a:latin typeface="Tw Cen MT"/>
              <a:cs typeface="Tw Cen MT"/>
            </a:endParaRPr>
          </a:p>
          <a:p>
            <a:pPr defTabSz="914400">
              <a:buClr>
                <a:srgbClr val="CC8E5F"/>
              </a:buClr>
              <a:buFont typeface="Wingdings"/>
              <a:buChar char=""/>
            </a:pPr>
            <a:endParaRPr sz="2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55600" indent="-342900" defTabSz="914400">
              <a:spcBef>
                <a:spcPts val="1495"/>
              </a:spcBef>
              <a:buClr>
                <a:srgbClr val="CC8E5F"/>
              </a:buClr>
              <a:buSzPct val="60000"/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sz="2000" spc="-20" dirty="0">
                <a:solidFill>
                  <a:srgbClr val="FFFFFF"/>
                </a:solidFill>
                <a:latin typeface="Tw Cen MT"/>
                <a:cs typeface="Tw Cen MT"/>
              </a:rPr>
              <a:t>How </a:t>
            </a:r>
            <a:r>
              <a:rPr sz="2000" spc="-5" dirty="0">
                <a:solidFill>
                  <a:srgbClr val="FFFFFF"/>
                </a:solidFill>
                <a:latin typeface="Tw Cen MT"/>
                <a:cs typeface="Tw Cen MT"/>
              </a:rPr>
              <a:t>to </a:t>
            </a:r>
            <a:r>
              <a:rPr sz="2000" spc="-20" dirty="0">
                <a:solidFill>
                  <a:srgbClr val="FFFFFF"/>
                </a:solidFill>
                <a:latin typeface="Tw Cen MT"/>
                <a:cs typeface="Tw Cen MT"/>
              </a:rPr>
              <a:t>Avoid </a:t>
            </a:r>
            <a:r>
              <a:rPr sz="2000" spc="-5" dirty="0">
                <a:solidFill>
                  <a:srgbClr val="FFFFFF"/>
                </a:solidFill>
                <a:latin typeface="Tw Cen MT"/>
                <a:cs typeface="Tw Cen MT"/>
              </a:rPr>
              <a:t>Project</a:t>
            </a:r>
            <a:r>
              <a:rPr sz="2000" spc="-85" dirty="0">
                <a:solidFill>
                  <a:srgbClr val="FFFFFF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FFFFFF"/>
                </a:solidFill>
                <a:latin typeface="Tw Cen MT"/>
                <a:cs typeface="Tw Cen MT"/>
              </a:rPr>
              <a:t>Risks</a:t>
            </a:r>
            <a:endParaRPr sz="200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239001" y="2987421"/>
            <a:ext cx="3057525" cy="301675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2115"/>
            <a:r>
              <a:rPr dirty="0"/>
              <a:t>The</a:t>
            </a:r>
            <a:r>
              <a:rPr spc="-90" dirty="0"/>
              <a:t> </a:t>
            </a:r>
            <a:r>
              <a:rPr spc="-10" dirty="0"/>
              <a:t>Projects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15387" y="1553210"/>
            <a:ext cx="4028440" cy="382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2740" indent="-320040" defTabSz="914400">
              <a:buClr>
                <a:srgbClr val="CC8E5F"/>
              </a:buClr>
              <a:buSzPct val="58333"/>
              <a:buFont typeface="Wingdings"/>
              <a:buChar char=""/>
              <a:tabLst>
                <a:tab pos="332740" algn="l"/>
                <a:tab pos="333375" algn="l"/>
                <a:tab pos="1001394" algn="l"/>
                <a:tab pos="2301875" algn="l"/>
                <a:tab pos="3487420" algn="l"/>
              </a:tabLst>
            </a:pPr>
            <a:r>
              <a:rPr sz="2400" spc="5" dirty="0">
                <a:solidFill>
                  <a:prstClr val="black"/>
                </a:solidFill>
                <a:latin typeface="Tw Cen MT"/>
                <a:cs typeface="Tw Cen MT"/>
              </a:rPr>
              <a:t>Th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e	soft</a:t>
            </a:r>
            <a:r>
              <a:rPr sz="2400" spc="-100" dirty="0">
                <a:solidFill>
                  <a:prstClr val="black"/>
                </a:solidFill>
                <a:latin typeface="Tw Cen MT"/>
                <a:cs typeface="Tw Cen MT"/>
              </a:rPr>
              <a:t>w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are	p</a:t>
            </a:r>
            <a:r>
              <a:rPr sz="2400" spc="-50" dirty="0">
                <a:solidFill>
                  <a:prstClr val="black"/>
                </a:solidFill>
                <a:latin typeface="Tw Cen MT"/>
                <a:cs typeface="Tw Cen MT"/>
              </a:rPr>
              <a:t>r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ojects	</a:t>
            </a:r>
            <a:r>
              <a:rPr sz="2400" spc="40" dirty="0">
                <a:solidFill>
                  <a:prstClr val="black"/>
                </a:solidFill>
                <a:latin typeface="Tw Cen MT"/>
                <a:cs typeface="Tw Cen MT"/>
              </a:rPr>
              <a:t>m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u</a:t>
            </a:r>
            <a:r>
              <a:rPr sz="2400" spc="5" dirty="0">
                <a:solidFill>
                  <a:prstClr val="black"/>
                </a:solidFill>
                <a:latin typeface="Tw Cen MT"/>
                <a:cs typeface="Tw Cen MT"/>
              </a:rPr>
              <a:t>s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t</a:t>
            </a:r>
            <a:endParaRPr sz="240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66713" y="1553210"/>
            <a:ext cx="1587500" cy="382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>
              <a:tabLst>
                <a:tab pos="582295" algn="l"/>
              </a:tabLst>
            </a:pP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b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e	plan</a:t>
            </a:r>
            <a:r>
              <a:rPr sz="2400" spc="5" dirty="0">
                <a:solidFill>
                  <a:prstClr val="black"/>
                </a:solidFill>
                <a:latin typeface="Tw Cen MT"/>
                <a:cs typeface="Tw Cen MT"/>
              </a:rPr>
              <a:t>n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ed</a:t>
            </a:r>
            <a:endParaRPr sz="240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77607" y="1553210"/>
            <a:ext cx="1933575" cy="382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>
              <a:tabLst>
                <a:tab pos="730250" algn="l"/>
              </a:tabLst>
            </a:pP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and	co</a:t>
            </a:r>
            <a:r>
              <a:rPr sz="2400" spc="5" dirty="0">
                <a:solidFill>
                  <a:prstClr val="black"/>
                </a:solidFill>
                <a:latin typeface="Tw Cen MT"/>
                <a:cs typeface="Tw Cen MT"/>
              </a:rPr>
              <a:t>n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t</a:t>
            </a:r>
            <a:r>
              <a:rPr sz="2400" spc="-50" dirty="0">
                <a:solidFill>
                  <a:prstClr val="black"/>
                </a:solidFill>
                <a:latin typeface="Tw Cen MT"/>
                <a:cs typeface="Tw Cen MT"/>
              </a:rPr>
              <a:t>r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olled</a:t>
            </a:r>
            <a:endParaRPr sz="240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15387" y="1919351"/>
            <a:ext cx="7997190" cy="17979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2740" defTabSz="914400"/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effectively to </a:t>
            </a:r>
            <a:r>
              <a:rPr sz="2400" spc="-10" dirty="0">
                <a:solidFill>
                  <a:prstClr val="black"/>
                </a:solidFill>
                <a:latin typeface="Tw Cen MT"/>
                <a:cs typeface="Tw Cen MT"/>
              </a:rPr>
              <a:t>avoid</a:t>
            </a:r>
            <a:r>
              <a:rPr sz="2400" spc="-7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spc="-10" dirty="0">
                <a:solidFill>
                  <a:prstClr val="black"/>
                </a:solidFill>
                <a:latin typeface="Tw Cen MT"/>
                <a:cs typeface="Tw Cen MT"/>
              </a:rPr>
              <a:t>complexities.</a:t>
            </a:r>
            <a:endParaRPr sz="2400">
              <a:solidFill>
                <a:prstClr val="black"/>
              </a:solidFill>
              <a:latin typeface="Tw Cen MT"/>
              <a:cs typeface="Tw Cen MT"/>
            </a:endParaRPr>
          </a:p>
          <a:p>
            <a:pPr defTabSz="914400">
              <a:spcBef>
                <a:spcPts val="50"/>
              </a:spcBef>
            </a:pPr>
            <a:endParaRPr sz="2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32740" marR="5080" indent="-320040" algn="just" defTabSz="914400">
              <a:buClr>
                <a:srgbClr val="CC8E5F"/>
              </a:buClr>
              <a:buSzPct val="58333"/>
              <a:buFont typeface="Wingdings"/>
              <a:buChar char=""/>
              <a:tabLst>
                <a:tab pos="333375" algn="l"/>
              </a:tabLst>
            </a:pP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The </a:t>
            </a:r>
            <a:r>
              <a:rPr sz="2400" spc="-10" dirty="0">
                <a:solidFill>
                  <a:prstClr val="black"/>
                </a:solidFill>
                <a:latin typeface="Tw Cen MT"/>
                <a:cs typeface="Tw Cen MT"/>
              </a:rPr>
              <a:t>project managers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and engineers </a:t>
            </a:r>
            <a:r>
              <a:rPr sz="2400" spc="10" dirty="0">
                <a:solidFill>
                  <a:prstClr val="black"/>
                </a:solidFill>
                <a:latin typeface="Tw Cen MT"/>
                <a:cs typeface="Tw Cen MT"/>
              </a:rPr>
              <a:t>must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understand the  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critical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success factors and </a:t>
            </a:r>
            <a:r>
              <a:rPr sz="2400" spc="-10" dirty="0">
                <a:solidFill>
                  <a:prstClr val="black"/>
                </a:solidFill>
                <a:latin typeface="Tw Cen MT"/>
                <a:cs typeface="Tw Cen MT"/>
              </a:rPr>
              <a:t>develop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a common sense </a:t>
            </a:r>
            <a:r>
              <a:rPr sz="2400" spc="5" dirty="0">
                <a:solidFill>
                  <a:prstClr val="black"/>
                </a:solidFill>
                <a:latin typeface="Tw Cen MT"/>
                <a:cs typeface="Tw Cen MT"/>
              </a:rPr>
              <a:t>approach  </a:t>
            </a:r>
            <a:r>
              <a:rPr sz="2400" spc="-15" dirty="0">
                <a:solidFill>
                  <a:prstClr val="black"/>
                </a:solidFill>
                <a:latin typeface="Tw Cen MT"/>
                <a:cs typeface="Tw Cen MT"/>
              </a:rPr>
              <a:t>for 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planning,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monitoring and 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controlling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the</a:t>
            </a:r>
            <a:r>
              <a:rPr sz="2400" spc="-10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spc="-10" dirty="0">
                <a:solidFill>
                  <a:prstClr val="black"/>
                </a:solidFill>
                <a:latin typeface="Tw Cen MT"/>
                <a:cs typeface="Tw Cen MT"/>
              </a:rPr>
              <a:t>project.</a:t>
            </a:r>
            <a:endParaRPr sz="240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800600" y="3962400"/>
            <a:ext cx="2590800" cy="264693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2115"/>
            <a:r>
              <a:rPr dirty="0"/>
              <a:t>Signs of </a:t>
            </a:r>
            <a:r>
              <a:rPr spc="-10" dirty="0"/>
              <a:t>Projects</a:t>
            </a:r>
            <a:r>
              <a:rPr spc="25" dirty="0"/>
              <a:t> </a:t>
            </a:r>
            <a:r>
              <a:rPr dirty="0"/>
              <a:t>Risk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96313" y="1278891"/>
            <a:ext cx="8517890" cy="48808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/>
            <a:endParaRPr sz="12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defTabSz="914400">
              <a:spcBef>
                <a:spcPts val="55"/>
              </a:spcBef>
            </a:pPr>
            <a:endParaRPr sz="11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51535" indent="-320040" defTabSz="914400">
              <a:buClr>
                <a:srgbClr val="CC8E5F"/>
              </a:buClr>
              <a:buSzPct val="58333"/>
              <a:buFont typeface="Wingdings"/>
              <a:buChar char=""/>
              <a:tabLst>
                <a:tab pos="851535" algn="l"/>
                <a:tab pos="852169" algn="l"/>
                <a:tab pos="1528445" algn="l"/>
                <a:tab pos="2159000" algn="l"/>
                <a:tab pos="3438525" algn="l"/>
                <a:tab pos="3953510" algn="l"/>
                <a:tab pos="4672965" algn="l"/>
                <a:tab pos="5285740" algn="l"/>
                <a:tab pos="6389370" algn="l"/>
                <a:tab pos="7003415" algn="l"/>
                <a:tab pos="7985125" algn="l"/>
                <a:tab pos="8300720" algn="l"/>
              </a:tabLst>
            </a:pPr>
            <a:r>
              <a:rPr sz="2400" i="1" spc="-45" dirty="0">
                <a:solidFill>
                  <a:prstClr val="black"/>
                </a:solidFill>
                <a:latin typeface="Tw Cen MT"/>
                <a:cs typeface="Tw Cen MT"/>
              </a:rPr>
              <a:t>J</a:t>
            </a:r>
            <a:r>
              <a:rPr sz="2400" i="1" dirty="0">
                <a:solidFill>
                  <a:prstClr val="black"/>
                </a:solidFill>
                <a:latin typeface="Tw Cen MT"/>
                <a:cs typeface="Tw Cen MT"/>
              </a:rPr>
              <a:t>ohn	</a:t>
            </a:r>
            <a:r>
              <a:rPr sz="2400" i="1" spc="-25" dirty="0">
                <a:solidFill>
                  <a:prstClr val="black"/>
                </a:solidFill>
                <a:latin typeface="Tw Cen MT"/>
                <a:cs typeface="Tw Cen MT"/>
              </a:rPr>
              <a:t>R</a:t>
            </a:r>
            <a:r>
              <a:rPr sz="2400" i="1" dirty="0">
                <a:solidFill>
                  <a:prstClr val="black"/>
                </a:solidFill>
                <a:latin typeface="Tw Cen MT"/>
                <a:cs typeface="Tw Cen MT"/>
              </a:rPr>
              <a:t>e</a:t>
            </a:r>
            <a:r>
              <a:rPr sz="2400" i="1" spc="10" dirty="0">
                <a:solidFill>
                  <a:prstClr val="black"/>
                </a:solidFill>
                <a:latin typeface="Tw Cen MT"/>
                <a:cs typeface="Tw Cen MT"/>
              </a:rPr>
              <a:t>e</a:t>
            </a:r>
            <a:r>
              <a:rPr sz="2400" i="1" dirty="0">
                <a:solidFill>
                  <a:prstClr val="black"/>
                </a:solidFill>
                <a:latin typeface="Tw Cen MT"/>
                <a:cs typeface="Tw Cen MT"/>
              </a:rPr>
              <a:t>l	</a:t>
            </a:r>
            <a:r>
              <a:rPr sz="2400" spc="5" dirty="0">
                <a:solidFill>
                  <a:prstClr val="black"/>
                </a:solidFill>
                <a:latin typeface="Tw Cen MT"/>
                <a:cs typeface="Tw Cen MT"/>
              </a:rPr>
              <a:t>d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es</a:t>
            </a:r>
            <a:r>
              <a:rPr sz="2400" spc="5" dirty="0">
                <a:solidFill>
                  <a:prstClr val="black"/>
                </a:solidFill>
                <a:latin typeface="Tw Cen MT"/>
                <a:cs typeface="Tw Cen MT"/>
              </a:rPr>
              <a:t>c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ribes	ten	signs	that	</a:t>
            </a:r>
            <a:r>
              <a:rPr sz="2400" spc="10" dirty="0">
                <a:solidFill>
                  <a:prstClr val="black"/>
                </a:solidFill>
                <a:latin typeface="Tw Cen MT"/>
                <a:cs typeface="Tw Cen MT"/>
              </a:rPr>
              <a:t>i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ndicate	that	p</a:t>
            </a:r>
            <a:r>
              <a:rPr sz="2400" spc="-50" dirty="0">
                <a:solidFill>
                  <a:prstClr val="black"/>
                </a:solidFill>
                <a:latin typeface="Tw Cen MT"/>
                <a:cs typeface="Tw Cen MT"/>
              </a:rPr>
              <a:t>r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oject	is	</a:t>
            </a:r>
            <a:r>
              <a:rPr sz="2400" spc="10" dirty="0">
                <a:solidFill>
                  <a:prstClr val="black"/>
                </a:solidFill>
                <a:latin typeface="Tw Cen MT"/>
                <a:cs typeface="Tw Cen MT"/>
              </a:rPr>
              <a:t>in</a:t>
            </a:r>
            <a:endParaRPr sz="24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851535" defTabSz="914400"/>
            <a:r>
              <a:rPr sz="2400" spc="-15" dirty="0">
                <a:solidFill>
                  <a:prstClr val="black"/>
                </a:solidFill>
                <a:latin typeface="Tw Cen MT"/>
                <a:cs typeface="Tw Cen MT"/>
              </a:rPr>
              <a:t>danger:</a:t>
            </a:r>
            <a:endParaRPr sz="24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defTabSz="914400">
              <a:spcBef>
                <a:spcPts val="50"/>
              </a:spcBef>
            </a:pPr>
            <a:endParaRPr sz="19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171575" lvl="1" indent="-274320" defTabSz="914400">
              <a:buClr>
                <a:srgbClr val="7D96AC"/>
              </a:buClr>
              <a:buSzPct val="67647"/>
              <a:buFont typeface="Wingdings"/>
              <a:buChar char=""/>
              <a:tabLst>
                <a:tab pos="1171575" algn="l"/>
                <a:tab pos="1172210" algn="l"/>
              </a:tabLst>
            </a:pPr>
            <a:r>
              <a:rPr spc="-10" dirty="0">
                <a:solidFill>
                  <a:prstClr val="black"/>
                </a:solidFill>
                <a:latin typeface="Tw Cen MT"/>
                <a:cs typeface="Tw Cen MT"/>
              </a:rPr>
              <a:t>Software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people</a:t>
            </a:r>
            <a:r>
              <a:rPr lang="en-US" dirty="0">
                <a:solidFill>
                  <a:prstClr val="black"/>
                </a:solidFill>
                <a:latin typeface="Tw Cen MT"/>
                <a:cs typeface="Tw Cen MT"/>
              </a:rPr>
              <a:t> don’t</a:t>
            </a:r>
            <a:r>
              <a:rPr spc="-275" dirty="0">
                <a:solidFill>
                  <a:prstClr val="black"/>
                </a:solidFill>
                <a:latin typeface="Tw Cen MT"/>
                <a:cs typeface="Tw Cen MT"/>
              </a:rPr>
              <a:t> 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understand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customer</a:t>
            </a:r>
            <a:r>
              <a:rPr spc="10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needs</a:t>
            </a:r>
          </a:p>
          <a:p>
            <a:pPr marL="1171575" lvl="1" indent="-274320" defTabSz="914400">
              <a:spcBef>
                <a:spcPts val="600"/>
              </a:spcBef>
              <a:buClr>
                <a:srgbClr val="7D96AC"/>
              </a:buClr>
              <a:buSzPct val="67647"/>
              <a:buFont typeface="Wingdings"/>
              <a:buChar char=""/>
              <a:tabLst>
                <a:tab pos="1171575" algn="l"/>
                <a:tab pos="1172210" algn="l"/>
              </a:tabLst>
            </a:pP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Product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scope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is </a:t>
            </a:r>
            <a:r>
              <a:rPr spc="5" dirty="0">
                <a:solidFill>
                  <a:prstClr val="black"/>
                </a:solidFill>
                <a:latin typeface="Tw Cen MT"/>
                <a:cs typeface="Tw Cen MT"/>
              </a:rPr>
              <a:t>poorly</a:t>
            </a:r>
            <a:r>
              <a:rPr spc="-8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defined</a:t>
            </a:r>
          </a:p>
          <a:p>
            <a:pPr marL="1171575" lvl="1" indent="-274320" defTabSz="914400">
              <a:spcBef>
                <a:spcPts val="600"/>
              </a:spcBef>
              <a:buClr>
                <a:srgbClr val="7D96AC"/>
              </a:buClr>
              <a:buSzPct val="67647"/>
              <a:buFont typeface="Wingdings"/>
              <a:buChar char=""/>
              <a:tabLst>
                <a:tab pos="1171575" algn="l"/>
                <a:tab pos="1172210" algn="l"/>
              </a:tabLst>
            </a:pPr>
            <a:r>
              <a:rPr spc="-10" dirty="0">
                <a:solidFill>
                  <a:prstClr val="black"/>
                </a:solidFill>
                <a:latin typeface="Tw Cen MT"/>
                <a:cs typeface="Tw Cen MT"/>
              </a:rPr>
              <a:t>Changes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are managed</a:t>
            </a:r>
            <a:r>
              <a:rPr spc="-3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pc="5" dirty="0">
                <a:solidFill>
                  <a:prstClr val="black"/>
                </a:solidFill>
                <a:latin typeface="Tw Cen MT"/>
                <a:cs typeface="Tw Cen MT"/>
              </a:rPr>
              <a:t>poorly</a:t>
            </a:r>
            <a:endParaRPr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171575" lvl="1" indent="-274320" defTabSz="914400">
              <a:spcBef>
                <a:spcPts val="600"/>
              </a:spcBef>
              <a:buClr>
                <a:srgbClr val="7D96AC"/>
              </a:buClr>
              <a:buSzPct val="67647"/>
              <a:buFont typeface="Wingdings"/>
              <a:buChar char=""/>
              <a:tabLst>
                <a:tab pos="1171575" algn="l"/>
                <a:tab pos="1172210" algn="l"/>
              </a:tabLst>
            </a:pP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The </a:t>
            </a:r>
            <a:r>
              <a:rPr spc="10" dirty="0">
                <a:solidFill>
                  <a:prstClr val="black"/>
                </a:solidFill>
                <a:latin typeface="Tw Cen MT"/>
                <a:cs typeface="Tw Cen MT"/>
              </a:rPr>
              <a:t>chosen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technology</a:t>
            </a:r>
            <a:r>
              <a:rPr spc="-2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pc="5" dirty="0">
                <a:solidFill>
                  <a:prstClr val="black"/>
                </a:solidFill>
                <a:latin typeface="Tw Cen MT"/>
                <a:cs typeface="Tw Cen MT"/>
              </a:rPr>
              <a:t>changes</a:t>
            </a:r>
            <a:endParaRPr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171575" lvl="1" indent="-274320" defTabSz="914400">
              <a:spcBef>
                <a:spcPts val="600"/>
              </a:spcBef>
              <a:buClr>
                <a:srgbClr val="7D96AC"/>
              </a:buClr>
              <a:buSzPct val="67647"/>
              <a:buFont typeface="Wingdings"/>
              <a:buChar char=""/>
              <a:tabLst>
                <a:tab pos="1171575" algn="l"/>
                <a:tab pos="1172210" algn="l"/>
              </a:tabLst>
            </a:pP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Business needs</a:t>
            </a:r>
            <a:r>
              <a:rPr spc="-8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pc="5" dirty="0">
                <a:solidFill>
                  <a:prstClr val="black"/>
                </a:solidFill>
                <a:latin typeface="Tw Cen MT"/>
                <a:cs typeface="Tw Cen MT"/>
              </a:rPr>
              <a:t>change</a:t>
            </a:r>
            <a:endParaRPr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171575" lvl="1" indent="-274320" defTabSz="914400">
              <a:spcBef>
                <a:spcPts val="600"/>
              </a:spcBef>
              <a:buClr>
                <a:srgbClr val="7D96AC"/>
              </a:buClr>
              <a:buSzPct val="67647"/>
              <a:buFont typeface="Wingdings"/>
              <a:buChar char=""/>
              <a:tabLst>
                <a:tab pos="1171575" algn="l"/>
                <a:tab pos="1172210" algn="l"/>
              </a:tabLst>
            </a:pP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Deadlines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are</a:t>
            </a:r>
            <a:r>
              <a:rPr spc="-6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unrealistic</a:t>
            </a:r>
            <a:endParaRPr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171575" lvl="1" indent="-274320" defTabSz="914400">
              <a:spcBef>
                <a:spcPts val="600"/>
              </a:spcBef>
              <a:buClr>
                <a:srgbClr val="7D96AC"/>
              </a:buClr>
              <a:buSzPct val="67647"/>
              <a:buFont typeface="Wingdings"/>
              <a:buChar char=""/>
              <a:tabLst>
                <a:tab pos="1171575" algn="l"/>
                <a:tab pos="1172210" algn="l"/>
              </a:tabLst>
            </a:pP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Users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are</a:t>
            </a:r>
            <a:r>
              <a:rPr spc="-6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resistant</a:t>
            </a:r>
            <a:endParaRPr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171575" lvl="1" indent="-274320" defTabSz="914400">
              <a:spcBef>
                <a:spcPts val="600"/>
              </a:spcBef>
              <a:buClr>
                <a:srgbClr val="7D96AC"/>
              </a:buClr>
              <a:buSzPct val="67647"/>
              <a:buFont typeface="Wingdings"/>
              <a:buChar char=""/>
              <a:tabLst>
                <a:tab pos="1171575" algn="l"/>
                <a:tab pos="1172210" algn="l"/>
              </a:tabLst>
            </a:pP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Sponsorship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is</a:t>
            </a:r>
            <a:r>
              <a:rPr spc="-7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lost</a:t>
            </a:r>
            <a:endParaRPr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171575" lvl="1" indent="-274320" defTabSz="914400">
              <a:spcBef>
                <a:spcPts val="600"/>
              </a:spcBef>
              <a:buClr>
                <a:srgbClr val="7D96AC"/>
              </a:buClr>
              <a:buSzPct val="67647"/>
              <a:buFont typeface="Wingdings"/>
              <a:buChar char=""/>
              <a:tabLst>
                <a:tab pos="1171575" algn="l"/>
                <a:tab pos="1172210" algn="l"/>
              </a:tabLst>
            </a:pPr>
            <a:r>
              <a:rPr spc="-35" dirty="0">
                <a:solidFill>
                  <a:prstClr val="black"/>
                </a:solidFill>
                <a:latin typeface="Tw Cen MT"/>
                <a:cs typeface="Tw Cen MT"/>
              </a:rPr>
              <a:t>Team </a:t>
            </a:r>
            <a:r>
              <a:rPr spc="5" dirty="0">
                <a:solidFill>
                  <a:prstClr val="black"/>
                </a:solidFill>
                <a:latin typeface="Tw Cen MT"/>
                <a:cs typeface="Tw Cen MT"/>
              </a:rPr>
              <a:t>lacks</a:t>
            </a:r>
            <a:r>
              <a:rPr spc="-3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skills</a:t>
            </a:r>
            <a:endParaRPr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171575" lvl="1" indent="-274320" defTabSz="914400">
              <a:spcBef>
                <a:spcPts val="600"/>
              </a:spcBef>
              <a:buClr>
                <a:srgbClr val="7D96AC"/>
              </a:buClr>
              <a:buSzPct val="67647"/>
              <a:buFont typeface="Wingdings"/>
              <a:buChar char=""/>
              <a:tabLst>
                <a:tab pos="1171575" algn="l"/>
                <a:tab pos="1172210" algn="l"/>
              </a:tabLst>
            </a:pP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Managers </a:t>
            </a:r>
            <a:r>
              <a:rPr spc="-10" dirty="0">
                <a:solidFill>
                  <a:prstClr val="black"/>
                </a:solidFill>
                <a:latin typeface="Tw Cen MT"/>
                <a:cs typeface="Tw Cen MT"/>
              </a:rPr>
              <a:t>avoid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best</a:t>
            </a:r>
            <a:r>
              <a:rPr spc="-2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practices</a:t>
            </a:r>
            <a:endParaRPr dirty="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996560" y="3200400"/>
            <a:ext cx="4595241" cy="3429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8940"/>
            <a:r>
              <a:rPr spc="-40" dirty="0"/>
              <a:t>How </a:t>
            </a:r>
            <a:r>
              <a:rPr spc="-10" dirty="0"/>
              <a:t>to </a:t>
            </a:r>
            <a:r>
              <a:rPr spc="-20" dirty="0"/>
              <a:t>avoid</a:t>
            </a:r>
            <a:r>
              <a:rPr spc="-15" dirty="0"/>
              <a:t> </a:t>
            </a:r>
            <a:r>
              <a:rPr spc="-10" dirty="0"/>
              <a:t>problems?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753752" y="1278890"/>
            <a:ext cx="5762413" cy="37625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endParaRPr spc="-5" dirty="0"/>
          </a:p>
          <a:p>
            <a:pPr marL="871855" indent="-343535">
              <a:lnSpc>
                <a:spcPts val="2790"/>
              </a:lnSpc>
              <a:spcBef>
                <a:spcPts val="860"/>
              </a:spcBef>
              <a:buClr>
                <a:srgbClr val="DC9E1F"/>
              </a:buClr>
              <a:buSzPct val="58333"/>
              <a:buFont typeface="Wingdings"/>
              <a:buChar char=""/>
              <a:tabLst>
                <a:tab pos="871855" algn="l"/>
                <a:tab pos="872490" algn="l"/>
              </a:tabLst>
            </a:pPr>
            <a:r>
              <a:rPr sz="2400" b="0" spc="5" dirty="0">
                <a:solidFill>
                  <a:srgbClr val="000000"/>
                </a:solidFill>
              </a:rPr>
              <a:t>Start </a:t>
            </a:r>
            <a:r>
              <a:rPr sz="2400" b="0" dirty="0">
                <a:solidFill>
                  <a:srgbClr val="000000"/>
                </a:solidFill>
              </a:rPr>
              <a:t>on the right</a:t>
            </a:r>
            <a:r>
              <a:rPr sz="2400" b="0" spc="-80" dirty="0">
                <a:solidFill>
                  <a:srgbClr val="000000"/>
                </a:solidFill>
              </a:rPr>
              <a:t> </a:t>
            </a:r>
            <a:r>
              <a:rPr sz="2400" b="0" spc="-15" dirty="0">
                <a:solidFill>
                  <a:srgbClr val="000000"/>
                </a:solidFill>
              </a:rPr>
              <a:t>foot</a:t>
            </a:r>
            <a:endParaRPr sz="2400" dirty="0"/>
          </a:p>
          <a:p>
            <a:pPr marL="1329055" marR="5715" lvl="1" indent="-342900">
              <a:lnSpc>
                <a:spcPts val="1939"/>
              </a:lnSpc>
              <a:spcBef>
                <a:spcPts val="155"/>
              </a:spcBef>
              <a:buClr>
                <a:srgbClr val="7D96AC"/>
              </a:buClr>
              <a:buSzPct val="58333"/>
              <a:buFont typeface="Wingdings"/>
              <a:buChar char=""/>
              <a:tabLst>
                <a:tab pos="1328420" algn="l"/>
                <a:tab pos="1329690" algn="l"/>
              </a:tabLst>
            </a:pPr>
            <a:r>
              <a:rPr spc="-10" dirty="0">
                <a:latin typeface="Tw Cen MT"/>
                <a:cs typeface="Tw Cen MT"/>
              </a:rPr>
              <a:t>Involves </a:t>
            </a:r>
            <a:r>
              <a:rPr spc="-5" dirty="0">
                <a:latin typeface="Tw Cen MT"/>
                <a:cs typeface="Tw Cen MT"/>
              </a:rPr>
              <a:t>detailed understanding  </a:t>
            </a:r>
            <a:r>
              <a:rPr dirty="0">
                <a:latin typeface="Tw Cen MT"/>
                <a:cs typeface="Tw Cen MT"/>
              </a:rPr>
              <a:t>of</a:t>
            </a:r>
            <a:r>
              <a:rPr spc="-45" dirty="0">
                <a:latin typeface="Tw Cen MT"/>
                <a:cs typeface="Tw Cen MT"/>
              </a:rPr>
              <a:t> </a:t>
            </a:r>
            <a:r>
              <a:rPr spc="-5" dirty="0">
                <a:latin typeface="Tw Cen MT"/>
                <a:cs typeface="Tw Cen MT"/>
              </a:rPr>
              <a:t>project</a:t>
            </a:r>
            <a:endParaRPr dirty="0">
              <a:latin typeface="Tw Cen MT"/>
              <a:cs typeface="Tw Cen MT"/>
            </a:endParaRPr>
          </a:p>
          <a:p>
            <a:pPr marL="1329055" marR="5080" lvl="1" indent="-342900">
              <a:lnSpc>
                <a:spcPts val="1939"/>
              </a:lnSpc>
              <a:spcBef>
                <a:spcPts val="5"/>
              </a:spcBef>
              <a:buClr>
                <a:srgbClr val="7D96AC"/>
              </a:buClr>
              <a:buSzPct val="58333"/>
              <a:buFont typeface="Wingdings"/>
              <a:buChar char=""/>
              <a:tabLst>
                <a:tab pos="1328420" algn="l"/>
                <a:tab pos="1329690" algn="l"/>
                <a:tab pos="2136140" algn="l"/>
                <a:tab pos="3046730" algn="l"/>
                <a:tab pos="4156075" algn="l"/>
              </a:tabLst>
            </a:pPr>
            <a:r>
              <a:rPr lang="en-US" dirty="0">
                <a:latin typeface="Tw Cen MT"/>
                <a:cs typeface="Tw Cen MT"/>
              </a:rPr>
              <a:t>S</a:t>
            </a:r>
            <a:r>
              <a:rPr dirty="0">
                <a:latin typeface="Tw Cen MT"/>
                <a:cs typeface="Tw Cen MT"/>
              </a:rPr>
              <a:t>et</a:t>
            </a:r>
            <a:r>
              <a:rPr spc="5" dirty="0">
                <a:latin typeface="Tw Cen MT"/>
                <a:cs typeface="Tw Cen MT"/>
              </a:rPr>
              <a:t>t</a:t>
            </a:r>
            <a:r>
              <a:rPr spc="-5" dirty="0">
                <a:latin typeface="Tw Cen MT"/>
                <a:cs typeface="Tw Cen MT"/>
              </a:rPr>
              <a:t>i</a:t>
            </a:r>
            <a:r>
              <a:rPr spc="-10" dirty="0">
                <a:latin typeface="Tw Cen MT"/>
                <a:cs typeface="Tw Cen MT"/>
              </a:rPr>
              <a:t>n</a:t>
            </a:r>
            <a:r>
              <a:rPr dirty="0">
                <a:latin typeface="Tw Cen MT"/>
                <a:cs typeface="Tw Cen MT"/>
              </a:rPr>
              <a:t>g	real</a:t>
            </a:r>
            <a:r>
              <a:rPr spc="5" dirty="0">
                <a:latin typeface="Tw Cen MT"/>
                <a:cs typeface="Tw Cen MT"/>
              </a:rPr>
              <a:t>i</a:t>
            </a:r>
            <a:r>
              <a:rPr dirty="0">
                <a:latin typeface="Tw Cen MT"/>
                <a:cs typeface="Tw Cen MT"/>
              </a:rPr>
              <a:t>st</a:t>
            </a:r>
            <a:r>
              <a:rPr spc="5" dirty="0">
                <a:latin typeface="Tw Cen MT"/>
                <a:cs typeface="Tw Cen MT"/>
              </a:rPr>
              <a:t>i</a:t>
            </a:r>
            <a:r>
              <a:rPr dirty="0">
                <a:latin typeface="Tw Cen MT"/>
                <a:cs typeface="Tw Cen MT"/>
              </a:rPr>
              <a:t>c	obje</a:t>
            </a:r>
            <a:r>
              <a:rPr spc="5" dirty="0">
                <a:latin typeface="Tw Cen MT"/>
                <a:cs typeface="Tw Cen MT"/>
              </a:rPr>
              <a:t>c</a:t>
            </a:r>
            <a:r>
              <a:rPr dirty="0">
                <a:latin typeface="Tw Cen MT"/>
                <a:cs typeface="Tw Cen MT"/>
              </a:rPr>
              <a:t>ti</a:t>
            </a:r>
            <a:r>
              <a:rPr spc="-35" dirty="0">
                <a:latin typeface="Tw Cen MT"/>
                <a:cs typeface="Tw Cen MT"/>
              </a:rPr>
              <a:t>v</a:t>
            </a:r>
            <a:r>
              <a:rPr dirty="0">
                <a:latin typeface="Tw Cen MT"/>
                <a:cs typeface="Tw Cen MT"/>
              </a:rPr>
              <a:t>es</a:t>
            </a:r>
            <a:r>
              <a:rPr lang="en-US" dirty="0">
                <a:latin typeface="Tw Cen MT"/>
                <a:cs typeface="Tw Cen MT"/>
              </a:rPr>
              <a:t> </a:t>
            </a:r>
            <a:r>
              <a:rPr dirty="0">
                <a:latin typeface="Tw Cen MT"/>
                <a:cs typeface="Tw Cen MT"/>
              </a:rPr>
              <a:t>&amp; </a:t>
            </a:r>
            <a:r>
              <a:rPr spc="-5" dirty="0">
                <a:latin typeface="Tw Cen MT"/>
                <a:cs typeface="Tw Cen MT"/>
              </a:rPr>
              <a:t>expectations</a:t>
            </a:r>
            <a:endParaRPr dirty="0">
              <a:latin typeface="Tw Cen MT"/>
              <a:cs typeface="Tw Cen MT"/>
            </a:endParaRPr>
          </a:p>
          <a:p>
            <a:pPr marL="1329055" lvl="1" indent="-342900">
              <a:lnSpc>
                <a:spcPts val="1810"/>
              </a:lnSpc>
              <a:buClr>
                <a:srgbClr val="7D96AC"/>
              </a:buClr>
              <a:buSzPct val="58333"/>
              <a:buFont typeface="Wingdings"/>
              <a:buChar char=""/>
              <a:tabLst>
                <a:tab pos="1328420" algn="l"/>
                <a:tab pos="1329690" algn="l"/>
              </a:tabLst>
            </a:pPr>
            <a:r>
              <a:rPr dirty="0">
                <a:latin typeface="Tw Cen MT"/>
                <a:cs typeface="Tw Cen MT"/>
              </a:rPr>
              <a:t>Selecting the right</a:t>
            </a:r>
            <a:r>
              <a:rPr spc="-95" dirty="0">
                <a:latin typeface="Tw Cen MT"/>
                <a:cs typeface="Tw Cen MT"/>
              </a:rPr>
              <a:t> </a:t>
            </a:r>
            <a:r>
              <a:rPr dirty="0">
                <a:latin typeface="Tw Cen MT"/>
                <a:cs typeface="Tw Cen MT"/>
              </a:rPr>
              <a:t>team</a:t>
            </a:r>
          </a:p>
          <a:p>
            <a:pPr marL="1329055" lvl="1" indent="-342900">
              <a:lnSpc>
                <a:spcPts val="2050"/>
              </a:lnSpc>
              <a:buClr>
                <a:srgbClr val="7D96AC"/>
              </a:buClr>
              <a:buSzPct val="58333"/>
              <a:buFont typeface="Wingdings"/>
              <a:buChar char=""/>
              <a:tabLst>
                <a:tab pos="1328420" algn="l"/>
                <a:tab pos="1329690" algn="l"/>
              </a:tabLst>
            </a:pPr>
            <a:r>
              <a:rPr spc="-5" dirty="0">
                <a:latin typeface="Tw Cen MT"/>
                <a:cs typeface="Tw Cen MT"/>
              </a:rPr>
              <a:t>Facilitating </a:t>
            </a:r>
            <a:r>
              <a:rPr dirty="0">
                <a:latin typeface="Tw Cen MT"/>
                <a:cs typeface="Tw Cen MT"/>
              </a:rPr>
              <a:t>the</a:t>
            </a:r>
            <a:r>
              <a:rPr spc="-80" dirty="0">
                <a:latin typeface="Tw Cen MT"/>
                <a:cs typeface="Tw Cen MT"/>
              </a:rPr>
              <a:t> </a:t>
            </a:r>
            <a:r>
              <a:rPr dirty="0">
                <a:latin typeface="Tw Cen MT"/>
                <a:cs typeface="Tw Cen MT"/>
              </a:rPr>
              <a:t>team</a:t>
            </a:r>
          </a:p>
          <a:p>
            <a:pPr lvl="1">
              <a:spcBef>
                <a:spcPts val="25"/>
              </a:spcBef>
              <a:buClr>
                <a:srgbClr val="7D96AC"/>
              </a:buClr>
              <a:buFont typeface="Wingdings"/>
              <a:buChar char=""/>
            </a:pPr>
            <a:endParaRPr sz="1950" dirty="0">
              <a:latin typeface="Times New Roman"/>
              <a:cs typeface="Times New Roman"/>
            </a:endParaRPr>
          </a:p>
          <a:p>
            <a:pPr marL="871855" indent="-343535">
              <a:lnSpc>
                <a:spcPts val="2790"/>
              </a:lnSpc>
              <a:buClr>
                <a:srgbClr val="DC9E1F"/>
              </a:buClr>
              <a:buSzPct val="60416"/>
              <a:buFont typeface="Wingdings"/>
              <a:buChar char=""/>
              <a:tabLst>
                <a:tab pos="871855" algn="l"/>
                <a:tab pos="872490" algn="l"/>
              </a:tabLst>
            </a:pPr>
            <a:r>
              <a:rPr sz="2400" b="0" dirty="0">
                <a:solidFill>
                  <a:srgbClr val="000000"/>
                </a:solidFill>
              </a:rPr>
              <a:t>Maintain</a:t>
            </a:r>
            <a:r>
              <a:rPr sz="2400" b="0" spc="-105" dirty="0">
                <a:solidFill>
                  <a:srgbClr val="000000"/>
                </a:solidFill>
              </a:rPr>
              <a:t> </a:t>
            </a:r>
            <a:r>
              <a:rPr sz="2400" b="0" dirty="0">
                <a:solidFill>
                  <a:srgbClr val="000000"/>
                </a:solidFill>
              </a:rPr>
              <a:t>Momentum</a:t>
            </a:r>
            <a:endParaRPr sz="2400" dirty="0"/>
          </a:p>
          <a:p>
            <a:pPr marL="1329055" lvl="1" indent="-342900">
              <a:lnSpc>
                <a:spcPts val="1964"/>
              </a:lnSpc>
              <a:buClr>
                <a:srgbClr val="7D96AC"/>
              </a:buClr>
              <a:buSzPct val="58333"/>
              <a:buFont typeface="Wingdings"/>
              <a:buChar char=""/>
              <a:tabLst>
                <a:tab pos="1328420" algn="l"/>
                <a:tab pos="1329690" algn="l"/>
              </a:tabLst>
            </a:pPr>
            <a:r>
              <a:rPr spc="-10" dirty="0">
                <a:latin typeface="Tw Cen MT"/>
                <a:cs typeface="Tw Cen MT"/>
              </a:rPr>
              <a:t>Provide</a:t>
            </a:r>
            <a:r>
              <a:rPr spc="-55" dirty="0">
                <a:latin typeface="Tw Cen MT"/>
                <a:cs typeface="Tw Cen MT"/>
              </a:rPr>
              <a:t> </a:t>
            </a:r>
            <a:r>
              <a:rPr spc="-5" dirty="0">
                <a:latin typeface="Tw Cen MT"/>
                <a:cs typeface="Tw Cen MT"/>
              </a:rPr>
              <a:t>incentives</a:t>
            </a:r>
            <a:endParaRPr dirty="0">
              <a:latin typeface="Tw Cen MT"/>
              <a:cs typeface="Tw Cen MT"/>
            </a:endParaRPr>
          </a:p>
          <a:p>
            <a:pPr marL="1329055" marR="5080" lvl="1" indent="-342900" algn="just">
              <a:lnSpc>
                <a:spcPts val="1939"/>
              </a:lnSpc>
              <a:spcBef>
                <a:spcPts val="140"/>
              </a:spcBef>
              <a:buClr>
                <a:srgbClr val="7D96AC"/>
              </a:buClr>
              <a:buSzPct val="58333"/>
              <a:buFont typeface="Wingdings"/>
              <a:buChar char=""/>
              <a:tabLst>
                <a:tab pos="1329690" algn="l"/>
              </a:tabLst>
            </a:pPr>
            <a:r>
              <a:rPr spc="-10" dirty="0">
                <a:latin typeface="Tw Cen MT"/>
                <a:cs typeface="Tw Cen MT"/>
              </a:rPr>
              <a:t>Reduce </a:t>
            </a:r>
            <a:r>
              <a:rPr spc="-5" dirty="0">
                <a:latin typeface="Tw Cen MT"/>
                <a:cs typeface="Tw Cen MT"/>
              </a:rPr>
              <a:t>bureaucracy and </a:t>
            </a:r>
            <a:r>
              <a:rPr spc="-15" dirty="0">
                <a:latin typeface="Tw Cen MT"/>
                <a:cs typeface="Tw Cen MT"/>
              </a:rPr>
              <a:t>give</a:t>
            </a:r>
            <a:r>
              <a:rPr lang="en-US" spc="-15" dirty="0">
                <a:latin typeface="Tw Cen MT"/>
                <a:cs typeface="Tw Cen MT"/>
              </a:rPr>
              <a:t> </a:t>
            </a:r>
            <a:r>
              <a:rPr spc="-10" dirty="0">
                <a:latin typeface="Tw Cen MT"/>
                <a:cs typeface="Tw Cen MT"/>
              </a:rPr>
              <a:t>autonomy </a:t>
            </a:r>
            <a:r>
              <a:rPr dirty="0">
                <a:latin typeface="Tw Cen MT"/>
                <a:cs typeface="Tw Cen MT"/>
              </a:rPr>
              <a:t>to </a:t>
            </a:r>
            <a:r>
              <a:rPr spc="-5" dirty="0">
                <a:latin typeface="Tw Cen MT"/>
                <a:cs typeface="Tw Cen MT"/>
              </a:rPr>
              <a:t>team </a:t>
            </a:r>
            <a:r>
              <a:rPr dirty="0">
                <a:latin typeface="Tw Cen MT"/>
                <a:cs typeface="Tw Cen MT"/>
              </a:rPr>
              <a:t>members but with</a:t>
            </a:r>
            <a:r>
              <a:rPr spc="-80" dirty="0">
                <a:latin typeface="Tw Cen MT"/>
                <a:cs typeface="Tw Cen MT"/>
              </a:rPr>
              <a:t> </a:t>
            </a:r>
            <a:r>
              <a:rPr spc="5" dirty="0">
                <a:latin typeface="Tw Cen MT"/>
                <a:cs typeface="Tw Cen MT"/>
              </a:rPr>
              <a:t>supervision</a:t>
            </a:r>
            <a:endParaRPr dirty="0">
              <a:latin typeface="Tw Cen MT"/>
              <a:cs typeface="Tw Cen MT"/>
            </a:endParaRPr>
          </a:p>
          <a:p>
            <a:pPr lvl="1">
              <a:spcBef>
                <a:spcPts val="55"/>
              </a:spcBef>
              <a:buClr>
                <a:srgbClr val="7D96AC"/>
              </a:buClr>
              <a:buFont typeface="Wingdings"/>
              <a:buChar char=""/>
            </a:pPr>
            <a:endParaRPr sz="1900" dirty="0">
              <a:latin typeface="Times New Roman"/>
              <a:cs typeface="Times New Roman"/>
            </a:endParaRPr>
          </a:p>
          <a:p>
            <a:pPr marL="871855" indent="-343535">
              <a:buClr>
                <a:srgbClr val="DC9E1F"/>
              </a:buClr>
              <a:buSzPct val="60416"/>
              <a:buFont typeface="Wingdings"/>
              <a:buChar char=""/>
              <a:tabLst>
                <a:tab pos="871855" algn="l"/>
                <a:tab pos="872490" algn="l"/>
              </a:tabLst>
            </a:pPr>
            <a:r>
              <a:rPr sz="2400" b="0" spc="-20" dirty="0">
                <a:solidFill>
                  <a:srgbClr val="000000"/>
                </a:solidFill>
              </a:rPr>
              <a:t>Track</a:t>
            </a:r>
            <a:r>
              <a:rPr sz="2400" b="0" spc="-75" dirty="0">
                <a:solidFill>
                  <a:srgbClr val="000000"/>
                </a:solidFill>
              </a:rPr>
              <a:t> </a:t>
            </a:r>
            <a:r>
              <a:rPr sz="2400" b="0" spc="-10" dirty="0">
                <a:solidFill>
                  <a:srgbClr val="000000"/>
                </a:solidFill>
              </a:rPr>
              <a:t>Progress</a:t>
            </a:r>
            <a:endParaRPr sz="2400" dirty="0"/>
          </a:p>
        </p:txBody>
      </p:sp>
      <p:sp>
        <p:nvSpPr>
          <p:cNvPr id="4" name="object 4"/>
          <p:cNvSpPr txBox="1"/>
          <p:nvPr/>
        </p:nvSpPr>
        <p:spPr>
          <a:xfrm>
            <a:off x="2682582" y="5235264"/>
            <a:ext cx="203708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4965" indent="-342265" defTabSz="914400">
              <a:buClr>
                <a:srgbClr val="DC9E1F"/>
              </a:buClr>
              <a:buSzPct val="58333"/>
              <a:buFont typeface="Wingdings"/>
              <a:buChar char=""/>
              <a:tabLst>
                <a:tab pos="354965" algn="l"/>
                <a:tab pos="355600" algn="l"/>
                <a:tab pos="1243965" algn="l"/>
              </a:tabLst>
            </a:pP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Assess</a:t>
            </a:r>
            <a:r>
              <a:rPr lang="en-US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pc="-10" dirty="0">
                <a:solidFill>
                  <a:prstClr val="black"/>
                </a:solidFill>
                <a:latin typeface="Tw Cen MT"/>
                <a:cs typeface="Tw Cen MT"/>
              </a:rPr>
              <a:t>progress</a:t>
            </a:r>
            <a:endParaRPr dirty="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95972" y="5235264"/>
            <a:ext cx="100203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>
              <a:tabLst>
                <a:tab pos="545465" algn="l"/>
              </a:tabLst>
            </a:pPr>
            <a:r>
              <a:rPr lang="en-US" dirty="0">
                <a:solidFill>
                  <a:prstClr val="black"/>
                </a:solidFill>
                <a:latin typeface="Tw Cen MT"/>
                <a:cs typeface="Tw Cen MT"/>
              </a:rPr>
              <a:t>a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s</a:t>
            </a:r>
            <a:r>
              <a:rPr lang="en-US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pc="-40" dirty="0">
                <a:solidFill>
                  <a:prstClr val="black"/>
                </a:solidFill>
                <a:latin typeface="Tw Cen MT"/>
                <a:cs typeface="Tw Cen MT"/>
              </a:rPr>
              <a:t>w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o</a:t>
            </a:r>
            <a:r>
              <a:rPr spc="30" dirty="0">
                <a:solidFill>
                  <a:prstClr val="black"/>
                </a:solidFill>
                <a:latin typeface="Tw Cen MT"/>
                <a:cs typeface="Tw Cen MT"/>
              </a:rPr>
              <a:t>r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k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040637" y="5440610"/>
            <a:ext cx="209931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/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products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are</a:t>
            </a:r>
            <a:r>
              <a:rPr spc="-10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produced</a:t>
            </a:r>
            <a:endParaRPr dirty="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077200" y="1600200"/>
            <a:ext cx="1981200" cy="1752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077200" y="3505200"/>
            <a:ext cx="2362200" cy="165684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400800" y="5220333"/>
            <a:ext cx="1752600" cy="156146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r>
              <a:rPr lang="en-US" dirty="0">
                <a:solidFill>
                  <a:prstClr val="black"/>
                </a:solidFill>
                <a:latin typeface="Calibri"/>
              </a:rPr>
              <a:t> </a:t>
            </a:r>
            <a:endParaRPr dirty="0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8940"/>
            <a:r>
              <a:rPr spc="-40" dirty="0"/>
              <a:t>How </a:t>
            </a:r>
            <a:r>
              <a:rPr spc="-10" dirty="0"/>
              <a:t>to </a:t>
            </a:r>
            <a:r>
              <a:rPr spc="-20" dirty="0"/>
              <a:t>avoid</a:t>
            </a:r>
            <a:r>
              <a:rPr spc="-15" dirty="0"/>
              <a:t> </a:t>
            </a:r>
            <a:r>
              <a:rPr spc="-10" dirty="0"/>
              <a:t>problems?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96313" y="1278891"/>
            <a:ext cx="5083810" cy="52860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/>
            <a:endParaRPr sz="12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defTabSz="914400">
              <a:spcBef>
                <a:spcPts val="30"/>
              </a:spcBef>
            </a:pPr>
            <a:endParaRPr sz="14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71855" indent="-343535" defTabSz="914400">
              <a:buClr>
                <a:srgbClr val="DC9E1F"/>
              </a:buClr>
              <a:buSzPct val="58333"/>
              <a:buFont typeface="Wingdings"/>
              <a:buChar char=""/>
              <a:tabLst>
                <a:tab pos="871855" algn="l"/>
                <a:tab pos="872490" algn="l"/>
              </a:tabLst>
            </a:pPr>
            <a:r>
              <a:rPr sz="2400" spc="-15" dirty="0">
                <a:solidFill>
                  <a:prstClr val="black"/>
                </a:solidFill>
                <a:latin typeface="Tw Cen MT"/>
                <a:cs typeface="Tw Cen MT"/>
              </a:rPr>
              <a:t>Make </a:t>
            </a:r>
            <a:r>
              <a:rPr sz="2400" spc="5" dirty="0">
                <a:solidFill>
                  <a:prstClr val="black"/>
                </a:solidFill>
                <a:latin typeface="Tw Cen MT"/>
                <a:cs typeface="Tw Cen MT"/>
              </a:rPr>
              <a:t>smart</a:t>
            </a:r>
            <a:r>
              <a:rPr sz="2400" spc="-5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decisions</a:t>
            </a:r>
          </a:p>
          <a:p>
            <a:pPr defTabSz="914400">
              <a:spcBef>
                <a:spcPts val="15"/>
              </a:spcBef>
              <a:buFontTx/>
              <a:buChar char=""/>
            </a:pPr>
            <a:endParaRPr sz="23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329055" marR="5080" lvl="1" indent="-342900" defTabSz="914400">
              <a:lnSpc>
                <a:spcPts val="1939"/>
              </a:lnSpc>
              <a:buClr>
                <a:srgbClr val="7D96AC"/>
              </a:buClr>
              <a:buSzPct val="58333"/>
              <a:buFont typeface="Wingdings"/>
              <a:buChar char=""/>
              <a:tabLst>
                <a:tab pos="1328420" algn="l"/>
                <a:tab pos="1329690" algn="l"/>
                <a:tab pos="2035810" algn="l"/>
                <a:tab pos="2974975" algn="l"/>
                <a:tab pos="3429000" algn="l"/>
                <a:tab pos="4281170" algn="l"/>
              </a:tabLst>
            </a:pP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When	possibl</a:t>
            </a:r>
            <a:r>
              <a:rPr spc="-70" dirty="0">
                <a:solidFill>
                  <a:prstClr val="black"/>
                </a:solidFill>
                <a:latin typeface="Tw Cen MT"/>
                <a:cs typeface="Tw Cen MT"/>
              </a:rPr>
              <a:t>e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,	use	</a:t>
            </a:r>
            <a:r>
              <a:rPr spc="-50" dirty="0">
                <a:solidFill>
                  <a:prstClr val="black"/>
                </a:solidFill>
                <a:latin typeface="Tw Cen MT"/>
                <a:cs typeface="Tw Cen MT"/>
              </a:rPr>
              <a:t>e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xis</a:t>
            </a:r>
            <a:r>
              <a:rPr spc="5" dirty="0">
                <a:solidFill>
                  <a:prstClr val="black"/>
                </a:solidFill>
                <a:latin typeface="Tw Cen MT"/>
                <a:cs typeface="Tw Cen MT"/>
              </a:rPr>
              <a:t>t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i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ng	</a:t>
            </a:r>
            <a:r>
              <a:rPr spc="10" dirty="0">
                <a:solidFill>
                  <a:prstClr val="black"/>
                </a:solidFill>
                <a:latin typeface="Tw Cen MT"/>
                <a:cs typeface="Tw Cen MT"/>
              </a:rPr>
              <a:t>s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oft</a:t>
            </a:r>
            <a:r>
              <a:rPr spc="-70" dirty="0">
                <a:solidFill>
                  <a:prstClr val="black"/>
                </a:solidFill>
                <a:latin typeface="Tw Cen MT"/>
                <a:cs typeface="Tw Cen MT"/>
              </a:rPr>
              <a:t>w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a</a:t>
            </a:r>
            <a:r>
              <a:rPr spc="-10" dirty="0">
                <a:solidFill>
                  <a:prstClr val="black"/>
                </a:solidFill>
                <a:latin typeface="Tw Cen MT"/>
                <a:cs typeface="Tw Cen MT"/>
              </a:rPr>
              <a:t>r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e  components / </a:t>
            </a:r>
            <a:r>
              <a:rPr spc="-10" dirty="0">
                <a:solidFill>
                  <a:prstClr val="black"/>
                </a:solidFill>
                <a:latin typeface="Tw Cen MT"/>
                <a:cs typeface="Tw Cen MT"/>
              </a:rPr>
              <a:t>C</a:t>
            </a:r>
            <a:r>
              <a:rPr lang="en-US" spc="-10" dirty="0">
                <a:solidFill>
                  <a:prstClr val="black"/>
                </a:solidFill>
                <a:latin typeface="Tw Cen MT"/>
                <a:cs typeface="Tw Cen MT"/>
              </a:rPr>
              <a:t>ommercial off-the-shelf (C</a:t>
            </a:r>
            <a:r>
              <a:rPr spc="-10" dirty="0">
                <a:solidFill>
                  <a:prstClr val="black"/>
                </a:solidFill>
                <a:latin typeface="Tw Cen MT"/>
                <a:cs typeface="Tw Cen MT"/>
              </a:rPr>
              <a:t>OTS</a:t>
            </a:r>
            <a:r>
              <a:rPr lang="en-US" spc="-10" dirty="0">
                <a:solidFill>
                  <a:prstClr val="black"/>
                </a:solidFill>
                <a:latin typeface="Tw Cen MT"/>
                <a:cs typeface="Tw Cen MT"/>
              </a:rPr>
              <a:t>)</a:t>
            </a:r>
            <a:r>
              <a:rPr spc="-10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pc="-10" dirty="0">
                <a:solidFill>
                  <a:prstClr val="black"/>
                </a:solidFill>
                <a:latin typeface="Tw Cen MT"/>
                <a:cs typeface="Tw Cen MT"/>
              </a:rPr>
              <a:t>software</a:t>
            </a:r>
            <a:endParaRPr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329055" lvl="1" indent="-342900" defTabSz="914400">
              <a:lnSpc>
                <a:spcPts val="1810"/>
              </a:lnSpc>
              <a:buClr>
                <a:srgbClr val="7D96AC"/>
              </a:buClr>
              <a:buSzPct val="58333"/>
              <a:buFont typeface="Wingdings"/>
              <a:buChar char=""/>
              <a:tabLst>
                <a:tab pos="1328420" algn="l"/>
                <a:tab pos="1329690" algn="l"/>
                <a:tab pos="2142490" algn="l"/>
              </a:tabLst>
            </a:pP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Choose	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standard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approaches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and</a:t>
            </a:r>
            <a:r>
              <a:rPr spc="29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pc="-15" dirty="0">
                <a:solidFill>
                  <a:prstClr val="black"/>
                </a:solidFill>
                <a:latin typeface="Tw Cen MT"/>
                <a:cs typeface="Tw Cen MT"/>
              </a:rPr>
              <a:t>keep</a:t>
            </a:r>
            <a:endParaRPr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329055" defTabSz="914400">
              <a:lnSpc>
                <a:spcPts val="1945"/>
              </a:lnSpc>
            </a:pP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it</a:t>
            </a:r>
            <a:r>
              <a:rPr spc="-9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simple</a:t>
            </a:r>
          </a:p>
          <a:p>
            <a:pPr marL="1329055" marR="5715" lvl="1" indent="-342900" defTabSz="914400">
              <a:lnSpc>
                <a:spcPts val="1939"/>
              </a:lnSpc>
              <a:spcBef>
                <a:spcPts val="140"/>
              </a:spcBef>
              <a:buClr>
                <a:srgbClr val="7D96AC"/>
              </a:buClr>
              <a:buSzPct val="58333"/>
              <a:buFont typeface="Wingdings"/>
              <a:buChar char=""/>
              <a:tabLst>
                <a:tab pos="1328420" algn="l"/>
                <a:tab pos="1329690" algn="l"/>
              </a:tabLst>
            </a:pPr>
            <a:r>
              <a:rPr spc="-20" dirty="0">
                <a:solidFill>
                  <a:prstClr val="black"/>
                </a:solidFill>
                <a:latin typeface="Tw Cen MT"/>
                <a:cs typeface="Tw Cen MT"/>
              </a:rPr>
              <a:t>Avoid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risks and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allocate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more time than  needed </a:t>
            </a:r>
            <a:r>
              <a:rPr spc="-15" dirty="0">
                <a:solidFill>
                  <a:prstClr val="black"/>
                </a:solidFill>
                <a:latin typeface="Tw Cen MT"/>
                <a:cs typeface="Tw Cen MT"/>
              </a:rPr>
              <a:t>for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complex/risky</a:t>
            </a:r>
            <a:r>
              <a:rPr spc="-8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tasks</a:t>
            </a:r>
          </a:p>
          <a:p>
            <a:pPr lvl="1" defTabSz="914400">
              <a:spcBef>
                <a:spcPts val="55"/>
              </a:spcBef>
              <a:buClr>
                <a:srgbClr val="7D96AC"/>
              </a:buClr>
              <a:buFont typeface="Wingdings"/>
              <a:buChar char=""/>
            </a:pPr>
            <a:endParaRPr sz="19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71855" indent="-343535" defTabSz="914400">
              <a:buClr>
                <a:srgbClr val="DC9E1F"/>
              </a:buClr>
              <a:buSzPct val="60416"/>
              <a:buFont typeface="Wingdings"/>
              <a:buChar char=""/>
              <a:tabLst>
                <a:tab pos="871855" algn="l"/>
                <a:tab pos="872490" algn="l"/>
              </a:tabLst>
            </a:pP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Conduct a postmortem</a:t>
            </a:r>
            <a:r>
              <a:rPr sz="2400" spc="-7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analysis</a:t>
            </a:r>
          </a:p>
          <a:p>
            <a:pPr marL="1329055" lvl="1" indent="-342900" defTabSz="914400">
              <a:lnSpc>
                <a:spcPts val="2050"/>
              </a:lnSpc>
              <a:spcBef>
                <a:spcPts val="1980"/>
              </a:spcBef>
              <a:buClr>
                <a:srgbClr val="7D96AC"/>
              </a:buClr>
              <a:buSzPct val="58333"/>
              <a:buFont typeface="Wingdings"/>
              <a:buChar char=""/>
              <a:tabLst>
                <a:tab pos="1328420" algn="l"/>
                <a:tab pos="1329690" algn="l"/>
              </a:tabLst>
            </a:pP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Compare planned and actual</a:t>
            </a:r>
            <a:r>
              <a:rPr spc="-12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pc="5" dirty="0">
                <a:solidFill>
                  <a:prstClr val="black"/>
                </a:solidFill>
                <a:latin typeface="Tw Cen MT"/>
                <a:cs typeface="Tw Cen MT"/>
              </a:rPr>
              <a:t>schedule</a:t>
            </a:r>
            <a:endParaRPr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329055" marR="6985" lvl="1" indent="-342900" defTabSz="914400">
              <a:lnSpc>
                <a:spcPts val="1939"/>
              </a:lnSpc>
              <a:spcBef>
                <a:spcPts val="140"/>
              </a:spcBef>
              <a:buClr>
                <a:srgbClr val="7D96AC"/>
              </a:buClr>
              <a:buSzPct val="58333"/>
              <a:buFont typeface="Wingdings"/>
              <a:buChar char=""/>
              <a:tabLst>
                <a:tab pos="1328420" algn="l"/>
                <a:tab pos="1329690" algn="l"/>
                <a:tab pos="2145665" algn="l"/>
                <a:tab pos="2696210" algn="l"/>
                <a:tab pos="3625850" algn="l"/>
                <a:tab pos="4448810" algn="l"/>
              </a:tabLst>
            </a:pP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Co</a:t>
            </a:r>
            <a:r>
              <a:rPr spc="5" dirty="0">
                <a:solidFill>
                  <a:prstClr val="black"/>
                </a:solidFill>
                <a:latin typeface="Tw Cen MT"/>
                <a:cs typeface="Tw Cen MT"/>
              </a:rPr>
              <a:t>l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lec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t	a</a:t>
            </a:r>
            <a:r>
              <a:rPr spc="-10" dirty="0">
                <a:solidFill>
                  <a:prstClr val="black"/>
                </a:solidFill>
                <a:latin typeface="Tw Cen MT"/>
                <a:cs typeface="Tw Cen MT"/>
              </a:rPr>
              <a:t>n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d	</a:t>
            </a:r>
            <a:r>
              <a:rPr spc="-10" dirty="0">
                <a:solidFill>
                  <a:prstClr val="black"/>
                </a:solidFill>
                <a:latin typeface="Tw Cen MT"/>
                <a:cs typeface="Tw Cen MT"/>
              </a:rPr>
              <a:t>a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na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ly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ze	p</a:t>
            </a:r>
            <a:r>
              <a:rPr spc="-35" dirty="0">
                <a:solidFill>
                  <a:prstClr val="black"/>
                </a:solidFill>
                <a:latin typeface="Tw Cen MT"/>
                <a:cs typeface="Tw Cen MT"/>
              </a:rPr>
              <a:t>r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oj</a:t>
            </a:r>
            <a:r>
              <a:rPr spc="-15" dirty="0">
                <a:solidFill>
                  <a:prstClr val="black"/>
                </a:solidFill>
                <a:latin typeface="Tw Cen MT"/>
                <a:cs typeface="Tw Cen MT"/>
              </a:rPr>
              <a:t>e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ct	metrics 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(standards)</a:t>
            </a:r>
            <a:endParaRPr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329055" lvl="1" indent="-342900" defTabSz="914400">
              <a:lnSpc>
                <a:spcPts val="1810"/>
              </a:lnSpc>
              <a:buClr>
                <a:srgbClr val="7D96AC"/>
              </a:buClr>
              <a:buSzPct val="58333"/>
              <a:buFont typeface="Wingdings"/>
              <a:buChar char=""/>
              <a:tabLst>
                <a:tab pos="1328420" algn="l"/>
                <a:tab pos="1329690" algn="l"/>
              </a:tabLst>
            </a:pP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Get </a:t>
            </a:r>
            <a:r>
              <a:rPr spc="5" dirty="0">
                <a:solidFill>
                  <a:prstClr val="black"/>
                </a:solidFill>
                <a:latin typeface="Tw Cen MT"/>
                <a:cs typeface="Tw Cen MT"/>
              </a:rPr>
              <a:t>feedback </a:t>
            </a:r>
            <a:r>
              <a:rPr spc="-10" dirty="0">
                <a:solidFill>
                  <a:prstClr val="black"/>
                </a:solidFill>
                <a:latin typeface="Tw Cen MT"/>
                <a:cs typeface="Tw Cen MT"/>
              </a:rPr>
              <a:t>from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team and</a:t>
            </a:r>
            <a:r>
              <a:rPr spc="-13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customers</a:t>
            </a:r>
          </a:p>
          <a:p>
            <a:pPr marL="1329055" marR="5080" lvl="1" indent="-342900" defTabSz="914400">
              <a:lnSpc>
                <a:spcPts val="1950"/>
              </a:lnSpc>
              <a:spcBef>
                <a:spcPts val="130"/>
              </a:spcBef>
              <a:buClr>
                <a:srgbClr val="7D96AC"/>
              </a:buClr>
              <a:buSzPct val="58333"/>
              <a:buFont typeface="Wingdings"/>
              <a:buChar char=""/>
              <a:tabLst>
                <a:tab pos="1328420" algn="l"/>
                <a:tab pos="1329690" algn="l"/>
                <a:tab pos="2252345" algn="l"/>
                <a:tab pos="3001010" algn="l"/>
                <a:tab pos="3352800" algn="l"/>
                <a:tab pos="4116704" algn="l"/>
                <a:tab pos="4808855" algn="l"/>
              </a:tabLst>
            </a:pP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Es</a:t>
            </a:r>
            <a:r>
              <a:rPr spc="5" dirty="0">
                <a:solidFill>
                  <a:prstClr val="black"/>
                </a:solidFill>
                <a:latin typeface="Tw Cen MT"/>
                <a:cs typeface="Tw Cen MT"/>
              </a:rPr>
              <a:t>t</a:t>
            </a:r>
            <a:r>
              <a:rPr spc="-10" dirty="0">
                <a:solidFill>
                  <a:prstClr val="black"/>
                </a:solidFill>
                <a:latin typeface="Tw Cen MT"/>
                <a:cs typeface="Tw Cen MT"/>
              </a:rPr>
              <a:t>a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blish	reco</a:t>
            </a:r>
            <a:r>
              <a:rPr spc="-10" dirty="0">
                <a:solidFill>
                  <a:prstClr val="black"/>
                </a:solidFill>
                <a:latin typeface="Tw Cen MT"/>
                <a:cs typeface="Tw Cen MT"/>
              </a:rPr>
              <a:t>r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d	of	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lesso</a:t>
            </a:r>
            <a:r>
              <a:rPr spc="5" dirty="0">
                <a:solidFill>
                  <a:prstClr val="black"/>
                </a:solidFill>
                <a:latin typeface="Tw Cen MT"/>
                <a:cs typeface="Tw Cen MT"/>
              </a:rPr>
              <a:t>n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s	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l</a:t>
            </a:r>
            <a:r>
              <a:rPr spc="10" dirty="0">
                <a:solidFill>
                  <a:prstClr val="black"/>
                </a:solidFill>
                <a:latin typeface="Tw Cen MT"/>
                <a:cs typeface="Tw Cen MT"/>
              </a:rPr>
              <a:t>e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a</a:t>
            </a:r>
            <a:r>
              <a:rPr spc="35" dirty="0">
                <a:solidFill>
                  <a:prstClr val="black"/>
                </a:solidFill>
                <a:latin typeface="Tw Cen MT"/>
                <a:cs typeface="Tw Cen MT"/>
              </a:rPr>
              <a:t>r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nt	</a:t>
            </a:r>
            <a:r>
              <a:rPr spc="-40" dirty="0">
                <a:solidFill>
                  <a:prstClr val="black"/>
                </a:solidFill>
                <a:latin typeface="Tw Cen MT"/>
                <a:cs typeface="Tw Cen MT"/>
              </a:rPr>
              <a:t>f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or  </a:t>
            </a:r>
            <a:r>
              <a:rPr spc="15" dirty="0">
                <a:solidFill>
                  <a:prstClr val="black"/>
                </a:solidFill>
                <a:latin typeface="Tw Cen MT"/>
                <a:cs typeface="Tw Cen MT"/>
              </a:rPr>
              <a:t>each</a:t>
            </a:r>
            <a:r>
              <a:rPr spc="-10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project</a:t>
            </a:r>
            <a:endParaRPr dirty="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477250" y="1543050"/>
            <a:ext cx="1809750" cy="18097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043799" y="3609976"/>
            <a:ext cx="2471801" cy="6572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229600" y="4431411"/>
            <a:ext cx="2133600" cy="196938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0"/>
            <a:ext cx="9144000" cy="1524000"/>
          </a:xfrm>
          <a:custGeom>
            <a:avLst/>
            <a:gdLst/>
            <a:ahLst/>
            <a:cxnLst/>
            <a:rect l="l" t="t" r="r" b="b"/>
            <a:pathLst>
              <a:path w="9144000" h="1524000">
                <a:moveTo>
                  <a:pt x="0" y="1524000"/>
                </a:moveTo>
                <a:lnTo>
                  <a:pt x="9144000" y="1524000"/>
                </a:lnTo>
                <a:lnTo>
                  <a:pt x="9144000" y="0"/>
                </a:lnTo>
                <a:lnTo>
                  <a:pt x="0" y="0"/>
                </a:lnTo>
                <a:lnTo>
                  <a:pt x="0" y="1524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24000" y="2667000"/>
            <a:ext cx="9144000" cy="4191000"/>
          </a:xfrm>
          <a:custGeom>
            <a:avLst/>
            <a:gdLst/>
            <a:ahLst/>
            <a:cxnLst/>
            <a:rect l="l" t="t" r="r" b="b"/>
            <a:pathLst>
              <a:path w="9144000" h="4191000">
                <a:moveTo>
                  <a:pt x="0" y="4190999"/>
                </a:moveTo>
                <a:lnTo>
                  <a:pt x="9144000" y="4190999"/>
                </a:lnTo>
                <a:lnTo>
                  <a:pt x="9144000" y="0"/>
                </a:lnTo>
                <a:lnTo>
                  <a:pt x="0" y="0"/>
                </a:lnTo>
                <a:lnTo>
                  <a:pt x="0" y="4190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24000" y="152400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0" y="1143000"/>
                </a:moveTo>
                <a:lnTo>
                  <a:pt x="9144000" y="1143000"/>
                </a:lnTo>
                <a:lnTo>
                  <a:pt x="9144000" y="0"/>
                </a:lnTo>
                <a:lnTo>
                  <a:pt x="0" y="0"/>
                </a:lnTo>
                <a:lnTo>
                  <a:pt x="0" y="1143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24000" y="1600200"/>
            <a:ext cx="1295400" cy="990600"/>
          </a:xfrm>
          <a:custGeom>
            <a:avLst/>
            <a:gdLst/>
            <a:ahLst/>
            <a:cxnLst/>
            <a:rect l="l" t="t" r="r" b="b"/>
            <a:pathLst>
              <a:path w="1295400" h="990600">
                <a:moveTo>
                  <a:pt x="0" y="990600"/>
                </a:moveTo>
                <a:lnTo>
                  <a:pt x="1295400" y="990600"/>
                </a:lnTo>
                <a:lnTo>
                  <a:pt x="1295400" y="0"/>
                </a:lnTo>
                <a:lnTo>
                  <a:pt x="0" y="0"/>
                </a:lnTo>
                <a:lnTo>
                  <a:pt x="0" y="990600"/>
                </a:lnTo>
                <a:close/>
              </a:path>
            </a:pathLst>
          </a:custGeom>
          <a:solidFill>
            <a:srgbClr val="CC8E5F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895600" y="1600200"/>
            <a:ext cx="7772400" cy="990600"/>
          </a:xfrm>
          <a:custGeom>
            <a:avLst/>
            <a:gdLst/>
            <a:ahLst/>
            <a:cxnLst/>
            <a:rect l="l" t="t" r="r" b="b"/>
            <a:pathLst>
              <a:path w="7772400" h="990600">
                <a:moveTo>
                  <a:pt x="0" y="990600"/>
                </a:moveTo>
                <a:lnTo>
                  <a:pt x="7772400" y="990600"/>
                </a:lnTo>
                <a:lnTo>
                  <a:pt x="7772400" y="0"/>
                </a:lnTo>
                <a:lnTo>
                  <a:pt x="0" y="0"/>
                </a:lnTo>
                <a:lnTo>
                  <a:pt x="0" y="990600"/>
                </a:lnTo>
                <a:close/>
              </a:path>
            </a:pathLst>
          </a:custGeom>
          <a:solidFill>
            <a:srgbClr val="7D96AC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974594" y="1729360"/>
            <a:ext cx="3500120" cy="691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5" dirty="0">
                <a:solidFill>
                  <a:srgbClr val="FFFFFF"/>
                </a:solidFill>
              </a:rPr>
              <a:t>W</a:t>
            </a:r>
            <a:r>
              <a:rPr sz="4350" spc="7" baseline="24904" dirty="0">
                <a:solidFill>
                  <a:srgbClr val="FFFFFF"/>
                </a:solidFill>
              </a:rPr>
              <a:t>5</a:t>
            </a:r>
            <a:r>
              <a:rPr spc="5" dirty="0">
                <a:solidFill>
                  <a:srgbClr val="FFFFFF"/>
                </a:solidFill>
              </a:rPr>
              <a:t>HH</a:t>
            </a:r>
            <a:r>
              <a:rPr spc="-75" dirty="0">
                <a:solidFill>
                  <a:srgbClr val="FFFFFF"/>
                </a:solidFill>
              </a:rPr>
              <a:t> </a:t>
            </a:r>
            <a:r>
              <a:rPr spc="-5" dirty="0">
                <a:solidFill>
                  <a:srgbClr val="FFFFFF"/>
                </a:solidFill>
              </a:rPr>
              <a:t>Principle</a:t>
            </a:r>
            <a:endParaRPr/>
          </a:p>
        </p:txBody>
      </p:sp>
      <p:sp>
        <p:nvSpPr>
          <p:cNvPr id="9" name="object 9"/>
          <p:cNvSpPr/>
          <p:nvPr/>
        </p:nvSpPr>
        <p:spPr>
          <a:xfrm>
            <a:off x="3810000" y="2947923"/>
            <a:ext cx="4343400" cy="35290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8940"/>
            <a:r>
              <a:rPr spc="5" dirty="0"/>
              <a:t>W</a:t>
            </a:r>
            <a:r>
              <a:rPr sz="4350" spc="7" baseline="24904" dirty="0"/>
              <a:t>5</a:t>
            </a:r>
            <a:r>
              <a:rPr spc="5" dirty="0"/>
              <a:t>HH</a:t>
            </a:r>
            <a:r>
              <a:rPr spc="-90" dirty="0"/>
              <a:t> </a:t>
            </a:r>
            <a:r>
              <a:rPr spc="-5" dirty="0"/>
              <a:t>principle</a:t>
            </a:r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96313" y="1278890"/>
            <a:ext cx="8515350" cy="46397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/>
            <a:endParaRPr sz="12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874394" indent="-342900" defTabSz="914400">
              <a:spcBef>
                <a:spcPts val="1030"/>
              </a:spcBef>
              <a:buClr>
                <a:srgbClr val="DC9E1F"/>
              </a:buClr>
              <a:buSzPct val="60416"/>
              <a:buFont typeface="Wingdings"/>
              <a:buChar char=""/>
              <a:tabLst>
                <a:tab pos="874394" algn="l"/>
                <a:tab pos="875030" algn="l"/>
              </a:tabLst>
            </a:pPr>
            <a:r>
              <a:rPr sz="2400" spc="-10" dirty="0">
                <a:solidFill>
                  <a:prstClr val="black"/>
                </a:solidFill>
                <a:latin typeface="Tw Cen MT"/>
                <a:cs typeface="Tw Cen MT"/>
              </a:rPr>
              <a:t>Suggested </a:t>
            </a:r>
            <a:r>
              <a:rPr sz="2400" spc="-65" dirty="0">
                <a:solidFill>
                  <a:prstClr val="black"/>
                </a:solidFill>
                <a:latin typeface="Tw Cen MT"/>
                <a:cs typeface="Tw Cen MT"/>
              </a:rPr>
              <a:t>by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Barry Boehm in one of his</a:t>
            </a:r>
            <a:r>
              <a:rPr sz="2400" spc="7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papers</a:t>
            </a:r>
          </a:p>
          <a:p>
            <a:pPr defTabSz="914400">
              <a:spcBef>
                <a:spcPts val="45"/>
              </a:spcBef>
              <a:buFontTx/>
              <a:buChar char=""/>
            </a:pPr>
            <a:endParaRPr sz="22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74394" marR="5080" indent="-342900" defTabSz="914400">
              <a:lnSpc>
                <a:spcPts val="2590"/>
              </a:lnSpc>
              <a:buClr>
                <a:srgbClr val="DC9E1F"/>
              </a:buClr>
              <a:buSzPct val="60416"/>
              <a:buFont typeface="Wingdings"/>
              <a:buChar char=""/>
              <a:tabLst>
                <a:tab pos="874394" algn="l"/>
                <a:tab pos="875030" algn="l"/>
              </a:tabLst>
            </a:pP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Excellent </a:t>
            </a:r>
            <a:r>
              <a:rPr sz="2400" b="1" dirty="0">
                <a:solidFill>
                  <a:prstClr val="black"/>
                </a:solidFill>
                <a:latin typeface="Tw Cen MT"/>
                <a:cs typeface="Tw Cen MT"/>
              </a:rPr>
              <a:t>planning outline </a:t>
            </a:r>
            <a:r>
              <a:rPr sz="2400" spc="-15" dirty="0">
                <a:solidFill>
                  <a:prstClr val="black"/>
                </a:solidFill>
                <a:latin typeface="Tw Cen MT"/>
                <a:cs typeface="Tw Cen MT"/>
              </a:rPr>
              <a:t>for </a:t>
            </a:r>
            <a:r>
              <a:rPr sz="2400" spc="-10" dirty="0">
                <a:solidFill>
                  <a:prstClr val="black"/>
                </a:solidFill>
                <a:latin typeface="Tw Cen MT"/>
                <a:cs typeface="Tw Cen MT"/>
              </a:rPr>
              <a:t>project 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managers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and </a:t>
            </a:r>
            <a:r>
              <a:rPr sz="2400" spc="-15" dirty="0">
                <a:solidFill>
                  <a:prstClr val="black"/>
                </a:solidFill>
                <a:latin typeface="Tw Cen MT"/>
                <a:cs typeface="Tw Cen MT"/>
              </a:rPr>
              <a:t>software 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team</a:t>
            </a:r>
          </a:p>
          <a:p>
            <a:pPr defTabSz="914400">
              <a:spcBef>
                <a:spcPts val="20"/>
              </a:spcBef>
              <a:buFontTx/>
              <a:buChar char=""/>
            </a:pPr>
            <a:endParaRPr sz="19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74394" indent="-342900" defTabSz="914400">
              <a:buClr>
                <a:srgbClr val="DC9E1F"/>
              </a:buClr>
              <a:buSzPct val="58333"/>
              <a:buFont typeface="Wingdings"/>
              <a:buChar char=""/>
              <a:tabLst>
                <a:tab pos="874394" algn="l"/>
                <a:tab pos="875030" algn="l"/>
              </a:tabLst>
            </a:pP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Applicable 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to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all sizes of </a:t>
            </a:r>
            <a:r>
              <a:rPr sz="2400" spc="-15" dirty="0">
                <a:solidFill>
                  <a:prstClr val="black"/>
                </a:solidFill>
                <a:latin typeface="Tw Cen MT"/>
                <a:cs typeface="Tw Cen MT"/>
              </a:rPr>
              <a:t>software</a:t>
            </a:r>
            <a:r>
              <a:rPr sz="2400" spc="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spc="-10" dirty="0">
                <a:solidFill>
                  <a:prstClr val="black"/>
                </a:solidFill>
                <a:latin typeface="Tw Cen MT"/>
                <a:cs typeface="Tw Cen MT"/>
              </a:rPr>
              <a:t>projects</a:t>
            </a:r>
            <a:endParaRPr sz="24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defTabSz="914400">
              <a:spcBef>
                <a:spcPts val="5"/>
              </a:spcBef>
              <a:buFontTx/>
              <a:buChar char=""/>
            </a:pPr>
            <a:endParaRPr sz="20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74394" indent="-342900" defTabSz="914400">
              <a:buClr>
                <a:srgbClr val="DC9E1F"/>
              </a:buClr>
              <a:buSzPct val="60416"/>
              <a:buFont typeface="Wingdings"/>
              <a:buChar char=""/>
              <a:tabLst>
                <a:tab pos="874394" algn="l"/>
                <a:tab pos="875030" algn="l"/>
              </a:tabLst>
            </a:pP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It is 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an </a:t>
            </a:r>
            <a:r>
              <a:rPr sz="2400" spc="5" dirty="0">
                <a:solidFill>
                  <a:prstClr val="black"/>
                </a:solidFill>
                <a:latin typeface="Tw Cen MT"/>
                <a:cs typeface="Tw Cen MT"/>
              </a:rPr>
              <a:t>approach 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to</a:t>
            </a:r>
            <a:r>
              <a:rPr sz="2400" spc="-9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address</a:t>
            </a:r>
          </a:p>
          <a:p>
            <a:pPr defTabSz="914400">
              <a:spcBef>
                <a:spcPts val="50"/>
              </a:spcBef>
              <a:buFontTx/>
              <a:buChar char=""/>
            </a:pPr>
            <a:endParaRPr sz="20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331595" lvl="1" indent="-342900" defTabSz="914400">
              <a:lnSpc>
                <a:spcPts val="2050"/>
              </a:lnSpc>
              <a:spcBef>
                <a:spcPts val="5"/>
              </a:spcBef>
              <a:buClr>
                <a:srgbClr val="7D96AC"/>
              </a:buClr>
              <a:buSzPct val="58333"/>
              <a:buFont typeface="Wingdings"/>
              <a:buChar char=""/>
              <a:tabLst>
                <a:tab pos="1331595" algn="l"/>
                <a:tab pos="1332230" algn="l"/>
              </a:tabLst>
            </a:pPr>
            <a:r>
              <a:rPr lang="en-US" sz="2400" spc="-5" dirty="0">
                <a:solidFill>
                  <a:prstClr val="black"/>
                </a:solidFill>
                <a:latin typeface="Tw Cen MT"/>
                <a:cs typeface="Tw Cen MT"/>
              </a:rPr>
              <a:t>P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roject</a:t>
            </a:r>
            <a:r>
              <a:rPr sz="2400" spc="-10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objectives</a:t>
            </a:r>
            <a:endParaRPr sz="24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331595" lvl="1" indent="-342900" defTabSz="914400">
              <a:lnSpc>
                <a:spcPts val="1945"/>
              </a:lnSpc>
              <a:buClr>
                <a:srgbClr val="7D96AC"/>
              </a:buClr>
              <a:buSzPct val="58333"/>
              <a:buFont typeface="Wingdings"/>
              <a:buChar char=""/>
              <a:tabLst>
                <a:tab pos="1331595" algn="l"/>
                <a:tab pos="1332230" algn="l"/>
              </a:tabLst>
            </a:pP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Milestones &amp;</a:t>
            </a:r>
            <a:r>
              <a:rPr sz="2400" spc="-8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Tw Cen MT"/>
                <a:cs typeface="Tw Cen MT"/>
              </a:rPr>
              <a:t>schedule</a:t>
            </a:r>
            <a:endParaRPr sz="24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331595" lvl="1" indent="-342900" defTabSz="914400">
              <a:lnSpc>
                <a:spcPts val="1945"/>
              </a:lnSpc>
              <a:buClr>
                <a:srgbClr val="7D96AC"/>
              </a:buClr>
              <a:buSzPct val="58333"/>
              <a:buFont typeface="Wingdings"/>
              <a:buChar char=""/>
              <a:tabLst>
                <a:tab pos="1331595" algn="l"/>
                <a:tab pos="1332230" algn="l"/>
              </a:tabLst>
            </a:pP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Responsibilities</a:t>
            </a:r>
            <a:endParaRPr sz="24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331595" lvl="1" indent="-342900" defTabSz="914400">
              <a:lnSpc>
                <a:spcPts val="1945"/>
              </a:lnSpc>
              <a:buClr>
                <a:srgbClr val="7D96AC"/>
              </a:buClr>
              <a:buSzPct val="58333"/>
              <a:buFont typeface="Wingdings"/>
              <a:buChar char=""/>
              <a:tabLst>
                <a:tab pos="1331595" algn="l"/>
                <a:tab pos="1332230" algn="l"/>
              </a:tabLst>
            </a:pP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Management 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&amp; </a:t>
            </a:r>
            <a:r>
              <a:rPr sz="2400" spc="5" dirty="0">
                <a:solidFill>
                  <a:prstClr val="black"/>
                </a:solidFill>
                <a:latin typeface="Tw Cen MT"/>
                <a:cs typeface="Tw Cen MT"/>
              </a:rPr>
              <a:t>technical</a:t>
            </a:r>
            <a:r>
              <a:rPr sz="2400" spc="-6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approaches</a:t>
            </a:r>
          </a:p>
          <a:p>
            <a:pPr marL="1331595" lvl="1" indent="-342900" defTabSz="914400">
              <a:lnSpc>
                <a:spcPts val="2050"/>
              </a:lnSpc>
              <a:buClr>
                <a:srgbClr val="7D96AC"/>
              </a:buClr>
              <a:buSzPct val="58333"/>
              <a:buFont typeface="Wingdings"/>
              <a:buChar char=""/>
              <a:tabLst>
                <a:tab pos="1331595" algn="l"/>
                <a:tab pos="1332230" algn="l"/>
              </a:tabLst>
            </a:pP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Required</a:t>
            </a:r>
            <a:r>
              <a:rPr sz="2400" spc="-114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resources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8940"/>
            <a:r>
              <a:rPr spc="5" dirty="0"/>
              <a:t>W</a:t>
            </a:r>
            <a:r>
              <a:rPr sz="4350" spc="7" baseline="24904" dirty="0"/>
              <a:t>5</a:t>
            </a:r>
            <a:r>
              <a:rPr spc="5" dirty="0"/>
              <a:t>HH</a:t>
            </a:r>
            <a:r>
              <a:rPr spc="-90" dirty="0"/>
              <a:t> </a:t>
            </a:r>
            <a:r>
              <a:rPr spc="-5" dirty="0"/>
              <a:t>principle</a:t>
            </a:r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96314" y="1278891"/>
            <a:ext cx="8513445" cy="399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/>
            <a:endParaRPr sz="12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871855" indent="-343535" defTabSz="914400">
              <a:lnSpc>
                <a:spcPts val="2790"/>
              </a:lnSpc>
              <a:spcBef>
                <a:spcPts val="1025"/>
              </a:spcBef>
              <a:buClr>
                <a:srgbClr val="DC9E1F"/>
              </a:buClr>
              <a:buSzPct val="60416"/>
              <a:buFont typeface="Wingdings"/>
              <a:buChar char=""/>
              <a:tabLst>
                <a:tab pos="871855" algn="l"/>
                <a:tab pos="872490" algn="l"/>
                <a:tab pos="3916679" algn="l"/>
              </a:tabLst>
            </a:pPr>
            <a:r>
              <a:rPr sz="2400" b="1" spc="-20" dirty="0">
                <a:solidFill>
                  <a:srgbClr val="7D96AC"/>
                </a:solidFill>
                <a:latin typeface="Tw Cen MT"/>
                <a:cs typeface="Tw Cen MT"/>
              </a:rPr>
              <a:t>W</a:t>
            </a:r>
            <a:r>
              <a:rPr sz="2400" spc="-20" dirty="0">
                <a:solidFill>
                  <a:prstClr val="black"/>
                </a:solidFill>
                <a:latin typeface="Tw Cen MT"/>
                <a:cs typeface="Tw Cen MT"/>
              </a:rPr>
              <a:t>hy 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is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the</a:t>
            </a:r>
            <a:r>
              <a:rPr sz="2400" spc="5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system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 being</a:t>
            </a:r>
            <a:r>
              <a:rPr lang="en-US" sz="2400" spc="-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spc="-10" dirty="0">
                <a:solidFill>
                  <a:prstClr val="black"/>
                </a:solidFill>
                <a:latin typeface="Tw Cen MT"/>
                <a:cs typeface="Tw Cen MT"/>
              </a:rPr>
              <a:t>develop</a:t>
            </a:r>
            <a:r>
              <a:rPr lang="en-US" sz="2400" spc="-10" dirty="0">
                <a:solidFill>
                  <a:prstClr val="black"/>
                </a:solidFill>
                <a:latin typeface="Tw Cen MT"/>
                <a:cs typeface="Tw Cen MT"/>
              </a:rPr>
              <a:t>ed</a:t>
            </a:r>
            <a:r>
              <a:rPr sz="2400" spc="-10" dirty="0">
                <a:solidFill>
                  <a:prstClr val="black"/>
                </a:solidFill>
                <a:latin typeface="Tw Cen MT"/>
                <a:cs typeface="Tw Cen MT"/>
              </a:rPr>
              <a:t>?</a:t>
            </a:r>
            <a:endParaRPr sz="24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329055" marR="5080" lvl="1" indent="-342900" algn="just" defTabSz="914400">
              <a:lnSpc>
                <a:spcPts val="1939"/>
              </a:lnSpc>
              <a:spcBef>
                <a:spcPts val="155"/>
              </a:spcBef>
              <a:buClr>
                <a:srgbClr val="7D96AC"/>
              </a:buClr>
              <a:buSzPct val="58333"/>
              <a:buFont typeface="Wingdings"/>
              <a:buChar char=""/>
              <a:tabLst>
                <a:tab pos="1329690" algn="l"/>
              </a:tabLst>
            </a:pPr>
            <a:r>
              <a:rPr spc="-10" dirty="0">
                <a:solidFill>
                  <a:prstClr val="black"/>
                </a:solidFill>
                <a:latin typeface="Tw Cen MT"/>
                <a:cs typeface="Tw Cen MT"/>
              </a:rPr>
              <a:t>Answer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to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this question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help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assess validity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of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business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reason </a:t>
            </a:r>
            <a:r>
              <a:rPr spc="-15" dirty="0">
                <a:solidFill>
                  <a:prstClr val="black"/>
                </a:solidFill>
                <a:latin typeface="Tw Cen MT"/>
                <a:cs typeface="Tw Cen MT"/>
              </a:rPr>
              <a:t>for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the </a:t>
            </a:r>
            <a:r>
              <a:rPr spc="-10" dirty="0">
                <a:solidFill>
                  <a:prstClr val="black"/>
                </a:solidFill>
                <a:latin typeface="Tw Cen MT"/>
                <a:cs typeface="Tw Cen MT"/>
              </a:rPr>
              <a:t>software 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work.</a:t>
            </a:r>
            <a:endParaRPr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329055" marR="5080" lvl="1" indent="-342900" algn="just" defTabSz="914400">
              <a:lnSpc>
                <a:spcPts val="1939"/>
              </a:lnSpc>
              <a:spcBef>
                <a:spcPts val="5"/>
              </a:spcBef>
              <a:buClr>
                <a:srgbClr val="7D96AC"/>
              </a:buClr>
              <a:buSzPct val="58333"/>
              <a:buFont typeface="Wingdings"/>
              <a:buChar char=""/>
              <a:tabLst>
                <a:tab pos="1329690" algn="l"/>
              </a:tabLst>
            </a:pP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It </a:t>
            </a:r>
            <a:r>
              <a:rPr spc="-10" dirty="0">
                <a:solidFill>
                  <a:prstClr val="black"/>
                </a:solidFill>
                <a:latin typeface="Tw Cen MT"/>
                <a:cs typeface="Tw Cen MT"/>
              </a:rPr>
              <a:t>answers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if the business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purpose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justifies the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expenditure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of </a:t>
            </a:r>
            <a:r>
              <a:rPr spc="-10" dirty="0">
                <a:solidFill>
                  <a:prstClr val="black"/>
                </a:solidFill>
                <a:latin typeface="Tw Cen MT"/>
                <a:cs typeface="Tw Cen MT"/>
              </a:rPr>
              <a:t>people,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time and  </a:t>
            </a:r>
            <a:r>
              <a:rPr spc="-15" dirty="0">
                <a:solidFill>
                  <a:prstClr val="black"/>
                </a:solidFill>
                <a:latin typeface="Tw Cen MT"/>
                <a:cs typeface="Tw Cen MT"/>
              </a:rPr>
              <a:t>money</a:t>
            </a:r>
            <a:r>
              <a:rPr lang="en-US" spc="-15" dirty="0">
                <a:solidFill>
                  <a:prstClr val="black"/>
                </a:solidFill>
                <a:latin typeface="Tw Cen MT"/>
                <a:cs typeface="Tw Cen MT"/>
              </a:rPr>
              <a:t>.</a:t>
            </a:r>
            <a:endParaRPr dirty="0">
              <a:solidFill>
                <a:prstClr val="black"/>
              </a:solidFill>
              <a:latin typeface="Tw Cen MT"/>
              <a:cs typeface="Tw Cen MT"/>
            </a:endParaRPr>
          </a:p>
          <a:p>
            <a:pPr lvl="1" defTabSz="914400">
              <a:buClr>
                <a:srgbClr val="7D96AC"/>
              </a:buClr>
              <a:buFont typeface="Wingdings"/>
              <a:buChar char=""/>
            </a:pPr>
            <a:endParaRPr sz="19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71855" indent="-343535" defTabSz="914400">
              <a:lnSpc>
                <a:spcPts val="2790"/>
              </a:lnSpc>
              <a:buClr>
                <a:srgbClr val="DC9E1F"/>
              </a:buClr>
              <a:buSzPct val="60416"/>
              <a:buFont typeface="Wingdings"/>
              <a:buChar char=""/>
              <a:tabLst>
                <a:tab pos="871855" algn="l"/>
                <a:tab pos="872490" algn="l"/>
              </a:tabLst>
            </a:pPr>
            <a:r>
              <a:rPr sz="2400" b="1" spc="-5" dirty="0">
                <a:solidFill>
                  <a:srgbClr val="7D96AC"/>
                </a:solidFill>
                <a:latin typeface="Tw Cen MT"/>
                <a:cs typeface="Tw Cen MT"/>
              </a:rPr>
              <a:t>W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hat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will be</a:t>
            </a:r>
            <a:r>
              <a:rPr sz="2400" spc="-10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done?</a:t>
            </a:r>
          </a:p>
          <a:p>
            <a:pPr marL="1329055" lvl="1" indent="-342900" defTabSz="914400">
              <a:lnSpc>
                <a:spcPts val="2070"/>
              </a:lnSpc>
              <a:buClr>
                <a:srgbClr val="7D96AC"/>
              </a:buClr>
              <a:buSzPct val="58333"/>
              <a:buFont typeface="Wingdings"/>
              <a:buChar char=""/>
              <a:tabLst>
                <a:tab pos="1328420" algn="l"/>
                <a:tab pos="1329690" algn="l"/>
              </a:tabLst>
            </a:pPr>
            <a:r>
              <a:rPr spc="-10" dirty="0">
                <a:solidFill>
                  <a:prstClr val="black"/>
                </a:solidFill>
                <a:latin typeface="Tw Cen MT"/>
                <a:cs typeface="Tw Cen MT"/>
              </a:rPr>
              <a:t>Answer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to this question establishes the task set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required </a:t>
            </a:r>
            <a:r>
              <a:rPr spc="-15" dirty="0">
                <a:solidFill>
                  <a:prstClr val="black"/>
                </a:solidFill>
                <a:latin typeface="Tw Cen MT"/>
                <a:cs typeface="Tw Cen MT"/>
              </a:rPr>
              <a:t>for</a:t>
            </a:r>
            <a:r>
              <a:rPr spc="-8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project</a:t>
            </a:r>
            <a:r>
              <a:rPr lang="en-US" spc="-5" dirty="0">
                <a:solidFill>
                  <a:prstClr val="black"/>
                </a:solidFill>
                <a:latin typeface="Tw Cen MT"/>
                <a:cs typeface="Tw Cen MT"/>
              </a:rPr>
              <a:t>.</a:t>
            </a:r>
            <a:endParaRPr dirty="0">
              <a:solidFill>
                <a:prstClr val="black"/>
              </a:solidFill>
              <a:latin typeface="Tw Cen MT"/>
              <a:cs typeface="Tw Cen MT"/>
            </a:endParaRPr>
          </a:p>
          <a:p>
            <a:pPr lvl="1" defTabSz="914400">
              <a:spcBef>
                <a:spcPts val="25"/>
              </a:spcBef>
              <a:buClr>
                <a:srgbClr val="7D96AC"/>
              </a:buClr>
              <a:buFont typeface="Wingdings"/>
              <a:buChar char=""/>
            </a:pPr>
            <a:endParaRPr sz="19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71855" indent="-343535" defTabSz="914400">
              <a:lnSpc>
                <a:spcPts val="2790"/>
              </a:lnSpc>
              <a:buClr>
                <a:srgbClr val="DC9E1F"/>
              </a:buClr>
              <a:buSzPct val="58333"/>
              <a:buFont typeface="Wingdings"/>
              <a:buChar char=""/>
              <a:tabLst>
                <a:tab pos="871855" algn="l"/>
                <a:tab pos="872490" algn="l"/>
              </a:tabLst>
            </a:pPr>
            <a:r>
              <a:rPr sz="2400" b="1" spc="-5" dirty="0">
                <a:solidFill>
                  <a:srgbClr val="7D96AC"/>
                </a:solidFill>
                <a:latin typeface="Tw Cen MT"/>
                <a:cs typeface="Tw Cen MT"/>
              </a:rPr>
              <a:t>W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hen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will 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it be</a:t>
            </a:r>
            <a:r>
              <a:rPr sz="2400" spc="-8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done?</a:t>
            </a:r>
          </a:p>
          <a:p>
            <a:pPr marL="1329055" marR="5715" lvl="1" indent="-342900" algn="just" defTabSz="914400">
              <a:lnSpc>
                <a:spcPts val="1939"/>
              </a:lnSpc>
              <a:spcBef>
                <a:spcPts val="160"/>
              </a:spcBef>
              <a:buClr>
                <a:srgbClr val="7D96AC"/>
              </a:buClr>
              <a:buSzPct val="58333"/>
              <a:buFont typeface="Wingdings"/>
              <a:buChar char=""/>
              <a:tabLst>
                <a:tab pos="1329690" algn="l"/>
              </a:tabLst>
            </a:pPr>
            <a:r>
              <a:rPr spc="-10" dirty="0">
                <a:solidFill>
                  <a:prstClr val="black"/>
                </a:solidFill>
                <a:latin typeface="Tw Cen MT"/>
                <a:cs typeface="Tw Cen MT"/>
              </a:rPr>
              <a:t>Answer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to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this question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helps the team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establish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a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project </a:t>
            </a:r>
            <a:r>
              <a:rPr spc="5" dirty="0">
                <a:solidFill>
                  <a:prstClr val="black"/>
                </a:solidFill>
                <a:latin typeface="Tw Cen MT"/>
                <a:cs typeface="Tw Cen MT"/>
              </a:rPr>
              <a:t>schedule </a:t>
            </a:r>
            <a:r>
              <a:rPr spc="-85" dirty="0">
                <a:solidFill>
                  <a:prstClr val="black"/>
                </a:solidFill>
                <a:latin typeface="Tw Cen MT"/>
                <a:cs typeface="Tw Cen MT"/>
              </a:rPr>
              <a:t>by 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identifying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when tasks </a:t>
            </a:r>
            <a:r>
              <a:rPr spc="-15" dirty="0">
                <a:solidFill>
                  <a:prstClr val="black"/>
                </a:solidFill>
                <a:latin typeface="Tw Cen MT"/>
                <a:cs typeface="Tw Cen MT"/>
              </a:rPr>
              <a:t>have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to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be conducted and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when milestones are to </a:t>
            </a:r>
            <a:r>
              <a:rPr spc="-10" dirty="0">
                <a:solidFill>
                  <a:prstClr val="black"/>
                </a:solidFill>
                <a:latin typeface="Tw Cen MT"/>
                <a:cs typeface="Tw Cen MT"/>
              </a:rPr>
              <a:t>be  </a:t>
            </a:r>
            <a:r>
              <a:rPr spc="10" dirty="0">
                <a:solidFill>
                  <a:prstClr val="black"/>
                </a:solidFill>
                <a:latin typeface="Tw Cen MT"/>
                <a:cs typeface="Tw Cen MT"/>
              </a:rPr>
              <a:t>reached</a:t>
            </a:r>
            <a:r>
              <a:rPr lang="en-US" spc="10" dirty="0">
                <a:solidFill>
                  <a:prstClr val="black"/>
                </a:solidFill>
                <a:latin typeface="Tw Cen MT"/>
                <a:cs typeface="Tw Cen MT"/>
              </a:rPr>
              <a:t>.</a:t>
            </a:r>
            <a:endParaRPr dirty="0">
              <a:solidFill>
                <a:prstClr val="black"/>
              </a:solidFill>
              <a:latin typeface="Tw Cen MT"/>
              <a:cs typeface="Tw Cen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8940"/>
            <a:r>
              <a:rPr spc="5" dirty="0"/>
              <a:t>W</a:t>
            </a:r>
            <a:r>
              <a:rPr sz="4350" spc="7" baseline="24904" dirty="0"/>
              <a:t>5</a:t>
            </a:r>
            <a:r>
              <a:rPr spc="5" dirty="0"/>
              <a:t>HH</a:t>
            </a:r>
            <a:r>
              <a:rPr spc="-90" dirty="0"/>
              <a:t> </a:t>
            </a:r>
            <a:r>
              <a:rPr spc="-5" dirty="0"/>
              <a:t>principle</a:t>
            </a:r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96313" y="1278891"/>
            <a:ext cx="8666480" cy="44755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/>
            <a:endParaRPr sz="12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874394" indent="-342900" defTabSz="914400">
              <a:lnSpc>
                <a:spcPts val="2675"/>
              </a:lnSpc>
              <a:spcBef>
                <a:spcPts val="780"/>
              </a:spcBef>
              <a:buClr>
                <a:srgbClr val="DC9E1F"/>
              </a:buClr>
              <a:buSzPct val="58333"/>
              <a:buFont typeface="Wingdings"/>
              <a:buChar char=""/>
              <a:tabLst>
                <a:tab pos="874394" algn="l"/>
                <a:tab pos="875030" algn="l"/>
              </a:tabLst>
            </a:pPr>
            <a:r>
              <a:rPr sz="2400" b="1" spc="-5" dirty="0">
                <a:solidFill>
                  <a:srgbClr val="7D96AC"/>
                </a:solidFill>
                <a:latin typeface="Tw Cen MT"/>
                <a:cs typeface="Tw Cen MT"/>
              </a:rPr>
              <a:t>W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ho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is responsible </a:t>
            </a:r>
            <a:r>
              <a:rPr sz="2400" spc="-15" dirty="0">
                <a:solidFill>
                  <a:prstClr val="black"/>
                </a:solidFill>
                <a:latin typeface="Tw Cen MT"/>
                <a:cs typeface="Tw Cen MT"/>
              </a:rPr>
              <a:t>for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a function?</a:t>
            </a:r>
          </a:p>
          <a:p>
            <a:pPr marL="1331595" lvl="1" indent="-342900" defTabSz="914400">
              <a:lnSpc>
                <a:spcPts val="1955"/>
              </a:lnSpc>
              <a:buClr>
                <a:srgbClr val="7D96AC"/>
              </a:buClr>
              <a:buSzPct val="69444"/>
              <a:buFont typeface="Wingdings"/>
              <a:buChar char=""/>
              <a:tabLst>
                <a:tab pos="1331595" algn="l"/>
                <a:tab pos="1332230" algn="l"/>
              </a:tabLst>
            </a:pPr>
            <a:r>
              <a:rPr spc="-10" dirty="0">
                <a:solidFill>
                  <a:prstClr val="black"/>
                </a:solidFill>
                <a:latin typeface="Tw Cen MT"/>
                <a:cs typeface="Tw Cen MT"/>
              </a:rPr>
              <a:t>Answer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to this question establishes </a:t>
            </a:r>
            <a:r>
              <a:rPr spc="-10" dirty="0">
                <a:solidFill>
                  <a:prstClr val="black"/>
                </a:solidFill>
                <a:latin typeface="Tw Cen MT"/>
                <a:cs typeface="Tw Cen MT"/>
              </a:rPr>
              <a:t>roles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and responsibility of </a:t>
            </a:r>
            <a:r>
              <a:rPr spc="15" dirty="0">
                <a:solidFill>
                  <a:prstClr val="black"/>
                </a:solidFill>
                <a:latin typeface="Tw Cen MT"/>
                <a:cs typeface="Tw Cen MT"/>
              </a:rPr>
              <a:t>each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team</a:t>
            </a:r>
            <a:r>
              <a:rPr spc="-5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member</a:t>
            </a:r>
            <a:r>
              <a:rPr lang="en-US" dirty="0">
                <a:solidFill>
                  <a:prstClr val="black"/>
                </a:solidFill>
                <a:latin typeface="Tw Cen MT"/>
                <a:cs typeface="Tw Cen MT"/>
              </a:rPr>
              <a:t>.</a:t>
            </a:r>
            <a:endParaRPr dirty="0">
              <a:solidFill>
                <a:prstClr val="black"/>
              </a:solidFill>
              <a:latin typeface="Tw Cen MT"/>
              <a:cs typeface="Tw Cen MT"/>
            </a:endParaRPr>
          </a:p>
          <a:p>
            <a:pPr lvl="1" defTabSz="914400">
              <a:spcBef>
                <a:spcPts val="35"/>
              </a:spcBef>
              <a:buClr>
                <a:srgbClr val="7D96AC"/>
              </a:buClr>
              <a:buFont typeface="Wingdings"/>
              <a:buChar char=""/>
            </a:pPr>
            <a:endParaRPr sz="14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74394" indent="-342900" defTabSz="914400">
              <a:lnSpc>
                <a:spcPts val="2675"/>
              </a:lnSpc>
              <a:spcBef>
                <a:spcPts val="5"/>
              </a:spcBef>
              <a:buClr>
                <a:srgbClr val="DC9E1F"/>
              </a:buClr>
              <a:buSzPct val="60416"/>
              <a:buFont typeface="Wingdings"/>
              <a:buChar char=""/>
              <a:tabLst>
                <a:tab pos="874394" algn="l"/>
                <a:tab pos="875030" algn="l"/>
              </a:tabLst>
            </a:pPr>
            <a:r>
              <a:rPr sz="2400" b="1" spc="-5" dirty="0">
                <a:solidFill>
                  <a:srgbClr val="7D96AC"/>
                </a:solidFill>
                <a:latin typeface="Tw Cen MT"/>
                <a:cs typeface="Tw Cen MT"/>
              </a:rPr>
              <a:t>W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here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are </a:t>
            </a:r>
            <a:r>
              <a:rPr sz="2400" spc="-25" dirty="0">
                <a:solidFill>
                  <a:prstClr val="black"/>
                </a:solidFill>
                <a:latin typeface="Tw Cen MT"/>
                <a:cs typeface="Tw Cen MT"/>
              </a:rPr>
              <a:t>they 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organizationally located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?</a:t>
            </a:r>
          </a:p>
          <a:p>
            <a:pPr marL="1331595" marR="5080" lvl="1" indent="-342900" algn="just" defTabSz="914400">
              <a:lnSpc>
                <a:spcPct val="80000"/>
              </a:lnSpc>
              <a:spcBef>
                <a:spcPts val="225"/>
              </a:spcBef>
              <a:buClr>
                <a:srgbClr val="7D96AC"/>
              </a:buClr>
              <a:buSzPct val="69444"/>
              <a:buFont typeface="Wingdings"/>
              <a:buChar char=""/>
              <a:tabLst>
                <a:tab pos="1332230" algn="l"/>
              </a:tabLst>
            </a:pPr>
            <a:r>
              <a:rPr spc="-10" dirty="0">
                <a:solidFill>
                  <a:prstClr val="black"/>
                </a:solidFill>
                <a:latin typeface="Tw Cen MT"/>
                <a:cs typeface="Tw Cen MT"/>
              </a:rPr>
              <a:t>Answer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to this question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indicates that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all </a:t>
            </a:r>
            <a:r>
              <a:rPr spc="-10" dirty="0">
                <a:solidFill>
                  <a:prstClr val="black"/>
                </a:solidFill>
                <a:latin typeface="Tw Cen MT"/>
                <a:cs typeface="Tw Cen MT"/>
              </a:rPr>
              <a:t>roles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and responsibilities are not limited  to the </a:t>
            </a:r>
            <a:r>
              <a:rPr spc="-10" dirty="0">
                <a:solidFill>
                  <a:prstClr val="black"/>
                </a:solidFill>
                <a:latin typeface="Tw Cen MT"/>
                <a:cs typeface="Tw Cen MT"/>
              </a:rPr>
              <a:t>software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team </a:t>
            </a:r>
            <a:r>
              <a:rPr spc="-20" dirty="0">
                <a:solidFill>
                  <a:prstClr val="black"/>
                </a:solidFill>
                <a:latin typeface="Tw Cen MT"/>
                <a:cs typeface="Tw Cen MT"/>
              </a:rPr>
              <a:t>itself,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the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customers,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users and </a:t>
            </a:r>
            <a:r>
              <a:rPr spc="-10" dirty="0">
                <a:solidFill>
                  <a:prstClr val="black"/>
                </a:solidFill>
                <a:latin typeface="Tw Cen MT"/>
                <a:cs typeface="Tw Cen MT"/>
              </a:rPr>
              <a:t>stakeholders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also </a:t>
            </a:r>
            <a:r>
              <a:rPr spc="-10" dirty="0">
                <a:solidFill>
                  <a:prstClr val="black"/>
                </a:solidFill>
                <a:latin typeface="Tw Cen MT"/>
                <a:cs typeface="Tw Cen MT"/>
              </a:rPr>
              <a:t>have 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responsibilities.</a:t>
            </a:r>
            <a:endParaRPr dirty="0">
              <a:solidFill>
                <a:prstClr val="black"/>
              </a:solidFill>
              <a:latin typeface="Tw Cen MT"/>
              <a:cs typeface="Tw Cen MT"/>
            </a:endParaRPr>
          </a:p>
          <a:p>
            <a:pPr lvl="1" defTabSz="914400">
              <a:spcBef>
                <a:spcPts val="35"/>
              </a:spcBef>
              <a:buClr>
                <a:srgbClr val="7D96AC"/>
              </a:buClr>
              <a:buFont typeface="Wingdings"/>
              <a:buChar char=""/>
            </a:pPr>
            <a:endParaRPr sz="14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74394" indent="-342900" defTabSz="914400">
              <a:lnSpc>
                <a:spcPts val="2675"/>
              </a:lnSpc>
              <a:buClr>
                <a:srgbClr val="DC9E1F"/>
              </a:buClr>
              <a:buSzPct val="58333"/>
              <a:buFont typeface="Wingdings"/>
              <a:buChar char=""/>
              <a:tabLst>
                <a:tab pos="874394" algn="l"/>
                <a:tab pos="875030" algn="l"/>
              </a:tabLst>
            </a:pPr>
            <a:r>
              <a:rPr sz="2400" b="1" spc="-25" dirty="0">
                <a:solidFill>
                  <a:srgbClr val="7D96AC"/>
                </a:solidFill>
                <a:latin typeface="Tw Cen MT"/>
                <a:cs typeface="Tw Cen MT"/>
              </a:rPr>
              <a:t>H</a:t>
            </a:r>
            <a:r>
              <a:rPr sz="2400" spc="-25" dirty="0">
                <a:solidFill>
                  <a:prstClr val="black"/>
                </a:solidFill>
                <a:latin typeface="Tw Cen MT"/>
                <a:cs typeface="Tw Cen MT"/>
              </a:rPr>
              <a:t>ow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will </a:t>
            </a:r>
            <a:r>
              <a:rPr lang="en-US" sz="2400" dirty="0">
                <a:solidFill>
                  <a:prstClr val="black"/>
                </a:solidFill>
                <a:latin typeface="Tw Cen MT"/>
                <a:cs typeface="Tw Cen MT"/>
              </a:rPr>
              <a:t>the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job </a:t>
            </a:r>
            <a:r>
              <a:rPr lang="en-US" sz="2400" dirty="0">
                <a:solidFill>
                  <a:prstClr val="black"/>
                </a:solidFill>
                <a:latin typeface="Tw Cen MT"/>
                <a:cs typeface="Tw Cen MT"/>
              </a:rPr>
              <a:t>be carried out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Tw Cen MT"/>
                <a:cs typeface="Tw Cen MT"/>
              </a:rPr>
              <a:t>technically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and 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managerially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?</a:t>
            </a:r>
          </a:p>
          <a:p>
            <a:pPr marL="1331595" marR="5715" lvl="1" indent="-342900" algn="just" defTabSz="914400">
              <a:lnSpc>
                <a:spcPct val="80000"/>
              </a:lnSpc>
              <a:spcBef>
                <a:spcPts val="225"/>
              </a:spcBef>
              <a:buClr>
                <a:srgbClr val="7D96AC"/>
              </a:buClr>
              <a:buSzPct val="69444"/>
              <a:buFont typeface="Wingdings"/>
              <a:buChar char=""/>
              <a:tabLst>
                <a:tab pos="1332230" algn="l"/>
              </a:tabLst>
            </a:pP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Once </a:t>
            </a:r>
            <a:r>
              <a:rPr spc="-10" dirty="0">
                <a:solidFill>
                  <a:prstClr val="black"/>
                </a:solidFill>
                <a:latin typeface="Tw Cen MT"/>
                <a:cs typeface="Tw Cen MT"/>
              </a:rPr>
              <a:t>product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scope establishes,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a </a:t>
            </a:r>
            <a:r>
              <a:rPr spc="5" dirty="0">
                <a:solidFill>
                  <a:prstClr val="black"/>
                </a:solidFill>
                <a:latin typeface="Tw Cen MT"/>
                <a:cs typeface="Tw Cen MT"/>
              </a:rPr>
              <a:t>technical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and </a:t>
            </a:r>
            <a:r>
              <a:rPr spc="-10" dirty="0">
                <a:solidFill>
                  <a:prstClr val="black"/>
                </a:solidFill>
                <a:latin typeface="Tw Cen MT"/>
                <a:cs typeface="Tw Cen MT"/>
              </a:rPr>
              <a:t>management strategy </a:t>
            </a:r>
            <a:r>
              <a:rPr spc="5" dirty="0">
                <a:solidFill>
                  <a:prstClr val="black"/>
                </a:solidFill>
                <a:latin typeface="Tw Cen MT"/>
                <a:cs typeface="Tw Cen MT"/>
              </a:rPr>
              <a:t>must 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be defined </a:t>
            </a:r>
            <a:r>
              <a:rPr spc="-15" dirty="0">
                <a:solidFill>
                  <a:prstClr val="black"/>
                </a:solidFill>
                <a:latin typeface="Tw Cen MT"/>
                <a:cs typeface="Tw Cen MT"/>
              </a:rPr>
              <a:t>for</a:t>
            </a:r>
            <a:r>
              <a:rPr spc="-10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it.</a:t>
            </a:r>
          </a:p>
          <a:p>
            <a:pPr lvl="1" defTabSz="914400">
              <a:spcBef>
                <a:spcPts val="35"/>
              </a:spcBef>
              <a:buClr>
                <a:srgbClr val="7D96AC"/>
              </a:buClr>
              <a:buFont typeface="Wingdings"/>
              <a:buChar char=""/>
            </a:pPr>
            <a:endParaRPr sz="14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74394" indent="-342900" defTabSz="914400">
              <a:lnSpc>
                <a:spcPts val="2680"/>
              </a:lnSpc>
              <a:buClr>
                <a:srgbClr val="DC9E1F"/>
              </a:buClr>
              <a:buSzPct val="58333"/>
              <a:buFont typeface="Wingdings"/>
              <a:buChar char=""/>
              <a:tabLst>
                <a:tab pos="874394" algn="l"/>
                <a:tab pos="875030" algn="l"/>
              </a:tabLst>
            </a:pPr>
            <a:r>
              <a:rPr sz="2400" b="1" spc="-25" dirty="0">
                <a:solidFill>
                  <a:srgbClr val="7D96AC"/>
                </a:solidFill>
                <a:latin typeface="Tw Cen MT"/>
                <a:cs typeface="Tw Cen MT"/>
              </a:rPr>
              <a:t>H</a:t>
            </a:r>
            <a:r>
              <a:rPr sz="2400" spc="-25" dirty="0">
                <a:solidFill>
                  <a:prstClr val="black"/>
                </a:solidFill>
                <a:latin typeface="Tw Cen MT"/>
                <a:cs typeface="Tw Cen MT"/>
              </a:rPr>
              <a:t>ow </a:t>
            </a:r>
            <a:r>
              <a:rPr sz="2400" spc="35" dirty="0">
                <a:solidFill>
                  <a:prstClr val="black"/>
                </a:solidFill>
                <a:latin typeface="Tw Cen MT"/>
                <a:cs typeface="Tw Cen MT"/>
              </a:rPr>
              <a:t>much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of </a:t>
            </a:r>
            <a:r>
              <a:rPr sz="2400" spc="20" dirty="0">
                <a:solidFill>
                  <a:prstClr val="black"/>
                </a:solidFill>
                <a:latin typeface="Tw Cen MT"/>
                <a:cs typeface="Tw Cen MT"/>
              </a:rPr>
              <a:t>each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resource is needed?</a:t>
            </a:r>
          </a:p>
          <a:p>
            <a:pPr marL="1331595" lvl="1" indent="-342900" defTabSz="914400">
              <a:lnSpc>
                <a:spcPts val="1739"/>
              </a:lnSpc>
              <a:buClr>
                <a:srgbClr val="7D96AC"/>
              </a:buClr>
              <a:buSzPct val="69444"/>
              <a:buFont typeface="Wingdings"/>
              <a:buChar char=""/>
              <a:tabLst>
                <a:tab pos="1331595" algn="l"/>
                <a:tab pos="1332230" algn="l"/>
              </a:tabLst>
            </a:pPr>
            <a:r>
              <a:rPr spc="-10" dirty="0">
                <a:solidFill>
                  <a:prstClr val="black"/>
                </a:solidFill>
                <a:latin typeface="Tw Cen MT"/>
                <a:cs typeface="Tw Cen MT"/>
              </a:rPr>
              <a:t>Answer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to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this question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is </a:t>
            </a:r>
            <a:r>
              <a:rPr spc="-10" dirty="0">
                <a:solidFill>
                  <a:prstClr val="black"/>
                </a:solidFill>
                <a:latin typeface="Tw Cen MT"/>
                <a:cs typeface="Tw Cen MT"/>
              </a:rPr>
              <a:t>derived </a:t>
            </a:r>
            <a:r>
              <a:rPr spc="-40" dirty="0">
                <a:solidFill>
                  <a:prstClr val="black"/>
                </a:solidFill>
                <a:latin typeface="Tw Cen MT"/>
                <a:cs typeface="Tw Cen MT"/>
              </a:rPr>
              <a:t>by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developing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estimates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based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on </a:t>
            </a:r>
            <a:r>
              <a:rPr spc="-10" dirty="0">
                <a:solidFill>
                  <a:prstClr val="black"/>
                </a:solidFill>
                <a:latin typeface="Tw Cen MT"/>
                <a:cs typeface="Tw Cen MT"/>
              </a:rPr>
              <a:t>answers  </a:t>
            </a:r>
            <a:r>
              <a:rPr spc="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to</a:t>
            </a:r>
          </a:p>
          <a:p>
            <a:pPr marL="1331595" defTabSz="914400">
              <a:lnSpc>
                <a:spcPts val="1945"/>
              </a:lnSpc>
            </a:pP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earlier</a:t>
            </a:r>
            <a:r>
              <a:rPr spc="-3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questions.</a:t>
            </a:r>
            <a:endParaRPr dirty="0">
              <a:solidFill>
                <a:prstClr val="black"/>
              </a:solidFill>
              <a:latin typeface="Tw Cen MT"/>
              <a:cs typeface="Tw Cen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2115"/>
            <a:r>
              <a:rPr spc="-125" dirty="0"/>
              <a:t>R</a:t>
            </a:r>
            <a:r>
              <a:rPr dirty="0"/>
              <a:t>ef</a:t>
            </a:r>
            <a:r>
              <a:rPr spc="5" dirty="0"/>
              <a:t>e</a:t>
            </a:r>
            <a:r>
              <a:rPr dirty="0"/>
              <a:t>rences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15387" y="1717547"/>
            <a:ext cx="119380" cy="1461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/>
            <a:r>
              <a:rPr sz="950" spc="-5" dirty="0">
                <a:solidFill>
                  <a:srgbClr val="CC8E5F"/>
                </a:solidFill>
                <a:latin typeface="Tw Cen MT"/>
                <a:cs typeface="Tw Cen MT"/>
              </a:rPr>
              <a:t>1.</a:t>
            </a:r>
            <a:endParaRPr sz="95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15387" y="2050160"/>
            <a:ext cx="119380" cy="1461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/>
            <a:r>
              <a:rPr sz="950" spc="-5" dirty="0">
                <a:solidFill>
                  <a:srgbClr val="CC8E5F"/>
                </a:solidFill>
                <a:latin typeface="Tw Cen MT"/>
                <a:cs typeface="Tw Cen MT"/>
              </a:rPr>
              <a:t>2.</a:t>
            </a:r>
            <a:endParaRPr sz="95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15387" y="2382392"/>
            <a:ext cx="119380" cy="1461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/>
            <a:r>
              <a:rPr sz="950" spc="-5" dirty="0">
                <a:solidFill>
                  <a:srgbClr val="CC8E5F"/>
                </a:solidFill>
                <a:latin typeface="Tw Cen MT"/>
                <a:cs typeface="Tw Cen MT"/>
              </a:rPr>
              <a:t>3.</a:t>
            </a:r>
            <a:endParaRPr sz="95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15387" y="2716148"/>
            <a:ext cx="119380" cy="1461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/>
            <a:r>
              <a:rPr sz="950" spc="-5" dirty="0">
                <a:solidFill>
                  <a:srgbClr val="CC8E5F"/>
                </a:solidFill>
                <a:latin typeface="Tw Cen MT"/>
                <a:cs typeface="Tw Cen MT"/>
              </a:rPr>
              <a:t>4.</a:t>
            </a:r>
            <a:endParaRPr sz="95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15387" y="3048380"/>
            <a:ext cx="119380" cy="1461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/>
            <a:r>
              <a:rPr sz="950" spc="-5" dirty="0">
                <a:solidFill>
                  <a:srgbClr val="CC8E5F"/>
                </a:solidFill>
                <a:latin typeface="Tw Cen MT"/>
                <a:cs typeface="Tw Cen MT"/>
              </a:rPr>
              <a:t>5.</a:t>
            </a:r>
            <a:endParaRPr sz="95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15387" y="3380613"/>
            <a:ext cx="119380" cy="1461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/>
            <a:r>
              <a:rPr sz="950" spc="-5" dirty="0">
                <a:solidFill>
                  <a:srgbClr val="CC8E5F"/>
                </a:solidFill>
                <a:latin typeface="Tw Cen MT"/>
                <a:cs typeface="Tw Cen MT"/>
              </a:rPr>
              <a:t>6.</a:t>
            </a:r>
            <a:endParaRPr sz="95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15387" y="3714622"/>
            <a:ext cx="119380" cy="1461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/>
            <a:r>
              <a:rPr sz="950" spc="-5" dirty="0">
                <a:solidFill>
                  <a:srgbClr val="CC8E5F"/>
                </a:solidFill>
                <a:latin typeface="Tw Cen MT"/>
                <a:cs typeface="Tw Cen MT"/>
              </a:rPr>
              <a:t>7.</a:t>
            </a:r>
            <a:endParaRPr sz="95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15387" y="4046854"/>
            <a:ext cx="119380" cy="1461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/>
            <a:r>
              <a:rPr sz="950" spc="-5" dirty="0">
                <a:solidFill>
                  <a:srgbClr val="CC8E5F"/>
                </a:solidFill>
                <a:latin typeface="Tw Cen MT"/>
                <a:cs typeface="Tw Cen MT"/>
              </a:rPr>
              <a:t>8.</a:t>
            </a:r>
            <a:endParaRPr sz="95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15387" y="4379086"/>
            <a:ext cx="119380" cy="1461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/>
            <a:r>
              <a:rPr sz="950" spc="-5" dirty="0">
                <a:solidFill>
                  <a:srgbClr val="CC8E5F"/>
                </a:solidFill>
                <a:latin typeface="Tw Cen MT"/>
                <a:cs typeface="Tw Cen MT"/>
              </a:rPr>
              <a:t>9.</a:t>
            </a:r>
            <a:endParaRPr sz="95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15388" y="4712842"/>
            <a:ext cx="186055" cy="1461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/>
            <a:r>
              <a:rPr sz="950" spc="-5" dirty="0">
                <a:solidFill>
                  <a:srgbClr val="CC8E5F"/>
                </a:solidFill>
                <a:latin typeface="Tw Cen MT"/>
                <a:cs typeface="Tw Cen MT"/>
              </a:rPr>
              <a:t>10.</a:t>
            </a:r>
            <a:endParaRPr sz="95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30805" y="1634997"/>
            <a:ext cx="7465695" cy="3255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/>
            <a:r>
              <a:rPr sz="1600" spc="-15" dirty="0">
                <a:solidFill>
                  <a:prstClr val="black"/>
                </a:solidFill>
                <a:latin typeface="Tw Cen MT"/>
                <a:cs typeface="Tw Cen MT"/>
              </a:rPr>
              <a:t>Software </a:t>
            </a:r>
            <a:r>
              <a:rPr sz="1600" spc="-5" dirty="0">
                <a:solidFill>
                  <a:prstClr val="black"/>
                </a:solidFill>
                <a:latin typeface="Tw Cen MT"/>
                <a:cs typeface="Tw Cen MT"/>
              </a:rPr>
              <a:t>Engineering </a:t>
            </a:r>
            <a:r>
              <a:rPr sz="1600" spc="-50" dirty="0">
                <a:solidFill>
                  <a:prstClr val="black"/>
                </a:solidFill>
                <a:latin typeface="Tw Cen MT"/>
                <a:cs typeface="Tw Cen MT"/>
              </a:rPr>
              <a:t>by </a:t>
            </a:r>
            <a:r>
              <a:rPr sz="1600" spc="-20" dirty="0">
                <a:solidFill>
                  <a:prstClr val="black"/>
                </a:solidFill>
                <a:latin typeface="Tw Cen MT"/>
                <a:cs typeface="Tw Cen MT"/>
              </a:rPr>
              <a:t>Roger</a:t>
            </a:r>
            <a:r>
              <a:rPr sz="1600" spc="10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1600" spc="-5" dirty="0">
                <a:solidFill>
                  <a:prstClr val="black"/>
                </a:solidFill>
                <a:latin typeface="Tw Cen MT"/>
                <a:cs typeface="Tw Cen MT"/>
              </a:rPr>
              <a:t>Pressman</a:t>
            </a:r>
            <a:endParaRPr sz="16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2700" marR="179705" defTabSz="914400">
              <a:lnSpc>
                <a:spcPct val="136300"/>
              </a:lnSpc>
            </a:pPr>
            <a:r>
              <a:rPr sz="1600" spc="-40" dirty="0">
                <a:solidFill>
                  <a:prstClr val="black"/>
                </a:solidFill>
                <a:latin typeface="Tw Cen MT"/>
                <a:cs typeface="Tw Cen MT"/>
              </a:rPr>
              <a:t>Team </a:t>
            </a:r>
            <a:r>
              <a:rPr sz="1600" dirty="0">
                <a:solidFill>
                  <a:prstClr val="black"/>
                </a:solidFill>
                <a:latin typeface="Tw Cen MT"/>
                <a:cs typeface="Tw Cen MT"/>
              </a:rPr>
              <a:t>Structures </a:t>
            </a:r>
            <a:r>
              <a:rPr sz="1600" spc="-10" dirty="0">
                <a:solidFill>
                  <a:prstClr val="black"/>
                </a:solidFill>
                <a:latin typeface="Tw Cen MT"/>
                <a:cs typeface="Tw Cen MT"/>
              </a:rPr>
              <a:t>Portion </a:t>
            </a:r>
            <a:r>
              <a:rPr sz="1600" spc="-15" dirty="0">
                <a:solidFill>
                  <a:prstClr val="black"/>
                </a:solidFill>
                <a:latin typeface="Tw Cen MT"/>
                <a:cs typeface="Tw Cen MT"/>
              </a:rPr>
              <a:t>taken from </a:t>
            </a:r>
            <a:r>
              <a:rPr sz="1600" spc="-5" dirty="0">
                <a:solidFill>
                  <a:prstClr val="black"/>
                </a:solidFill>
                <a:latin typeface="Tw Cen MT"/>
                <a:cs typeface="Tw Cen MT"/>
              </a:rPr>
              <a:t>Gary </a:t>
            </a:r>
            <a:r>
              <a:rPr sz="1600" spc="-20" dirty="0">
                <a:solidFill>
                  <a:prstClr val="black"/>
                </a:solidFill>
                <a:latin typeface="Tw Cen MT"/>
                <a:cs typeface="Tw Cen MT"/>
              </a:rPr>
              <a:t>Pollice </a:t>
            </a:r>
            <a:r>
              <a:rPr sz="1600" spc="-10" dirty="0">
                <a:solidFill>
                  <a:prstClr val="black"/>
                </a:solidFill>
                <a:latin typeface="Tw Cen MT"/>
                <a:cs typeface="Tw Cen MT"/>
              </a:rPr>
              <a:t>lectures </a:t>
            </a:r>
            <a:r>
              <a:rPr sz="1600" dirty="0">
                <a:solidFill>
                  <a:prstClr val="black"/>
                </a:solidFill>
                <a:latin typeface="Tw Cen MT"/>
                <a:cs typeface="Tw Cen MT"/>
              </a:rPr>
              <a:t>on </a:t>
            </a:r>
            <a:r>
              <a:rPr sz="1600" spc="-15" dirty="0">
                <a:solidFill>
                  <a:prstClr val="black"/>
                </a:solidFill>
                <a:latin typeface="Tw Cen MT"/>
                <a:cs typeface="Tw Cen MT"/>
              </a:rPr>
              <a:t>Software </a:t>
            </a:r>
            <a:r>
              <a:rPr sz="1600" spc="-10" dirty="0">
                <a:solidFill>
                  <a:prstClr val="black"/>
                </a:solidFill>
                <a:latin typeface="Tw Cen MT"/>
                <a:cs typeface="Tw Cen MT"/>
              </a:rPr>
              <a:t>Project Management  </a:t>
            </a:r>
            <a:r>
              <a:rPr sz="1600" u="sng" spc="-5" dirty="0">
                <a:solidFill>
                  <a:srgbClr val="636363"/>
                </a:solidFill>
                <a:latin typeface="Tw Cen MT"/>
                <a:cs typeface="Tw Cen MT"/>
                <a:hlinkClick r:id="rId2"/>
              </a:rPr>
              <a:t>http://recruitment.naukrihub.com/recruitment-vs-selection.html</a:t>
            </a:r>
            <a:endParaRPr sz="16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2700" marR="2645410" defTabSz="914400">
              <a:lnSpc>
                <a:spcPct val="136500"/>
              </a:lnSpc>
              <a:spcBef>
                <a:spcPts val="5"/>
              </a:spcBef>
            </a:pPr>
            <a:r>
              <a:rPr sz="1600" u="sng" spc="-5" dirty="0">
                <a:solidFill>
                  <a:srgbClr val="636363"/>
                </a:solidFill>
                <a:latin typeface="Tw Cen MT"/>
                <a:cs typeface="Tw Cen MT"/>
                <a:hlinkClick r:id="rId3"/>
              </a:rPr>
              <a:t>http://en.wikipedia.org/wiki/Performance_management </a:t>
            </a:r>
            <a:r>
              <a:rPr sz="1600" u="sng" spc="-5" dirty="0">
                <a:solidFill>
                  <a:srgbClr val="636363"/>
                </a:solidFill>
                <a:latin typeface="Tw Cen MT"/>
                <a:cs typeface="Tw Cen MT"/>
              </a:rPr>
              <a:t> </a:t>
            </a:r>
            <a:r>
              <a:rPr sz="1600" u="sng" spc="-5" dirty="0">
                <a:solidFill>
                  <a:srgbClr val="636363"/>
                </a:solidFill>
                <a:latin typeface="Tw Cen MT"/>
                <a:cs typeface="Tw Cen MT"/>
                <a:hlinkClick r:id="rId4"/>
              </a:rPr>
              <a:t>http://en.wikipedia.org/wiki/Workers%27_compensation </a:t>
            </a:r>
            <a:r>
              <a:rPr sz="1600" u="sng" spc="-5" dirty="0">
                <a:solidFill>
                  <a:srgbClr val="636363"/>
                </a:solidFill>
                <a:latin typeface="Tw Cen MT"/>
                <a:cs typeface="Tw Cen MT"/>
              </a:rPr>
              <a:t> </a:t>
            </a:r>
            <a:r>
              <a:rPr sz="1600" u="sng" spc="-10" dirty="0">
                <a:solidFill>
                  <a:srgbClr val="636363"/>
                </a:solidFill>
                <a:latin typeface="Tw Cen MT"/>
                <a:cs typeface="Tw Cen MT"/>
                <a:hlinkClick r:id="rId5"/>
              </a:rPr>
              <a:t>http://www.inovus.com/organiza.htm </a:t>
            </a:r>
            <a:r>
              <a:rPr sz="1600" u="sng" spc="-10" dirty="0">
                <a:solidFill>
                  <a:srgbClr val="636363"/>
                </a:solidFill>
                <a:latin typeface="Tw Cen MT"/>
                <a:cs typeface="Tw Cen MT"/>
              </a:rPr>
              <a:t> </a:t>
            </a:r>
            <a:r>
              <a:rPr sz="1600" u="sng" spc="-10" dirty="0">
                <a:solidFill>
                  <a:srgbClr val="636363"/>
                </a:solidFill>
                <a:latin typeface="Tw Cen MT"/>
                <a:cs typeface="Tw Cen MT"/>
                <a:hlinkClick r:id="rId6"/>
              </a:rPr>
              <a:t>http://www.wisegeek.com/what-is-career-development.htm</a:t>
            </a:r>
            <a:endParaRPr sz="16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2700" marR="5080" defTabSz="914400">
              <a:lnSpc>
                <a:spcPct val="136300"/>
              </a:lnSpc>
            </a:pPr>
            <a:r>
              <a:rPr sz="1600" u="sng" spc="-5" dirty="0">
                <a:solidFill>
                  <a:srgbClr val="636363"/>
                </a:solidFill>
                <a:latin typeface="Tw Cen MT"/>
                <a:cs typeface="Tw Cen MT"/>
                <a:hlinkClick r:id="rId7"/>
              </a:rPr>
              <a:t>http://pathikconsulting.com/team-and-culture-development-corporate-culture-consulting.html </a:t>
            </a:r>
            <a:r>
              <a:rPr sz="1600" u="sng" spc="-5" dirty="0">
                <a:solidFill>
                  <a:srgbClr val="636363"/>
                </a:solidFill>
                <a:latin typeface="Tw Cen MT"/>
                <a:cs typeface="Tw Cen MT"/>
              </a:rPr>
              <a:t> </a:t>
            </a:r>
            <a:r>
              <a:rPr sz="1600" u="sng" spc="-5" dirty="0">
                <a:solidFill>
                  <a:srgbClr val="636363"/>
                </a:solidFill>
                <a:latin typeface="Tw Cen MT"/>
                <a:cs typeface="Tw Cen MT"/>
                <a:hlinkClick r:id="rId8"/>
              </a:rPr>
              <a:t>http://www.conx2u.com/index.php?option=com_content&amp;view=article&amp;id=53&amp;Itemid=55</a:t>
            </a:r>
            <a:endParaRPr sz="16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2700" defTabSz="914400">
              <a:spcBef>
                <a:spcPts val="705"/>
              </a:spcBef>
            </a:pPr>
            <a:r>
              <a:rPr sz="1600" u="sng" spc="-5" dirty="0">
                <a:solidFill>
                  <a:srgbClr val="636363"/>
                </a:solidFill>
                <a:latin typeface="Tw Cen MT"/>
                <a:cs typeface="Tw Cen MT"/>
                <a:hlinkClick r:id="rId9"/>
              </a:rPr>
              <a:t>http://en.wikipedia.org/wiki/Bulletin_board_system</a:t>
            </a:r>
            <a:endParaRPr sz="1600" dirty="0">
              <a:solidFill>
                <a:prstClr val="black"/>
              </a:solidFill>
              <a:latin typeface="Tw Cen MT"/>
              <a:cs typeface="Tw Cen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4A3E36E-02EB-9A77-79D7-58A4ADD63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610" y="2352675"/>
            <a:ext cx="7421216" cy="2789168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459</TotalTime>
  <Words>929</Words>
  <Application>Microsoft Office PowerPoint</Application>
  <PresentationFormat>Widescreen</PresentationFormat>
  <Paragraphs>182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Calibri</vt:lpstr>
      <vt:lpstr>Corbel</vt:lpstr>
      <vt:lpstr>Times New Roman</vt:lpstr>
      <vt:lpstr>Tw Cen MT</vt:lpstr>
      <vt:lpstr>Wingdings</vt:lpstr>
      <vt:lpstr>Wingdings 2</vt:lpstr>
      <vt:lpstr>Parallax</vt:lpstr>
      <vt:lpstr>Office Theme</vt:lpstr>
      <vt:lpstr>4 P’s in PM Spectrum (2) Lecture 4</vt:lpstr>
      <vt:lpstr>4 P’s in PM Spectrum</vt:lpstr>
      <vt:lpstr>The Process [1]</vt:lpstr>
      <vt:lpstr>The Process</vt:lpstr>
      <vt:lpstr>Framework Activities</vt:lpstr>
      <vt:lpstr>Process Models</vt:lpstr>
      <vt:lpstr>Process Decomposition</vt:lpstr>
      <vt:lpstr>The Project [1]</vt:lpstr>
      <vt:lpstr>The Projects</vt:lpstr>
      <vt:lpstr>Signs of Projects Risk</vt:lpstr>
      <vt:lpstr>How to avoid problems?</vt:lpstr>
      <vt:lpstr>How to avoid problems?</vt:lpstr>
      <vt:lpstr>W5HH Principle</vt:lpstr>
      <vt:lpstr>W5HH principle</vt:lpstr>
      <vt:lpstr>W5HH principle</vt:lpstr>
      <vt:lpstr>W5HH principle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Quality Engineering</dc:title>
  <cp:lastModifiedBy>Office</cp:lastModifiedBy>
  <cp:revision>149</cp:revision>
  <dcterms:created xsi:type="dcterms:W3CDTF">2020-01-31T11:17:02Z</dcterms:created>
  <dcterms:modified xsi:type="dcterms:W3CDTF">2023-02-21T04:38:37Z</dcterms:modified>
</cp:coreProperties>
</file>