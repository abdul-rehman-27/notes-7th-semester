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30"/>
  </p:notesMasterIdLst>
  <p:sldIdLst>
    <p:sldId id="256" r:id="rId3"/>
    <p:sldId id="353" r:id="rId4"/>
    <p:sldId id="257" r:id="rId5"/>
    <p:sldId id="354" r:id="rId6"/>
    <p:sldId id="355" r:id="rId7"/>
    <p:sldId id="35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352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CF48E-191A-4E97-AB7E-70F10538655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695C5-2509-4C26-BD86-73E00A70D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4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5756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00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768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360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5094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896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6812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8236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75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066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09946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5384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7332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25978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9092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8096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8547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r>
              <a:rPr lang="en-US" spc="-15">
                <a:solidFill>
                  <a:srgbClr val="FFFFFF"/>
                </a:solidFill>
              </a:rPr>
              <a:t>Engr. </a:t>
            </a:r>
            <a:r>
              <a:rPr lang="en-US" spc="-5">
                <a:solidFill>
                  <a:srgbClr val="FFFFFF"/>
                </a:solidFill>
              </a:rPr>
              <a:t>Ali</a:t>
            </a:r>
            <a:r>
              <a:rPr lang="en-US" spc="-90">
                <a:solidFill>
                  <a:srgbClr val="FFFFFF"/>
                </a:solidFill>
              </a:rPr>
              <a:t> </a:t>
            </a:r>
            <a:r>
              <a:rPr lang="en-US" spc="-5">
                <a:solidFill>
                  <a:srgbClr val="FFFFFF"/>
                </a:solidFill>
              </a:rPr>
              <a:t>Javed</a:t>
            </a:r>
            <a:endParaRPr lang="en-US" spc="-5" dirty="0">
              <a:solidFill>
                <a:srgbClr val="FFFFFF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8261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r>
              <a:rPr lang="en-US" spc="-15">
                <a:solidFill>
                  <a:srgbClr val="FFFFFF"/>
                </a:solidFill>
              </a:rPr>
              <a:t>Engr. </a:t>
            </a:r>
            <a:r>
              <a:rPr lang="en-US" spc="-5">
                <a:solidFill>
                  <a:srgbClr val="FFFFFF"/>
                </a:solidFill>
              </a:rPr>
              <a:t>Ali</a:t>
            </a:r>
            <a:r>
              <a:rPr lang="en-US" spc="-90">
                <a:solidFill>
                  <a:srgbClr val="FFFFFF"/>
                </a:solidFill>
              </a:rPr>
              <a:t> </a:t>
            </a:r>
            <a:r>
              <a:rPr lang="en-US" spc="-5">
                <a:solidFill>
                  <a:srgbClr val="FFFFFF"/>
                </a:solidFill>
              </a:rPr>
              <a:t>Javed</a:t>
            </a:r>
            <a:endParaRPr lang="en-US" spc="-5" dirty="0">
              <a:solidFill>
                <a:srgbClr val="FFFFFF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3428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r>
              <a:rPr lang="en-US" spc="-15">
                <a:solidFill>
                  <a:srgbClr val="FFFFFF"/>
                </a:solidFill>
              </a:rPr>
              <a:t>Engr. </a:t>
            </a:r>
            <a:r>
              <a:rPr lang="en-US" spc="-5">
                <a:solidFill>
                  <a:srgbClr val="FFFFFF"/>
                </a:solidFill>
              </a:rPr>
              <a:t>Ali</a:t>
            </a:r>
            <a:r>
              <a:rPr lang="en-US" spc="-90">
                <a:solidFill>
                  <a:srgbClr val="FFFFFF"/>
                </a:solidFill>
              </a:rPr>
              <a:t> </a:t>
            </a:r>
            <a:r>
              <a:rPr lang="en-US" spc="-5">
                <a:solidFill>
                  <a:srgbClr val="FFFFFF"/>
                </a:solidFill>
              </a:rPr>
              <a:t>Javed</a:t>
            </a:r>
            <a:endParaRPr lang="en-US" spc="-5" dirty="0">
              <a:solidFill>
                <a:srgbClr val="FFFFFF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1375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r>
              <a:rPr lang="en-US" spc="-15">
                <a:solidFill>
                  <a:srgbClr val="FFFFFF"/>
                </a:solidFill>
              </a:rPr>
              <a:t>Engr. </a:t>
            </a:r>
            <a:r>
              <a:rPr lang="en-US" spc="-5">
                <a:solidFill>
                  <a:srgbClr val="FFFFFF"/>
                </a:solidFill>
              </a:rPr>
              <a:t>Ali</a:t>
            </a:r>
            <a:r>
              <a:rPr lang="en-US" spc="-90">
                <a:solidFill>
                  <a:srgbClr val="FFFFFF"/>
                </a:solidFill>
              </a:rPr>
              <a:t> </a:t>
            </a:r>
            <a:r>
              <a:rPr lang="en-US" spc="-5">
                <a:solidFill>
                  <a:srgbClr val="FFFFFF"/>
                </a:solidFill>
              </a:rPr>
              <a:t>Javed</a:t>
            </a:r>
            <a:endParaRPr lang="en-US" spc="-5" dirty="0">
              <a:solidFill>
                <a:srgbClr val="FFFFFF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89824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r>
              <a:rPr lang="en-US" spc="-15">
                <a:solidFill>
                  <a:srgbClr val="FFFFFF"/>
                </a:solidFill>
              </a:rPr>
              <a:t>Engr. </a:t>
            </a:r>
            <a:r>
              <a:rPr lang="en-US" spc="-5">
                <a:solidFill>
                  <a:srgbClr val="FFFFFF"/>
                </a:solidFill>
              </a:rPr>
              <a:t>Ali</a:t>
            </a:r>
            <a:r>
              <a:rPr lang="en-US" spc="-90">
                <a:solidFill>
                  <a:srgbClr val="FFFFFF"/>
                </a:solidFill>
              </a:rPr>
              <a:t> </a:t>
            </a:r>
            <a:r>
              <a:rPr lang="en-US" spc="-5">
                <a:solidFill>
                  <a:srgbClr val="FFFFFF"/>
                </a:solidFill>
              </a:rPr>
              <a:t>Javed</a:t>
            </a:r>
            <a:endParaRPr lang="en-US" spc="-5" dirty="0">
              <a:solidFill>
                <a:srgbClr val="FFFFFF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307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CEA6F-A451-4A26-96B2-9AE2BE5E0FA7}" type="datetimeFigureOut">
              <a:rPr lang="en-PK" smtClean="0"/>
              <a:t>05/09/2026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622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7112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787400" y="1280160"/>
            <a:ext cx="11404600" cy="228600"/>
          </a:xfrm>
          <a:custGeom>
            <a:avLst/>
            <a:gdLst/>
            <a:ahLst/>
            <a:cxnLst/>
            <a:rect l="l" t="t" r="r" b="b"/>
            <a:pathLst>
              <a:path w="8553450" h="228600">
                <a:moveTo>
                  <a:pt x="0" y="228600"/>
                </a:moveTo>
                <a:lnTo>
                  <a:pt x="8553450" y="228600"/>
                </a:lnTo>
                <a:lnTo>
                  <a:pt x="8553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205" y="389891"/>
            <a:ext cx="11763587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9751" y="1278891"/>
            <a:ext cx="11732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986" y="6575018"/>
            <a:ext cx="1736513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r>
              <a:rPr lang="en-US" spc="-15">
                <a:solidFill>
                  <a:srgbClr val="FFFFFF"/>
                </a:solidFill>
              </a:rPr>
              <a:t>Engr. </a:t>
            </a:r>
            <a:r>
              <a:rPr lang="en-US" spc="-5">
                <a:solidFill>
                  <a:srgbClr val="FFFFFF"/>
                </a:solidFill>
              </a:rPr>
              <a:t>Ali</a:t>
            </a:r>
            <a:r>
              <a:rPr lang="en-US" spc="-90">
                <a:solidFill>
                  <a:srgbClr val="FFFFFF"/>
                </a:solidFill>
              </a:rPr>
              <a:t> </a:t>
            </a:r>
            <a:r>
              <a:rPr lang="en-US" spc="-5">
                <a:solidFill>
                  <a:srgbClr val="FFFFFF"/>
                </a:solidFill>
              </a:rPr>
              <a:t>Javed</a:t>
            </a:r>
            <a:endParaRPr lang="en-US" spc="-5" dirty="0">
              <a:solidFill>
                <a:srgbClr val="FFFFFF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360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A_Guide_to_the_Project_Management_Body_ofKnowledge" TargetMode="External"/><Relationship Id="rId2" Type="http://schemas.openxmlformats.org/officeDocument/2006/relationships/hyperlink" Target="http://en.wikipedia.org/wiki/Project_stakeholder" TargetMode="Externa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E0F1-384E-41A2-B1AC-FDE81B241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278" y="1400658"/>
            <a:ext cx="9144000" cy="2387600"/>
          </a:xfrm>
        </p:spPr>
        <p:txBody>
          <a:bodyPr/>
          <a:lstStyle/>
          <a:p>
            <a:r>
              <a:rPr lang="en-US" sz="43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Project Management (SPM)</a:t>
            </a:r>
            <a:br>
              <a:rPr lang="en-US" sz="43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95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C67E-45CF-442E-993A-CB78E7F9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50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Catalogue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76A17-D2C0-46C7-99E2-A251A08B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30017"/>
            <a:ext cx="10018713" cy="465151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course covers fundamental concepts of software project management. Topics include: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Project Management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Project Goals, Time &amp; Costs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Management; Quality Management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&amp; Communication Management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Project Pricing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Management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Management Standards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75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C67E-45CF-442E-993A-CB78E7F9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50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76A17-D2C0-46C7-99E2-A251A08B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40835"/>
            <a:ext cx="10018713" cy="280946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the techniques required to plan,  organize, monitor and control software  development projects.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0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5" y="1729360"/>
            <a:ext cx="2049145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25" dirty="0">
                <a:solidFill>
                  <a:srgbClr val="FFFFFF"/>
                </a:solidFill>
              </a:rPr>
              <a:t>Software</a:t>
            </a:r>
          </a:p>
        </p:txBody>
      </p:sp>
      <p:sp>
        <p:nvSpPr>
          <p:cNvPr id="9" name="object 9"/>
          <p:cNvSpPr/>
          <p:nvPr/>
        </p:nvSpPr>
        <p:spPr>
          <a:xfrm>
            <a:off x="1752600" y="3124201"/>
            <a:ext cx="2857500" cy="2428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38900" y="2895601"/>
            <a:ext cx="2705100" cy="1743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00800" y="4886326"/>
            <a:ext cx="2743200" cy="17430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20" dirty="0"/>
              <a:t>Software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96313" y="1278890"/>
            <a:ext cx="8517890" cy="195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3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marR="5080" indent="-320040" algn="just" defTabSz="914400">
              <a:buClr>
                <a:srgbClr val="CC8E5F"/>
              </a:buClr>
              <a:buSzPct val="59615"/>
              <a:buFont typeface="Wingdings"/>
              <a:buChar char=""/>
              <a:tabLst>
                <a:tab pos="852169" algn="l"/>
              </a:tabLst>
            </a:pPr>
            <a:r>
              <a:rPr sz="2600" spc="-15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2600" spc="-5" dirty="0">
                <a:solidFill>
                  <a:prstClr val="black"/>
                </a:solidFill>
                <a:latin typeface="Tw Cen MT"/>
                <a:cs typeface="Tw Cen MT"/>
              </a:rPr>
              <a:t>can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be considered a </a:t>
            </a:r>
            <a:r>
              <a:rPr sz="2600" spc="-10" dirty="0">
                <a:solidFill>
                  <a:prstClr val="black"/>
                </a:solidFill>
                <a:latin typeface="Tw Cen MT"/>
                <a:cs typeface="Tw Cen MT"/>
              </a:rPr>
              <a:t>product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of engineering </a:t>
            </a:r>
            <a:r>
              <a:rPr sz="2600" spc="-5" dirty="0">
                <a:solidFill>
                  <a:prstClr val="black"/>
                </a:solidFill>
                <a:latin typeface="Tw Cen MT"/>
                <a:cs typeface="Tw Cen MT"/>
              </a:rPr>
              <a:t>just  </a:t>
            </a:r>
            <a:r>
              <a:rPr sz="2600" spc="-15" dirty="0">
                <a:solidFill>
                  <a:prstClr val="black"/>
                </a:solidFill>
                <a:latin typeface="Tw Cen MT"/>
                <a:cs typeface="Tw Cen MT"/>
              </a:rPr>
              <a:t>like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an </a:t>
            </a:r>
            <a:r>
              <a:rPr sz="2600" spc="-10" dirty="0">
                <a:solidFill>
                  <a:prstClr val="black"/>
                </a:solidFill>
                <a:latin typeface="Tw Cen MT"/>
                <a:cs typeface="Tw Cen MT"/>
              </a:rPr>
              <a:t>airplane, automobile,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television, </a:t>
            </a:r>
            <a:r>
              <a:rPr sz="2600" spc="5" dirty="0">
                <a:solidFill>
                  <a:prstClr val="black"/>
                </a:solidFill>
                <a:latin typeface="Tw Cen MT"/>
                <a:cs typeface="Tw Cen MT"/>
              </a:rPr>
              <a:t>or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an other </a:t>
            </a:r>
            <a:r>
              <a:rPr sz="2600" spc="-5" dirty="0">
                <a:solidFill>
                  <a:prstClr val="black"/>
                </a:solidFill>
                <a:latin typeface="Tw Cen MT"/>
                <a:cs typeface="Tw Cen MT"/>
              </a:rPr>
              <a:t>object 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that requires a high </a:t>
            </a:r>
            <a:r>
              <a:rPr sz="2600" spc="-5" dirty="0">
                <a:solidFill>
                  <a:prstClr val="black"/>
                </a:solidFill>
                <a:latin typeface="Tw Cen MT"/>
                <a:cs typeface="Tw Cen MT"/>
              </a:rPr>
              <a:t>degree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600" spc="-5" dirty="0">
                <a:solidFill>
                  <a:prstClr val="black"/>
                </a:solidFill>
                <a:latin typeface="Tw Cen MT"/>
                <a:cs typeface="Tw Cen MT"/>
              </a:rPr>
              <a:t>skill to </a:t>
            </a:r>
            <a:r>
              <a:rPr sz="2600" spc="5" dirty="0">
                <a:solidFill>
                  <a:prstClr val="black"/>
                </a:solidFill>
                <a:latin typeface="Tw Cen MT"/>
                <a:cs typeface="Tw Cen MT"/>
              </a:rPr>
              <a:t>turn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600" spc="-15" dirty="0">
                <a:solidFill>
                  <a:prstClr val="black"/>
                </a:solidFill>
                <a:latin typeface="Tw Cen MT"/>
                <a:cs typeface="Tw Cen MT"/>
              </a:rPr>
              <a:t>raw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material  into a usable</a:t>
            </a:r>
            <a:r>
              <a:rPr sz="2600" spc="-1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600" spc="-5" dirty="0">
                <a:solidFill>
                  <a:prstClr val="black"/>
                </a:solidFill>
                <a:latin typeface="Tw Cen MT"/>
                <a:cs typeface="Tw Cen MT"/>
              </a:rPr>
              <a:t>product.</a:t>
            </a:r>
            <a:endParaRPr sz="26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40218" y="3302380"/>
            <a:ext cx="2371725" cy="414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1958975" algn="l"/>
              </a:tabLst>
            </a:pP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en</a:t>
            </a:r>
            <a:r>
              <a:rPr sz="2600" spc="-10" dirty="0">
                <a:solidFill>
                  <a:prstClr val="black"/>
                </a:solidFill>
                <a:latin typeface="Tw Cen MT"/>
                <a:cs typeface="Tw Cen MT"/>
              </a:rPr>
              <a:t>g</a:t>
            </a:r>
            <a:r>
              <a:rPr sz="2600" spc="-5" dirty="0">
                <a:solidFill>
                  <a:prstClr val="black"/>
                </a:solidFill>
                <a:latin typeface="Tw Cen MT"/>
                <a:cs typeface="Tw Cen MT"/>
              </a:rPr>
              <a:t>ine</a:t>
            </a:r>
            <a:r>
              <a:rPr sz="2600" spc="1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red,	not</a:t>
            </a:r>
            <a:endParaRPr sz="26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5388" y="3302380"/>
            <a:ext cx="5273675" cy="212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marR="5080" indent="-320040" defTabSz="914400">
              <a:buClr>
                <a:srgbClr val="CC8E5F"/>
              </a:buClr>
              <a:buSzPct val="59615"/>
              <a:buFont typeface="Wingdings"/>
              <a:buChar char=""/>
              <a:tabLst>
                <a:tab pos="332740" algn="l"/>
                <a:tab pos="333375" algn="l"/>
                <a:tab pos="1109980" algn="l"/>
                <a:tab pos="2626360" algn="l"/>
                <a:tab pos="3185795" algn="l"/>
                <a:tab pos="4982845" algn="l"/>
              </a:tabLst>
            </a:pPr>
            <a:r>
              <a:rPr sz="2600" spc="5" dirty="0">
                <a:solidFill>
                  <a:prstClr val="black"/>
                </a:solidFill>
                <a:latin typeface="Tw Cen MT"/>
                <a:cs typeface="Tw Cen MT"/>
              </a:rPr>
              <a:t>B</a:t>
            </a:r>
            <a:r>
              <a:rPr sz="2600" spc="-15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t	soft</a:t>
            </a:r>
            <a:r>
              <a:rPr sz="2600" spc="-12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are	</a:t>
            </a:r>
            <a:r>
              <a:rPr sz="2600" spc="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s	d</a:t>
            </a:r>
            <a:r>
              <a:rPr sz="2600" spc="1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600" spc="-60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6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600" spc="-5" dirty="0">
                <a:solidFill>
                  <a:prstClr val="black"/>
                </a:solidFill>
                <a:latin typeface="Tw Cen MT"/>
                <a:cs typeface="Tw Cen MT"/>
              </a:rPr>
              <a:t>lope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d	</a:t>
            </a:r>
            <a:r>
              <a:rPr sz="2600" spc="5" dirty="0">
                <a:solidFill>
                  <a:prstClr val="black"/>
                </a:solidFill>
                <a:latin typeface="Tw Cen MT"/>
                <a:cs typeface="Tw Cen MT"/>
              </a:rPr>
              <a:t>or 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manufactured!</a:t>
            </a:r>
          </a:p>
          <a:p>
            <a:pPr marL="332740" indent="-320040" defTabSz="914400">
              <a:spcBef>
                <a:spcPts val="695"/>
              </a:spcBef>
              <a:buClr>
                <a:srgbClr val="CC8E5F"/>
              </a:buClr>
              <a:buSzPct val="59615"/>
              <a:buFont typeface="Wingdings"/>
              <a:buChar char=""/>
              <a:tabLst>
                <a:tab pos="332740" algn="l"/>
                <a:tab pos="333375" algn="l"/>
              </a:tabLst>
            </a:pPr>
            <a:r>
              <a:rPr sz="2600"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can be of different</a:t>
            </a:r>
            <a:r>
              <a:rPr sz="2600" spc="-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types:</a:t>
            </a:r>
          </a:p>
          <a:p>
            <a:pPr marL="652780" lvl="1" indent="-274320" defTabSz="914400">
              <a:spcBef>
                <a:spcPts val="625"/>
              </a:spcBef>
              <a:buClr>
                <a:srgbClr val="7D96AC"/>
              </a:buClr>
              <a:buSzPct val="68181"/>
              <a:buFont typeface="Wingdings 2"/>
              <a:buChar char=""/>
              <a:tabLst>
                <a:tab pos="653415" algn="l"/>
              </a:tabLst>
            </a:pP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System</a:t>
            </a:r>
            <a:r>
              <a:rPr sz="2200"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652780" lvl="1" indent="-274320" defTabSz="914400">
              <a:spcBef>
                <a:spcPts val="600"/>
              </a:spcBef>
              <a:buClr>
                <a:srgbClr val="7D96AC"/>
              </a:buClr>
              <a:buSzPct val="68181"/>
              <a:buFont typeface="Wingdings 2"/>
              <a:buChar char=""/>
              <a:tabLst>
                <a:tab pos="653415" algn="l"/>
              </a:tabLst>
            </a:pP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Application </a:t>
            </a:r>
            <a:r>
              <a:rPr sz="2200" spc="-15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r>
              <a:rPr sz="2200" spc="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etc.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4" y="1729360"/>
            <a:ext cx="153035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solidFill>
                  <a:srgbClr val="FFFFFF"/>
                </a:solidFill>
              </a:rPr>
              <a:t>P</a:t>
            </a:r>
            <a:r>
              <a:rPr spc="-85" dirty="0">
                <a:solidFill>
                  <a:srgbClr val="FFFFFF"/>
                </a:solidFill>
              </a:rPr>
              <a:t>r</a:t>
            </a:r>
            <a:r>
              <a:rPr dirty="0">
                <a:solidFill>
                  <a:srgbClr val="FFFFFF"/>
                </a:solidFill>
              </a:rPr>
              <a:t>oject</a:t>
            </a:r>
          </a:p>
        </p:txBody>
      </p:sp>
      <p:sp>
        <p:nvSpPr>
          <p:cNvPr id="10" name="object 10"/>
          <p:cNvSpPr/>
          <p:nvPr/>
        </p:nvSpPr>
        <p:spPr>
          <a:xfrm>
            <a:off x="4038600" y="3352736"/>
            <a:ext cx="4043426" cy="2690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5" dirty="0"/>
              <a:t>Project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696314" y="1278891"/>
            <a:ext cx="8518525" cy="452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1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30"/>
              </a:spcBef>
            </a:pPr>
            <a:endParaRPr sz="10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9259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35"/>
              </a:spcBef>
              <a:buClr>
                <a:srgbClr val="7D96AC"/>
              </a:buClr>
              <a:buSzPct val="68181"/>
              <a:buFont typeface="Wingdings"/>
              <a:buChar char=""/>
              <a:tabLst>
                <a:tab pos="117221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It is a temporary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endeavor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(having specific 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start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and completion</a:t>
            </a:r>
            <a:r>
              <a:rPr lang="en-US" sz="2000" spc="-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dates)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undertaken to create a unique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product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or</a:t>
            </a:r>
            <a:r>
              <a:rPr sz="2000" spc="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10" dirty="0">
                <a:solidFill>
                  <a:prstClr val="black"/>
                </a:solidFill>
                <a:latin typeface="Tw Cen MT"/>
                <a:cs typeface="Tw Cen MT"/>
              </a:rPr>
              <a:t>service</a:t>
            </a:r>
            <a:r>
              <a:rPr lang="en-US" sz="2000" spc="10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/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spcBef>
                <a:spcPts val="137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000" spc="-25" dirty="0">
                <a:solidFill>
                  <a:prstClr val="black"/>
                </a:solidFill>
                <a:latin typeface="Tw Cen MT"/>
                <a:cs typeface="Tw Cen MT"/>
              </a:rPr>
              <a:t>Temporary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indent="-274320" defTabSz="914400">
              <a:spcBef>
                <a:spcPts val="39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It means that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every project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has a definite </a:t>
            </a:r>
            <a:r>
              <a:rPr sz="2000" i="1" dirty="0">
                <a:solidFill>
                  <a:prstClr val="black"/>
                </a:solidFill>
                <a:latin typeface="Tw Cen MT"/>
                <a:cs typeface="Tw Cen MT"/>
              </a:rPr>
              <a:t>beginning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and definite</a:t>
            </a:r>
            <a:r>
              <a:rPr sz="2000" spc="-2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i="1" dirty="0">
                <a:solidFill>
                  <a:prstClr val="black"/>
                </a:solidFill>
                <a:latin typeface="Tw Cen MT"/>
                <a:cs typeface="Tw Cen MT"/>
              </a:rPr>
              <a:t>end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marR="10160" lvl="1" indent="-228600" defTabSz="914400">
              <a:lnSpc>
                <a:spcPts val="1939"/>
              </a:lnSpc>
              <a:spcBef>
                <a:spcPts val="540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End is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reached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when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project’s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objectives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have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been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achieved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OR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it is clear  that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objective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will not be met. The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is terminated in </a:t>
            </a:r>
            <a:r>
              <a:rPr spc="15" dirty="0">
                <a:solidFill>
                  <a:prstClr val="black"/>
                </a:solidFill>
                <a:latin typeface="Tw Cen MT"/>
                <a:cs typeface="Tw Cen MT"/>
              </a:rPr>
              <a:t>such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pc="-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situation</a:t>
            </a:r>
            <a:r>
              <a:rPr lang="en-US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1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spcBef>
                <a:spcPts val="1575"/>
              </a:spcBef>
              <a:buClr>
                <a:srgbClr val="CC8E5F"/>
              </a:buClr>
              <a:buSzPct val="60416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Unique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marR="5080" lvl="1" indent="-274320" defTabSz="914400">
              <a:lnSpc>
                <a:spcPts val="2160"/>
              </a:lnSpc>
              <a:spcBef>
                <a:spcPts val="645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It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means that the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product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or </a:t>
            </a:r>
            <a:r>
              <a:rPr sz="2000" spc="10" dirty="0">
                <a:solidFill>
                  <a:prstClr val="black"/>
                </a:solidFill>
                <a:latin typeface="Tw Cen MT"/>
                <a:cs typeface="Tw Cen MT"/>
              </a:rPr>
              <a:t>service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is different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in some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distinguishing </a:t>
            </a:r>
            <a:r>
              <a:rPr sz="2000" spc="-45" dirty="0">
                <a:solidFill>
                  <a:prstClr val="black"/>
                </a:solidFill>
                <a:latin typeface="Tw Cen MT"/>
                <a:cs typeface="Tw Cen MT"/>
              </a:rPr>
              <a:t>way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from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all similar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products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or</a:t>
            </a:r>
            <a:r>
              <a:rPr sz="2000" spc="-1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10" dirty="0">
                <a:solidFill>
                  <a:prstClr val="black"/>
                </a:solidFill>
                <a:latin typeface="Tw Cen MT"/>
                <a:cs typeface="Tw Cen MT"/>
              </a:rPr>
              <a:t>services</a:t>
            </a:r>
            <a:r>
              <a:rPr lang="en-US" sz="2000" spc="10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10"/>
              </a:spcBef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5" y="1729360"/>
            <a:ext cx="4565892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solidFill>
                  <a:srgbClr val="FFFFFF"/>
                </a:solidFill>
              </a:rPr>
              <a:t>Man</a:t>
            </a:r>
            <a:r>
              <a:rPr spc="-20" dirty="0">
                <a:solidFill>
                  <a:srgbClr val="FFFFFF"/>
                </a:solidFill>
              </a:rPr>
              <a:t>a</a:t>
            </a:r>
            <a:r>
              <a:rPr spc="-95" dirty="0">
                <a:solidFill>
                  <a:srgbClr val="FFFFFF"/>
                </a:solidFill>
              </a:rPr>
              <a:t>g</a:t>
            </a:r>
            <a:r>
              <a:rPr dirty="0">
                <a:solidFill>
                  <a:srgbClr val="FFFFFF"/>
                </a:solidFill>
              </a:rPr>
              <a:t>ement</a:t>
            </a:r>
          </a:p>
        </p:txBody>
      </p:sp>
      <p:sp>
        <p:nvSpPr>
          <p:cNvPr id="10" name="object 10"/>
          <p:cNvSpPr/>
          <p:nvPr/>
        </p:nvSpPr>
        <p:spPr>
          <a:xfrm>
            <a:off x="2209801" y="3276650"/>
            <a:ext cx="2447925" cy="26198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81800" y="3352800"/>
            <a:ext cx="2438400" cy="251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0"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5387" y="1629409"/>
            <a:ext cx="313436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332740" algn="l"/>
                <a:tab pos="333375" algn="l"/>
                <a:tab pos="942340" algn="l"/>
                <a:tab pos="2651125" algn="l"/>
              </a:tabLst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Th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g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aniz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tion	and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2435" y="1629409"/>
            <a:ext cx="152336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coordi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ation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6709" y="1629409"/>
            <a:ext cx="84709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465455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	the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2869" y="1995551"/>
            <a:ext cx="85598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ce</a:t>
            </a:r>
            <a:r>
              <a:rPr sz="2400" spc="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tain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62721" y="1995551"/>
            <a:ext cx="91948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policies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07502" y="1629410"/>
            <a:ext cx="2005330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1239520" algn="l"/>
                <a:tab pos="168910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tiv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itie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	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f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an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  <a:p>
            <a:pPr marL="1041400" defTabSz="914400">
              <a:tabLst>
                <a:tab pos="1791335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	in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5733" y="1995551"/>
            <a:ext cx="4238625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1505585" algn="l"/>
                <a:tab pos="1987550" algn="l"/>
                <a:tab pos="3664585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enterprise	in	accordance	with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defTabSz="914400"/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achievement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 defined</a:t>
            </a:r>
            <a:r>
              <a:rPr sz="2400" spc="-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objectives.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5387" y="3025776"/>
            <a:ext cx="79971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marR="5080" indent="-320040" algn="just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333375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Management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is the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process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designing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 maintaining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an  environment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 </a:t>
            </a:r>
            <a:r>
              <a:rPr sz="2400" spc="15" dirty="0">
                <a:solidFill>
                  <a:prstClr val="black"/>
                </a:solidFill>
                <a:latin typeface="Tw Cen MT"/>
                <a:cs typeface="Tw Cen MT"/>
              </a:rPr>
              <a:t>which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different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individuals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working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together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  the form of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groups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effectively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 efficiently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accomplished the 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desired</a:t>
            </a:r>
            <a:r>
              <a:rPr sz="2400" spc="-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objectives</a:t>
            </a: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25" dirty="0"/>
              <a:t>Why </a:t>
            </a:r>
            <a:r>
              <a:rPr spc="-40" dirty="0"/>
              <a:t>we </a:t>
            </a:r>
            <a:r>
              <a:rPr dirty="0"/>
              <a:t>need</a:t>
            </a:r>
            <a:r>
              <a:rPr spc="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4551680" cy="2482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95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increase the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productivity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700"/>
              </a:spcBef>
              <a:buClr>
                <a:srgbClr val="CC8E5F"/>
              </a:buClr>
              <a:buSzPct val="60416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95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avoid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time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lapse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695"/>
              </a:spcBef>
              <a:buClr>
                <a:srgbClr val="CC8E5F"/>
              </a:buClr>
              <a:buSzPct val="60416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95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organize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task in daily</a:t>
            </a:r>
            <a:r>
              <a:rPr sz="2400" spc="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life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705"/>
              </a:spcBef>
              <a:buClr>
                <a:srgbClr val="CC8E5F"/>
              </a:buClr>
              <a:buSzPct val="60416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95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avoid 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wastage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</a:t>
            </a:r>
            <a:r>
              <a:rPr sz="2400" spc="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resources</a:t>
            </a:r>
          </a:p>
        </p:txBody>
      </p:sp>
      <p:sp>
        <p:nvSpPr>
          <p:cNvPr id="4" name="object 4"/>
          <p:cNvSpPr/>
          <p:nvPr/>
        </p:nvSpPr>
        <p:spPr>
          <a:xfrm>
            <a:off x="2576105" y="4130599"/>
            <a:ext cx="3657600" cy="1690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36903" y="4143851"/>
            <a:ext cx="1630019" cy="16802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0" dirty="0"/>
              <a:t>Responsibilities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8428990" cy="4893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"/>
              </a:spcBef>
            </a:pPr>
            <a:endParaRPr sz="11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15" dirty="0">
                <a:solidFill>
                  <a:prstClr val="black"/>
                </a:solidFill>
                <a:latin typeface="Tw Cen MT"/>
                <a:cs typeface="Tw Cen MT"/>
              </a:rPr>
              <a:t>Answerable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to Stakeholders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an</a:t>
            </a:r>
            <a:r>
              <a:rPr sz="2200" spc="1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Tw Cen MT"/>
                <a:cs typeface="Tw Cen MT"/>
              </a:rPr>
              <a:t>organization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695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15" dirty="0">
                <a:solidFill>
                  <a:prstClr val="black"/>
                </a:solidFill>
                <a:latin typeface="Tw Cen MT"/>
                <a:cs typeface="Tw Cen MT"/>
              </a:rPr>
              <a:t>Give Employees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good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working</a:t>
            </a:r>
            <a:r>
              <a:rPr sz="2200" spc="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conditions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705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15" dirty="0">
                <a:solidFill>
                  <a:prstClr val="black"/>
                </a:solidFill>
                <a:latin typeface="Tw Cen MT"/>
                <a:cs typeface="Tw Cen MT"/>
              </a:rPr>
              <a:t>Give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customers right thing in right price &amp;</a:t>
            </a:r>
            <a:r>
              <a:rPr sz="2200" spc="2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time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695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Maintain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good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relationships </a:t>
            </a:r>
            <a:r>
              <a:rPr sz="2200" spc="-10" dirty="0">
                <a:solidFill>
                  <a:prstClr val="black"/>
                </a:solidFill>
                <a:latin typeface="Tw Cen MT"/>
                <a:cs typeface="Tw Cen MT"/>
              </a:rPr>
              <a:t>between organization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and the</a:t>
            </a:r>
            <a:r>
              <a:rPr sz="2200" spc="2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suppliers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695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10" dirty="0">
                <a:solidFill>
                  <a:prstClr val="black"/>
                </a:solidFill>
                <a:latin typeface="Tw Cen MT"/>
                <a:cs typeface="Tw Cen MT"/>
              </a:rPr>
              <a:t>Develop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future plans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sz="2200" spc="1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Tw Cen MT"/>
                <a:cs typeface="Tw Cen MT"/>
              </a:rPr>
              <a:t>organization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710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10" dirty="0">
                <a:solidFill>
                  <a:prstClr val="black"/>
                </a:solidFill>
                <a:latin typeface="Tw Cen MT"/>
                <a:cs typeface="Tw Cen MT"/>
              </a:rPr>
              <a:t>Develop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and ensure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community</a:t>
            </a:r>
            <a:r>
              <a:rPr sz="2200" spc="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Tw Cen MT"/>
                <a:cs typeface="Tw Cen MT"/>
              </a:rPr>
              <a:t>support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695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20" dirty="0">
                <a:solidFill>
                  <a:prstClr val="black"/>
                </a:solidFill>
                <a:latin typeface="Tw Cen MT"/>
                <a:cs typeface="Tw Cen MT"/>
              </a:rPr>
              <a:t>Know-how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government </a:t>
            </a:r>
            <a:r>
              <a:rPr sz="2200" spc="5" dirty="0">
                <a:solidFill>
                  <a:prstClr val="black"/>
                </a:solidFill>
                <a:latin typeface="Tw Cen MT"/>
                <a:cs typeface="Tw Cen MT"/>
              </a:rPr>
              <a:t>rules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and</a:t>
            </a:r>
            <a:r>
              <a:rPr sz="2200" spc="1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regulations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695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20" dirty="0">
                <a:solidFill>
                  <a:prstClr val="black"/>
                </a:solidFill>
                <a:latin typeface="Tw Cen MT"/>
                <a:cs typeface="Tw Cen MT"/>
              </a:rPr>
              <a:t>Awareness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of currency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fluctuation and interest</a:t>
            </a:r>
            <a:r>
              <a:rPr sz="2200" spc="1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Tw Cen MT"/>
                <a:cs typeface="Tw Cen MT"/>
              </a:rPr>
              <a:t>rates</a:t>
            </a:r>
            <a:endParaRPr sz="2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710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Preparation </a:t>
            </a:r>
            <a:r>
              <a:rPr sz="2200" spc="-10" dirty="0">
                <a:solidFill>
                  <a:prstClr val="black"/>
                </a:solidFill>
                <a:latin typeface="Tw Cen MT"/>
                <a:cs typeface="Tw Cen MT"/>
              </a:rPr>
              <a:t>against</a:t>
            </a:r>
            <a:r>
              <a:rPr sz="2200" spc="-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disasters</a:t>
            </a:r>
          </a:p>
          <a:p>
            <a:pPr marL="851535" indent="-320040" defTabSz="914400">
              <a:spcBef>
                <a:spcPts val="695"/>
              </a:spcBef>
              <a:buClr>
                <a:srgbClr val="CC8E5F"/>
              </a:buClr>
              <a:buSzPct val="5909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Capability to </a:t>
            </a:r>
            <a:r>
              <a:rPr sz="2200" spc="-10" dirty="0">
                <a:solidFill>
                  <a:prstClr val="black"/>
                </a:solidFill>
                <a:latin typeface="Tw Cen MT"/>
                <a:cs typeface="Tw Cen MT"/>
              </a:rPr>
              <a:t>manage </a:t>
            </a:r>
            <a:r>
              <a:rPr sz="2200" spc="-5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sz="2200" spc="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200" dirty="0">
                <a:solidFill>
                  <a:prstClr val="black"/>
                </a:solidFill>
                <a:latin typeface="Tw Cen MT"/>
                <a:cs typeface="Tw Cen MT"/>
              </a:rPr>
              <a:t>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0" dirty="0"/>
              <a:t>Management</a:t>
            </a:r>
            <a:r>
              <a:rPr spc="-30" dirty="0"/>
              <a:t> </a:t>
            </a:r>
            <a:r>
              <a:rPr spc="-5" dirty="0"/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7684770" cy="473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20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31495" defTabSz="914400"/>
            <a:r>
              <a:rPr sz="2900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900" spc="-5" dirty="0">
                <a:solidFill>
                  <a:prstClr val="black"/>
                </a:solidFill>
                <a:latin typeface="Tw Cen MT"/>
                <a:cs typeface="Tw Cen MT"/>
              </a:rPr>
              <a:t>management </a:t>
            </a:r>
            <a:r>
              <a:rPr sz="2900" spc="-15" dirty="0">
                <a:solidFill>
                  <a:prstClr val="black"/>
                </a:solidFill>
                <a:latin typeface="Tw Cen MT"/>
                <a:cs typeface="Tw Cen MT"/>
              </a:rPr>
              <a:t>involves </a:t>
            </a:r>
            <a:r>
              <a:rPr sz="2900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900" spc="-15" dirty="0">
                <a:solidFill>
                  <a:prstClr val="black"/>
                </a:solidFill>
                <a:latin typeface="Tw Cen MT"/>
                <a:cs typeface="Tw Cen MT"/>
              </a:rPr>
              <a:t>following</a:t>
            </a:r>
            <a:r>
              <a:rPr sz="29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900" dirty="0">
                <a:solidFill>
                  <a:prstClr val="black"/>
                </a:solidFill>
                <a:latin typeface="Tw Cen MT"/>
                <a:cs typeface="Tw Cen MT"/>
              </a:rPr>
              <a:t>activities:</a:t>
            </a:r>
          </a:p>
          <a:p>
            <a:pPr marL="1171575" indent="-274320" defTabSz="914400">
              <a:spcBef>
                <a:spcPts val="65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endParaRPr lang="en-US" sz="2000" b="1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indent="-274320" defTabSz="914400">
              <a:spcBef>
                <a:spcPts val="65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Planning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- deciding what is to be</a:t>
            </a:r>
            <a:r>
              <a:rPr sz="2000" spc="-1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done</a:t>
            </a:r>
          </a:p>
          <a:p>
            <a:pPr marL="1171575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Organizing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- making</a:t>
            </a:r>
            <a:r>
              <a:rPr sz="2000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arrangements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r>
              <a:rPr sz="2000" b="1" spc="5" dirty="0">
                <a:solidFill>
                  <a:prstClr val="black"/>
                </a:solidFill>
                <a:latin typeface="Tw Cen MT"/>
                <a:cs typeface="Tw Cen MT"/>
              </a:rPr>
              <a:t>Staffing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-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selecting the right people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sz="2000" spc="-18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job</a:t>
            </a:r>
          </a:p>
          <a:p>
            <a:pPr marL="1171575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Directing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- giving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instructions</a:t>
            </a:r>
          </a:p>
          <a:p>
            <a:pPr marL="1171575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Monitoring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- </a:t>
            </a:r>
            <a:r>
              <a:rPr sz="2000" spc="15" dirty="0">
                <a:solidFill>
                  <a:prstClr val="black"/>
                </a:solidFill>
                <a:latin typeface="Tw Cen MT"/>
                <a:cs typeface="Tw Cen MT"/>
              </a:rPr>
              <a:t>checking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on</a:t>
            </a:r>
            <a:r>
              <a:rPr sz="2000" spc="-1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progress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r>
              <a:rPr sz="2000" b="1" spc="-5" dirty="0">
                <a:solidFill>
                  <a:prstClr val="black"/>
                </a:solidFill>
                <a:latin typeface="Tw Cen MT"/>
                <a:cs typeface="Tw Cen MT"/>
              </a:rPr>
              <a:t>Controlling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-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taking action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remedy</a:t>
            </a:r>
            <a:r>
              <a:rPr sz="20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hold-ups</a:t>
            </a:r>
          </a:p>
          <a:p>
            <a:pPr marL="1171575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r>
              <a:rPr sz="2000" b="1" spc="-5" dirty="0">
                <a:solidFill>
                  <a:prstClr val="black"/>
                </a:solidFill>
                <a:latin typeface="Tw Cen MT"/>
                <a:cs typeface="Tw Cen MT"/>
              </a:rPr>
              <a:t>Innovating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-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coming up with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new</a:t>
            </a:r>
            <a:r>
              <a:rPr sz="2000"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solutions</a:t>
            </a:r>
          </a:p>
          <a:p>
            <a:pPr marL="1171575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"/>
              <a:tabLst>
                <a:tab pos="1172210" algn="l"/>
              </a:tabLst>
            </a:pPr>
            <a:r>
              <a:rPr sz="2000" b="1" spc="-5" dirty="0">
                <a:solidFill>
                  <a:prstClr val="black"/>
                </a:solidFill>
                <a:latin typeface="Tw Cen MT"/>
                <a:cs typeface="Tw Cen MT"/>
              </a:rPr>
              <a:t>Representing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-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liaising with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users,</a:t>
            </a:r>
            <a:r>
              <a:rPr sz="2000" spc="-1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etc.</a:t>
            </a:r>
          </a:p>
        </p:txBody>
      </p:sp>
      <p:sp>
        <p:nvSpPr>
          <p:cNvPr id="4" name="object 4"/>
          <p:cNvSpPr/>
          <p:nvPr/>
        </p:nvSpPr>
        <p:spPr>
          <a:xfrm>
            <a:off x="7696199" y="2209799"/>
            <a:ext cx="3528391" cy="3369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0" dirty="0"/>
              <a:t>Project</a:t>
            </a:r>
            <a:r>
              <a:rPr spc="-7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8515985" cy="2744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10"/>
              </a:spcBef>
            </a:pPr>
            <a:endParaRPr sz="11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marR="5080" indent="-320040" defTabSz="914400">
              <a:buClr>
                <a:srgbClr val="CC8E5F"/>
              </a:buClr>
              <a:buSzPct val="6000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It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is the discipline of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planning, organizing, and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managing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resources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to bring 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about the successful completion of specific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goals and</a:t>
            </a:r>
            <a:r>
              <a:rPr sz="2000" spc="-1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objectives</a:t>
            </a:r>
            <a:r>
              <a:rPr lang="en-US" sz="2000" spc="-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marR="5080" indent="-320040" defTabSz="914400">
              <a:spcBef>
                <a:spcPts val="710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Management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is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art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maximizing the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probability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that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project 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delivers its</a:t>
            </a:r>
            <a:r>
              <a:rPr sz="2000" spc="-1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goals</a:t>
            </a:r>
          </a:p>
          <a:p>
            <a:pPr marL="1171575" lvl="1" indent="-274320" defTabSz="914400">
              <a:spcBef>
                <a:spcPts val="605"/>
              </a:spcBef>
              <a:buClr>
                <a:srgbClr val="7D96AC"/>
              </a:buClr>
              <a:buSzPct val="69444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on</a:t>
            </a:r>
            <a:r>
              <a:rPr spc="-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Time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9444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within</a:t>
            </a:r>
            <a:r>
              <a:rPr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Budget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9444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at the required</a:t>
            </a:r>
            <a:r>
              <a:rPr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spc="-5" dirty="0">
                <a:solidFill>
                  <a:prstClr val="black"/>
                </a:solidFill>
                <a:latin typeface="Tw Cen MT"/>
                <a:cs typeface="Tw Cen MT"/>
              </a:rPr>
              <a:t>Quality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4200" y="4214367"/>
            <a:ext cx="2438400" cy="2186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8773" y="4343350"/>
            <a:ext cx="2476627" cy="19357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0" dirty="0"/>
              <a:t>Project</a:t>
            </a:r>
            <a:r>
              <a:rPr spc="-7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8397" y="4396105"/>
            <a:ext cx="759714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332740" algn="l"/>
                <a:tab pos="333375" algn="l"/>
              </a:tabLst>
            </a:pP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b="1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spc="5" dirty="0">
                <a:solidFill>
                  <a:prstClr val="black"/>
                </a:solidFill>
                <a:latin typeface="Tw Cen MT"/>
                <a:cs typeface="Tw Cen MT"/>
              </a:rPr>
              <a:t>more</a:t>
            </a:r>
            <a:r>
              <a:rPr b="1" spc="-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you</a:t>
            </a:r>
            <a:r>
              <a:rPr b="1" spc="-4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spc="-10" dirty="0">
                <a:solidFill>
                  <a:prstClr val="black"/>
                </a:solidFill>
                <a:latin typeface="Tw Cen MT"/>
                <a:cs typeface="Tw Cen MT"/>
              </a:rPr>
              <a:t>know</a:t>
            </a:r>
            <a:r>
              <a:rPr b="1"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about</a:t>
            </a:r>
            <a:r>
              <a:rPr b="1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your</a:t>
            </a:r>
            <a:r>
              <a:rPr b="1" spc="-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project,</a:t>
            </a:r>
            <a:r>
              <a:rPr b="1" spc="-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b="1"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better</a:t>
            </a:r>
            <a:r>
              <a:rPr b="1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you</a:t>
            </a:r>
            <a:r>
              <a:rPr b="1" spc="-4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spc="10" dirty="0">
                <a:solidFill>
                  <a:prstClr val="black"/>
                </a:solidFill>
                <a:latin typeface="Tw Cen MT"/>
                <a:cs typeface="Tw Cen MT"/>
              </a:rPr>
              <a:t>are</a:t>
            </a:r>
            <a:r>
              <a:rPr b="1" spc="-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able</a:t>
            </a:r>
            <a:r>
              <a:rPr b="1"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dirty="0">
                <a:solidFill>
                  <a:prstClr val="black"/>
                </a:solidFill>
                <a:latin typeface="Tw Cen MT"/>
                <a:cs typeface="Tw Cen MT"/>
              </a:rPr>
              <a:t>to</a:t>
            </a:r>
            <a:r>
              <a:rPr b="1"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spc="5" dirty="0">
                <a:solidFill>
                  <a:prstClr val="black"/>
                </a:solidFill>
                <a:latin typeface="Tw Cen MT"/>
                <a:cs typeface="Tw Cen MT"/>
              </a:rPr>
              <a:t>manage</a:t>
            </a:r>
            <a:r>
              <a:rPr b="1" spc="-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b="1" spc="-20" dirty="0">
                <a:solidFill>
                  <a:prstClr val="black"/>
                </a:solidFill>
                <a:latin typeface="Tw Cen MT"/>
                <a:cs typeface="Tw Cen MT"/>
              </a:rPr>
              <a:t>it.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6314" y="1278890"/>
            <a:ext cx="4989195" cy="3013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30"/>
              </a:spcBef>
            </a:pPr>
            <a:endParaRPr sz="1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  <a:tab pos="3143250" algn="l"/>
                <a:tab pos="478218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P</a:t>
            </a:r>
            <a:r>
              <a:rPr sz="2000" spc="-3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oj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ct 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000" spc="-35" dirty="0">
                <a:solidFill>
                  <a:prstClr val="black"/>
                </a:solidFill>
                <a:latin typeface="Tw Cen MT"/>
                <a:cs typeface="Tw Cen MT"/>
              </a:rPr>
              <a:t>g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em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nt </a:t>
            </a:r>
            <a:r>
              <a:rPr sz="2000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	the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000" b="1" spc="5" dirty="0">
                <a:solidFill>
                  <a:prstClr val="black"/>
                </a:solidFill>
                <a:latin typeface="Tw Cen MT"/>
                <a:cs typeface="Tw Cen MT"/>
              </a:rPr>
              <a:t>pp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lic</a:t>
            </a:r>
            <a:r>
              <a:rPr sz="2000" b="1" spc="35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000" b="1" spc="-1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000" b="1" spc="-5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lang="en-US" sz="2000" b="1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b="1" spc="5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f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15"/>
              </a:spcBef>
              <a:buClr>
                <a:srgbClr val="7D96AC"/>
              </a:buClr>
              <a:buSzPct val="67857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600" b="1" spc="-5" dirty="0">
                <a:solidFill>
                  <a:prstClr val="black"/>
                </a:solidFill>
                <a:latin typeface="Tw Cen MT"/>
                <a:cs typeface="Tw Cen MT"/>
              </a:rPr>
              <a:t>Knowledge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857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600" b="1" spc="-5" dirty="0">
                <a:solidFill>
                  <a:prstClr val="black"/>
                </a:solidFill>
                <a:latin typeface="Tw Cen MT"/>
                <a:cs typeface="Tw Cen MT"/>
              </a:rPr>
              <a:t>Skills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857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600" b="1" spc="-25" dirty="0">
                <a:solidFill>
                  <a:prstClr val="black"/>
                </a:solidFill>
                <a:latin typeface="Tw Cen MT"/>
                <a:cs typeface="Tw Cen MT"/>
              </a:rPr>
              <a:t>Tools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857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600" b="1" spc="-10" dirty="0">
                <a:solidFill>
                  <a:prstClr val="black"/>
                </a:solidFill>
                <a:latin typeface="Tw Cen MT"/>
                <a:cs typeface="Tw Cen MT"/>
              </a:rPr>
              <a:t>Techniques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531495" defTabSz="914400">
              <a:spcBef>
                <a:spcPts val="680"/>
              </a:spcBef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activities to meet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r>
              <a:rPr sz="2000"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requirements.</a:t>
            </a:r>
          </a:p>
        </p:txBody>
      </p:sp>
      <p:sp>
        <p:nvSpPr>
          <p:cNvPr id="5" name="object 5"/>
          <p:cNvSpPr/>
          <p:nvPr/>
        </p:nvSpPr>
        <p:spPr>
          <a:xfrm>
            <a:off x="7620000" y="1676400"/>
            <a:ext cx="2286000" cy="18448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20001" y="4838700"/>
            <a:ext cx="2244217" cy="1638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985"/>
            <a:r>
              <a:rPr spc="-10" dirty="0"/>
              <a:t>Project</a:t>
            </a:r>
            <a:r>
              <a:rPr spc="-114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6380480" cy="4685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103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Following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related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r>
              <a:rPr sz="24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839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Professional</a:t>
            </a:r>
            <a:r>
              <a:rPr sz="2000"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Organizations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2" indent="-228600" defTabSz="914400">
              <a:spcBef>
                <a:spcPts val="1760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Project Management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Institute (PMI)</a:t>
            </a:r>
            <a:r>
              <a:rPr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(pmi.org)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2" indent="-228600" defTabSz="914400">
              <a:spcBef>
                <a:spcPts val="285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Engineering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Institute</a:t>
            </a:r>
            <a:r>
              <a:rPr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(SEI)</a:t>
            </a:r>
          </a:p>
          <a:p>
            <a:pPr marL="1445895" lvl="2" indent="-228600" defTabSz="914400">
              <a:spcBef>
                <a:spcPts val="285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IEEE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Engineering</a:t>
            </a:r>
            <a:r>
              <a:rPr spc="-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Group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2" defTabSz="914400">
              <a:buClr>
                <a:srgbClr val="CC8E5F"/>
              </a:buClr>
              <a:buFont typeface="Wingdings"/>
              <a:buChar char=""/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71575" lvl="1" indent="-274320" defTabSz="914400">
              <a:spcBef>
                <a:spcPts val="120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Certifications</a:t>
            </a:r>
          </a:p>
          <a:p>
            <a:pPr marL="1445895" lvl="2" indent="-228600" defTabSz="914400">
              <a:spcBef>
                <a:spcPts val="1760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PMI’s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PMP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(Project Management</a:t>
            </a: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Professional)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2" indent="-228600" defTabSz="914400">
              <a:spcBef>
                <a:spcPts val="459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CAPM (Certified Associate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in Project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Management)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2" defTabSz="914400">
              <a:buClr>
                <a:srgbClr val="CC8E5F"/>
              </a:buClr>
              <a:buFont typeface="Wingdings"/>
              <a:buChar char=""/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71575" lvl="1" indent="-274320" defTabSz="914400">
              <a:spcBef>
                <a:spcPts val="115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The “PMBOK” – PMI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Body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</a:t>
            </a:r>
            <a:r>
              <a:rPr sz="20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Knowledge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10526" y="3552826"/>
            <a:ext cx="2047875" cy="1476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0" dirty="0"/>
              <a:t>Project Management</a:t>
            </a:r>
            <a:r>
              <a:rPr spc="-90" dirty="0"/>
              <a:t> </a:t>
            </a:r>
            <a:r>
              <a:rPr dirty="0"/>
              <a:t>Skills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1"/>
            <a:ext cx="5288915" cy="275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20"/>
              </a:spcBef>
            </a:pP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329055" indent="-342900" defTabSz="914400">
              <a:lnSpc>
                <a:spcPts val="2735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1328420" algn="l"/>
                <a:tab pos="1329690" algn="l"/>
              </a:tabLst>
            </a:pPr>
            <a:r>
              <a:rPr sz="2400" b="1" spc="-5" dirty="0">
                <a:solidFill>
                  <a:prstClr val="black"/>
                </a:solidFill>
                <a:latin typeface="Tw Cen MT"/>
                <a:cs typeface="Tw Cen MT"/>
              </a:rPr>
              <a:t>Leadership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indent="-342900" defTabSz="914400">
              <a:lnSpc>
                <a:spcPts val="2595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1328420" algn="l"/>
                <a:tab pos="132969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Communications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indent="-342900" defTabSz="914400">
              <a:lnSpc>
                <a:spcPts val="2590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1328420" algn="l"/>
                <a:tab pos="132969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Problem</a:t>
            </a:r>
            <a:r>
              <a:rPr sz="2400" b="1"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Tw Cen MT"/>
                <a:cs typeface="Tw Cen MT"/>
              </a:rPr>
              <a:t>Solving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indent="-342900" defTabSz="914400">
              <a:lnSpc>
                <a:spcPts val="2590"/>
              </a:lnSpc>
              <a:buClr>
                <a:srgbClr val="DC9E1F"/>
              </a:buClr>
              <a:buSzPct val="58333"/>
              <a:buFont typeface="Wingdings"/>
              <a:buChar char=""/>
              <a:tabLst>
                <a:tab pos="1328420" algn="l"/>
                <a:tab pos="1329690" algn="l"/>
              </a:tabLst>
            </a:pPr>
            <a:r>
              <a:rPr sz="2400" b="1" spc="5" dirty="0">
                <a:solidFill>
                  <a:prstClr val="black"/>
                </a:solidFill>
                <a:latin typeface="Tw Cen MT"/>
                <a:cs typeface="Tw Cen MT"/>
              </a:rPr>
              <a:t>Negotiating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indent="-342900" defTabSz="914400">
              <a:lnSpc>
                <a:spcPts val="2590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1328420" algn="l"/>
                <a:tab pos="132969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Influencing the</a:t>
            </a:r>
            <a:r>
              <a:rPr sz="2400" b="1"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b="1" spc="5" dirty="0">
                <a:solidFill>
                  <a:prstClr val="black"/>
                </a:solidFill>
                <a:latin typeface="Tw Cen MT"/>
                <a:cs typeface="Tw Cen MT"/>
              </a:rPr>
              <a:t>Organization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indent="-342900" defTabSz="914400">
              <a:lnSpc>
                <a:spcPts val="2595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1328420" algn="l"/>
                <a:tab pos="132969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Mentoring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indent="-342900" defTabSz="914400">
              <a:lnSpc>
                <a:spcPts val="2735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1328420" algn="l"/>
                <a:tab pos="132969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Process and technical</a:t>
            </a:r>
            <a:r>
              <a:rPr sz="2400" b="1"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b="1" spc="5" dirty="0">
                <a:solidFill>
                  <a:prstClr val="black"/>
                </a:solidFill>
                <a:latin typeface="Tw Cen MT"/>
                <a:cs typeface="Tw Cen MT"/>
              </a:rPr>
              <a:t>expertise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57601" y="4190937"/>
            <a:ext cx="3411347" cy="2394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92823" y="1709673"/>
            <a:ext cx="3346577" cy="22527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4594" y="3956178"/>
            <a:ext cx="4483100" cy="173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 defTabSz="914400">
              <a:buClr>
                <a:srgbClr val="CC8E5F"/>
              </a:buClr>
              <a:buSzPct val="6000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000" b="1" dirty="0">
                <a:solidFill>
                  <a:srgbClr val="FFFFFF"/>
                </a:solidFill>
                <a:latin typeface="Tw Cen MT"/>
                <a:cs typeface="Tw Cen MT"/>
              </a:rPr>
              <a:t>Project Management Process</a:t>
            </a:r>
            <a:r>
              <a:rPr sz="2000" b="1" spc="-1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w Cen MT"/>
                <a:cs typeface="Tw Cen MT"/>
              </a:rPr>
              <a:t>Groups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32740" indent="-320040" defTabSz="914400">
              <a:spcBef>
                <a:spcPts val="150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000" b="1" dirty="0">
                <a:solidFill>
                  <a:srgbClr val="FFFFFF"/>
                </a:solidFill>
                <a:latin typeface="Tw Cen MT"/>
                <a:cs typeface="Tw Cen MT"/>
              </a:rPr>
              <a:t>Project Management </a:t>
            </a:r>
            <a:r>
              <a:rPr sz="2000" b="1" spc="-5" dirty="0">
                <a:solidFill>
                  <a:srgbClr val="FFFFFF"/>
                </a:solidFill>
                <a:latin typeface="Tw Cen MT"/>
                <a:cs typeface="Tw Cen MT"/>
              </a:rPr>
              <a:t>Knowledge</a:t>
            </a:r>
            <a:r>
              <a:rPr sz="2000" b="1" spc="2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b="1" spc="5" dirty="0">
                <a:solidFill>
                  <a:srgbClr val="FFFFFF"/>
                </a:solidFill>
                <a:latin typeface="Tw Cen MT"/>
                <a:cs typeface="Tw Cen MT"/>
              </a:rPr>
              <a:t>Areas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74595" y="1729360"/>
            <a:ext cx="1757045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solidFill>
                  <a:srgbClr val="FFFFFF"/>
                </a:solidFill>
              </a:rPr>
              <a:t>PMBOK</a:t>
            </a:r>
          </a:p>
        </p:txBody>
      </p:sp>
      <p:sp>
        <p:nvSpPr>
          <p:cNvPr id="10" name="object 10"/>
          <p:cNvSpPr/>
          <p:nvPr/>
        </p:nvSpPr>
        <p:spPr>
          <a:xfrm>
            <a:off x="7658100" y="3276600"/>
            <a:ext cx="2857500" cy="2857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1340" y="389890"/>
            <a:ext cx="865632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517650" algn="l"/>
                <a:tab pos="5479415" algn="l"/>
              </a:tabLst>
            </a:pPr>
            <a:r>
              <a:rPr sz="4000" spc="-15" dirty="0"/>
              <a:t>Project	</a:t>
            </a:r>
            <a:r>
              <a:rPr sz="4000" spc="-10" dirty="0"/>
              <a:t>Management</a:t>
            </a:r>
            <a:r>
              <a:rPr sz="4000" spc="20" dirty="0"/>
              <a:t> </a:t>
            </a:r>
            <a:r>
              <a:rPr sz="4000" spc="-30" dirty="0"/>
              <a:t>Body	</a:t>
            </a:r>
            <a:r>
              <a:rPr sz="4000" spc="-5" dirty="0"/>
              <a:t>of</a:t>
            </a:r>
            <a:r>
              <a:rPr sz="4000" spc="70" dirty="0"/>
              <a:t> </a:t>
            </a:r>
            <a:r>
              <a:rPr sz="4000" spc="-20" dirty="0"/>
              <a:t>Knowledge</a:t>
            </a:r>
            <a:r>
              <a:rPr sz="2400" spc="-20" dirty="0"/>
              <a:t>[5]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8665845" cy="459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10"/>
              </a:spcBef>
            </a:pPr>
            <a:endParaRPr sz="11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8994" marR="5080" indent="-320675" algn="just" defTabSz="914400">
              <a:lnSpc>
                <a:spcPct val="90100"/>
              </a:lnSpc>
              <a:buClr>
                <a:srgbClr val="CC8E5F"/>
              </a:buClr>
              <a:buSzPct val="60000"/>
              <a:buFont typeface="Wingdings"/>
              <a:buChar char=""/>
              <a:tabLst>
                <a:tab pos="84963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Project Management </a:t>
            </a:r>
            <a:r>
              <a:rPr sz="2000" spc="-20" dirty="0">
                <a:solidFill>
                  <a:prstClr val="black"/>
                </a:solidFill>
                <a:latin typeface="Tw Cen MT"/>
                <a:cs typeface="Tw Cen MT"/>
              </a:rPr>
              <a:t>Body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Knowledge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(PMBOK)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is a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collection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of 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processes and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knowledge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areas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generally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accepted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as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best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practice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within 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management</a:t>
            </a:r>
            <a:r>
              <a:rPr sz="2000" spc="-1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discipline.</a:t>
            </a: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8994" marR="5080" indent="-320675" algn="just" defTabSz="914400">
              <a:lnSpc>
                <a:spcPts val="2160"/>
              </a:lnSpc>
              <a:spcBef>
                <a:spcPts val="129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84963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Generally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accepted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means that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it is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applicable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most of the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projects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most  of the</a:t>
            </a:r>
            <a:r>
              <a:rPr sz="2000"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time.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8994" marR="13335" indent="-320675" algn="just" defTabSz="914400">
              <a:lnSpc>
                <a:spcPts val="2160"/>
              </a:lnSpc>
              <a:spcBef>
                <a:spcPts val="126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84963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The Third Edition (2004) </a:t>
            </a:r>
            <a:r>
              <a:rPr sz="2000" spc="-30" dirty="0">
                <a:solidFill>
                  <a:prstClr val="black"/>
                </a:solidFill>
                <a:latin typeface="Tw Cen MT"/>
                <a:cs typeface="Tw Cen MT"/>
              </a:rPr>
              <a:t>was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recognized as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standard </a:t>
            </a:r>
            <a:r>
              <a:rPr sz="2000" spc="-55" dirty="0">
                <a:solidFill>
                  <a:prstClr val="black"/>
                </a:solidFill>
                <a:latin typeface="Tw Cen MT"/>
                <a:cs typeface="Tw Cen MT"/>
              </a:rPr>
              <a:t>by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Institute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of 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Electrical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and Electronics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Engineers 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IEEE</a:t>
            </a:r>
            <a:r>
              <a:rPr sz="2000" spc="-1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1490-2003.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8994" marR="5080" indent="-320675" algn="just" defTabSz="914400">
              <a:lnSpc>
                <a:spcPts val="2160"/>
              </a:lnSpc>
              <a:spcBef>
                <a:spcPts val="125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84963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Fourth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Edition (2008) </a:t>
            </a:r>
            <a:r>
              <a:rPr sz="2000" spc="-30" dirty="0">
                <a:solidFill>
                  <a:prstClr val="black"/>
                </a:solidFill>
                <a:latin typeface="Tw Cen MT"/>
                <a:cs typeface="Tw Cen MT"/>
              </a:rPr>
              <a:t>was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recognized </a:t>
            </a:r>
            <a:r>
              <a:rPr sz="2000" spc="-55" dirty="0">
                <a:solidFill>
                  <a:prstClr val="black"/>
                </a:solidFill>
                <a:latin typeface="Tw Cen MT"/>
                <a:cs typeface="Tw Cen MT"/>
              </a:rPr>
              <a:t>by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American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National  Standards Institute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(ANSI)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as an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American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National Standard (ANSI/PMI 99-  001-2008).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6140" y="389890"/>
            <a:ext cx="7874634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4312920" algn="l"/>
              </a:tabLst>
            </a:pPr>
            <a:r>
              <a:rPr sz="4000" spc="-15" dirty="0"/>
              <a:t>Project</a:t>
            </a:r>
            <a:r>
              <a:rPr sz="4000" spc="20" dirty="0"/>
              <a:t> </a:t>
            </a:r>
            <a:r>
              <a:rPr sz="4000" spc="-10" dirty="0"/>
              <a:t>Management	</a:t>
            </a:r>
            <a:r>
              <a:rPr sz="4000" spc="-15" dirty="0"/>
              <a:t>Process Groups</a:t>
            </a:r>
            <a:r>
              <a:rPr sz="4000" spc="-25" dirty="0"/>
              <a:t> </a:t>
            </a:r>
            <a:r>
              <a:rPr sz="2400" spc="-5" dirty="0"/>
              <a:t>[3]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7592695" cy="2880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8994" indent="-320675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848994" algn="l"/>
                <a:tab pos="84963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PMBOK recognizes 5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basic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process groups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listed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40" dirty="0">
                <a:solidFill>
                  <a:prstClr val="black"/>
                </a:solidFill>
                <a:latin typeface="Tw Cen MT"/>
                <a:cs typeface="Tw Cen MT"/>
              </a:rPr>
              <a:t>below.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0"/>
              </a:spcBef>
              <a:buClr>
                <a:srgbClr val="CC8E5F"/>
              </a:buClr>
              <a:buFont typeface="Wingdings"/>
              <a:buChar char=""/>
            </a:pPr>
            <a:endParaRPr sz="18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69035" lvl="1" indent="-274320" defTabSz="914400">
              <a:buClr>
                <a:srgbClr val="7D96AC"/>
              </a:buClr>
              <a:buSzPct val="70000"/>
              <a:buFont typeface="Wingdings"/>
              <a:buChar char=""/>
              <a:tabLst>
                <a:tab pos="1168400" algn="l"/>
                <a:tab pos="116967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Initiating</a:t>
            </a:r>
          </a:p>
          <a:p>
            <a:pPr marL="1169035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68400" algn="l"/>
                <a:tab pos="116967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Planning</a:t>
            </a:r>
          </a:p>
          <a:p>
            <a:pPr marL="1169035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Executing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68400" algn="l"/>
                <a:tab pos="116967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Monitoring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and</a:t>
            </a:r>
            <a:r>
              <a:rPr sz="2000" spc="-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Controlling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68400" algn="l"/>
                <a:tab pos="116967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Closing</a:t>
            </a:r>
          </a:p>
        </p:txBody>
      </p:sp>
      <p:sp>
        <p:nvSpPr>
          <p:cNvPr id="4" name="object 4"/>
          <p:cNvSpPr/>
          <p:nvPr/>
        </p:nvSpPr>
        <p:spPr>
          <a:xfrm>
            <a:off x="3857625" y="4190998"/>
            <a:ext cx="4476750" cy="259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8206" y="389892"/>
            <a:ext cx="11763587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184">
              <a:tabLst>
                <a:tab pos="4764405" algn="l"/>
                <a:tab pos="7158355" algn="l"/>
              </a:tabLst>
            </a:pPr>
            <a:r>
              <a:rPr sz="4000" spc="-15" dirty="0"/>
              <a:t>Project</a:t>
            </a:r>
            <a:r>
              <a:rPr sz="4000" spc="20" dirty="0"/>
              <a:t> </a:t>
            </a:r>
            <a:r>
              <a:rPr sz="4000" spc="-10" dirty="0"/>
              <a:t>Management	</a:t>
            </a:r>
            <a:r>
              <a:rPr sz="4000" spc="-25" dirty="0"/>
              <a:t>Knowledge	</a:t>
            </a:r>
            <a:r>
              <a:rPr sz="4000" dirty="0"/>
              <a:t>Areas</a:t>
            </a:r>
            <a:r>
              <a:rPr sz="4000" spc="-114" dirty="0"/>
              <a:t> </a:t>
            </a:r>
            <a:r>
              <a:rPr sz="2400" spc="-5" dirty="0"/>
              <a:t>[3]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1086714" y="1795726"/>
            <a:ext cx="5588635" cy="3906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48994" indent="-320675" defTabSz="914400">
              <a:spcBef>
                <a:spcPts val="78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48994" algn="l"/>
                <a:tab pos="84963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PMI has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suggested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9 </a:t>
            </a:r>
            <a:r>
              <a:rPr sz="2400" spc="-20" dirty="0">
                <a:solidFill>
                  <a:prstClr val="black"/>
                </a:solidFill>
                <a:latin typeface="Tw Cen MT"/>
                <a:cs typeface="Tw Cen MT"/>
              </a:rPr>
              <a:t>Knowledge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Areas</a:t>
            </a:r>
          </a:p>
          <a:p>
            <a:pPr defTabSz="914400">
              <a:spcBef>
                <a:spcPts val="30"/>
              </a:spcBef>
              <a:buClr>
                <a:srgbClr val="CC8E5F"/>
              </a:buClr>
              <a:buFont typeface="Wingdings"/>
              <a:buChar char=""/>
            </a:pPr>
            <a:endParaRPr sz="24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69035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spc="5" dirty="0">
                <a:solidFill>
                  <a:prstClr val="black"/>
                </a:solidFill>
                <a:latin typeface="Tw Cen MT"/>
                <a:cs typeface="Tw Cen MT"/>
              </a:rPr>
              <a:t>Integration</a:t>
            </a:r>
            <a:r>
              <a:rPr sz="2000" b="1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Scope</a:t>
            </a:r>
            <a:r>
              <a:rPr sz="2000" b="1" spc="-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spc="-5" dirty="0">
                <a:solidFill>
                  <a:prstClr val="black"/>
                </a:solidFill>
                <a:latin typeface="Tw Cen MT"/>
                <a:cs typeface="Tw Cen MT"/>
              </a:rPr>
              <a:t>Time</a:t>
            </a:r>
            <a:r>
              <a:rPr sz="2000" b="1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Cost</a:t>
            </a:r>
            <a:r>
              <a:rPr sz="2000" b="1"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spc="-5" dirty="0">
                <a:solidFill>
                  <a:prstClr val="black"/>
                </a:solidFill>
                <a:latin typeface="Tw Cen MT"/>
                <a:cs typeface="Tw Cen MT"/>
              </a:rPr>
              <a:t>Quality</a:t>
            </a:r>
            <a:r>
              <a:rPr sz="2000" b="1" spc="-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Human </a:t>
            </a:r>
            <a:r>
              <a:rPr sz="2000" b="1" spc="-10" dirty="0">
                <a:solidFill>
                  <a:prstClr val="black"/>
                </a:solidFill>
                <a:latin typeface="Tw Cen MT"/>
                <a:cs typeface="Tw Cen MT"/>
              </a:rPr>
              <a:t>Resource</a:t>
            </a:r>
            <a:r>
              <a:rPr sz="2000" b="1" spc="-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Communications</a:t>
            </a:r>
            <a:r>
              <a:rPr sz="2000" b="1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spc="-5" dirty="0">
                <a:solidFill>
                  <a:prstClr val="black"/>
                </a:solidFill>
                <a:latin typeface="Tw Cen MT"/>
                <a:cs typeface="Tw Cen MT"/>
              </a:rPr>
              <a:t>Risk</a:t>
            </a:r>
            <a:r>
              <a:rPr sz="2000" b="1" spc="-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903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8400" algn="l"/>
                <a:tab pos="116967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b="1" dirty="0">
                <a:solidFill>
                  <a:prstClr val="black"/>
                </a:solidFill>
                <a:latin typeface="Tw Cen MT"/>
                <a:cs typeface="Tw Cen MT"/>
              </a:rPr>
              <a:t>Procurement</a:t>
            </a:r>
            <a:r>
              <a:rPr sz="2000" b="1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10399" y="2263776"/>
            <a:ext cx="4465983" cy="3633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5" y="1729360"/>
            <a:ext cx="6771005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25" dirty="0">
                <a:solidFill>
                  <a:srgbClr val="FFFFFF"/>
                </a:solidFill>
              </a:rPr>
              <a:t>Software </a:t>
            </a:r>
            <a:r>
              <a:rPr spc="-10" dirty="0">
                <a:solidFill>
                  <a:srgbClr val="FFFFFF"/>
                </a:solidFill>
              </a:rPr>
              <a:t>Project</a:t>
            </a:r>
            <a:r>
              <a:rPr spc="-10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Management</a:t>
            </a:r>
          </a:p>
        </p:txBody>
      </p:sp>
      <p:sp>
        <p:nvSpPr>
          <p:cNvPr id="9" name="object 9"/>
          <p:cNvSpPr/>
          <p:nvPr/>
        </p:nvSpPr>
        <p:spPr>
          <a:xfrm>
            <a:off x="4247133" y="3705226"/>
            <a:ext cx="3677666" cy="1323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184"/>
            <a:r>
              <a:rPr spc="-20" dirty="0"/>
              <a:t>Software </a:t>
            </a:r>
            <a:r>
              <a:rPr spc="-10" dirty="0"/>
              <a:t>Project</a:t>
            </a:r>
            <a:r>
              <a:rPr spc="-10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1"/>
            <a:ext cx="8515985" cy="977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10"/>
              </a:spcBef>
            </a:pPr>
            <a:endParaRPr sz="11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marR="5080" indent="-320040" defTabSz="914400">
              <a:buClr>
                <a:srgbClr val="CC8E5F"/>
              </a:buClr>
              <a:buSzPct val="60000"/>
              <a:buFont typeface="Wingdings"/>
              <a:buChar char=""/>
              <a:tabLst>
                <a:tab pos="851535" algn="l"/>
                <a:tab pos="852169" algn="l"/>
                <a:tab pos="1141095" algn="l"/>
                <a:tab pos="2616835" algn="l"/>
                <a:tab pos="2971800" algn="l"/>
                <a:tab pos="3801110" algn="l"/>
                <a:tab pos="5235575" algn="l"/>
                <a:tab pos="5537200" algn="l"/>
                <a:tab pos="6228080" algn="l"/>
                <a:tab pos="7236459" algn="l"/>
                <a:tab pos="815149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	s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b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-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sci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p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li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e	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f	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p</a:t>
            </a:r>
            <a:r>
              <a:rPr sz="2000" spc="-4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oj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ct	mana</a:t>
            </a:r>
            <a:r>
              <a:rPr sz="2000" spc="-50" dirty="0">
                <a:solidFill>
                  <a:prstClr val="black"/>
                </a:solidFill>
                <a:latin typeface="Tw Cen MT"/>
                <a:cs typeface="Tw Cen MT"/>
              </a:rPr>
              <a:t>g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ment	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n	whi</a:t>
            </a:r>
            <a:r>
              <a:rPr sz="2000" spc="80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h	soft</a:t>
            </a:r>
            <a:r>
              <a:rPr sz="2000" spc="-10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e	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p</a:t>
            </a:r>
            <a:r>
              <a:rPr sz="2000" spc="-3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j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	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  planned, monitored and</a:t>
            </a:r>
            <a:r>
              <a:rPr sz="2000" spc="-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controlled</a:t>
            </a:r>
            <a:r>
              <a:rPr lang="en-US" sz="2000" spc="-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1236" y="2331340"/>
            <a:ext cx="83121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69215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h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n	it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5387" y="2331339"/>
            <a:ext cx="7028180" cy="1320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marR="5080" indent="-320040" defTabSz="914400">
              <a:buClr>
                <a:srgbClr val="CC8E5F"/>
              </a:buClr>
              <a:buSzPct val="60000"/>
              <a:buFont typeface="Wingdings"/>
              <a:buChar char=""/>
              <a:tabLst>
                <a:tab pos="332740" algn="l"/>
                <a:tab pos="333375" algn="l"/>
                <a:tab pos="1412875" algn="l"/>
                <a:tab pos="2875280" algn="l"/>
                <a:tab pos="3176905" algn="l"/>
                <a:tab pos="3478529" algn="l"/>
                <a:tab pos="4479925" algn="l"/>
                <a:tab pos="5845810" algn="l"/>
              </a:tabLst>
            </a:pP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oft</a:t>
            </a:r>
            <a:r>
              <a:rPr sz="2000" spc="-9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	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d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spc="-50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l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pment	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	a	compl</a:t>
            </a:r>
            <a:r>
              <a:rPr sz="2000" spc="-6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x	u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d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000" spc="3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000" spc="-2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aking	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p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000" spc="3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000" spc="-2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cula</a:t>
            </a:r>
            <a:r>
              <a:rPr sz="2000" spc="4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l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y 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involves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many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people working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over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relatively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long</a:t>
            </a:r>
            <a:r>
              <a:rPr sz="2000" spc="-1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time.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  <a:p>
            <a:pPr marL="332740" indent="-320040" defTabSz="914400">
              <a:spcBef>
                <a:spcPts val="695"/>
              </a:spcBef>
              <a:buClr>
                <a:srgbClr val="CC8E5F"/>
              </a:buClr>
              <a:buSzPct val="60000"/>
              <a:buFont typeface="Wingdings"/>
              <a:buChar char=""/>
              <a:tabLst>
                <a:tab pos="332740" algn="l"/>
                <a:tab pos="33337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Hence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development projects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need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be</a:t>
            </a:r>
            <a:r>
              <a:rPr sz="2000" spc="-1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managed.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38601" y="3581400"/>
            <a:ext cx="3649091" cy="312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53506" y="3594135"/>
            <a:ext cx="3611879" cy="3088005"/>
          </a:xfrm>
          <a:custGeom>
            <a:avLst/>
            <a:gdLst/>
            <a:ahLst/>
            <a:cxnLst/>
            <a:rect l="l" t="t" r="r" b="b"/>
            <a:pathLst>
              <a:path w="3611879" h="3088004">
                <a:moveTo>
                  <a:pt x="1805843" y="0"/>
                </a:moveTo>
                <a:lnTo>
                  <a:pt x="1708186" y="2325"/>
                </a:lnTo>
                <a:lnTo>
                  <a:pt x="1610642" y="9302"/>
                </a:lnTo>
                <a:lnTo>
                  <a:pt x="1513097" y="19671"/>
                </a:lnTo>
                <a:lnTo>
                  <a:pt x="1418269" y="35951"/>
                </a:lnTo>
                <a:lnTo>
                  <a:pt x="1323101" y="55622"/>
                </a:lnTo>
                <a:lnTo>
                  <a:pt x="1229631" y="81107"/>
                </a:lnTo>
                <a:lnTo>
                  <a:pt x="1137405" y="108919"/>
                </a:lnTo>
                <a:lnTo>
                  <a:pt x="1048020" y="142544"/>
                </a:lnTo>
                <a:lnTo>
                  <a:pt x="959947" y="179658"/>
                </a:lnTo>
                <a:lnTo>
                  <a:pt x="874568" y="221326"/>
                </a:lnTo>
                <a:lnTo>
                  <a:pt x="791644" y="265417"/>
                </a:lnTo>
                <a:lnTo>
                  <a:pt x="713043" y="315226"/>
                </a:lnTo>
                <a:lnTo>
                  <a:pt x="637158" y="367360"/>
                </a:lnTo>
                <a:lnTo>
                  <a:pt x="563988" y="422982"/>
                </a:lnTo>
                <a:lnTo>
                  <a:pt x="494881" y="482287"/>
                </a:lnTo>
                <a:lnTo>
                  <a:pt x="429837" y="544886"/>
                </a:lnTo>
                <a:lnTo>
                  <a:pt x="368855" y="609811"/>
                </a:lnTo>
                <a:lnTo>
                  <a:pt x="310588" y="676965"/>
                </a:lnTo>
                <a:lnTo>
                  <a:pt x="258817" y="747705"/>
                </a:lnTo>
                <a:lnTo>
                  <a:pt x="210034" y="820673"/>
                </a:lnTo>
                <a:lnTo>
                  <a:pt x="166671" y="895967"/>
                </a:lnTo>
                <a:lnTo>
                  <a:pt x="127382" y="972520"/>
                </a:lnTo>
                <a:lnTo>
                  <a:pt x="94856" y="1051303"/>
                </a:lnTo>
                <a:lnTo>
                  <a:pt x="65044" y="1131248"/>
                </a:lnTo>
                <a:lnTo>
                  <a:pt x="42008" y="1212356"/>
                </a:lnTo>
                <a:lnTo>
                  <a:pt x="23037" y="1293464"/>
                </a:lnTo>
                <a:lnTo>
                  <a:pt x="10840" y="1376897"/>
                </a:lnTo>
                <a:lnTo>
                  <a:pt x="2710" y="1460622"/>
                </a:lnTo>
                <a:lnTo>
                  <a:pt x="0" y="1544055"/>
                </a:lnTo>
                <a:lnTo>
                  <a:pt x="2710" y="1627489"/>
                </a:lnTo>
                <a:lnTo>
                  <a:pt x="10840" y="1710923"/>
                </a:lnTo>
                <a:lnTo>
                  <a:pt x="23037" y="1794356"/>
                </a:lnTo>
                <a:lnTo>
                  <a:pt x="42008" y="1875464"/>
                </a:lnTo>
                <a:lnTo>
                  <a:pt x="65044" y="1956572"/>
                </a:lnTo>
                <a:lnTo>
                  <a:pt x="94856" y="2036518"/>
                </a:lnTo>
                <a:lnTo>
                  <a:pt x="127382" y="2115300"/>
                </a:lnTo>
                <a:lnTo>
                  <a:pt x="166671" y="2191815"/>
                </a:lnTo>
                <a:lnTo>
                  <a:pt x="210034" y="2267138"/>
                </a:lnTo>
                <a:lnTo>
                  <a:pt x="258817" y="2340144"/>
                </a:lnTo>
                <a:lnTo>
                  <a:pt x="310588" y="2411068"/>
                </a:lnTo>
                <a:lnTo>
                  <a:pt x="368855" y="2478280"/>
                </a:lnTo>
                <a:lnTo>
                  <a:pt x="429837" y="2543176"/>
                </a:lnTo>
                <a:lnTo>
                  <a:pt x="494881" y="2605746"/>
                </a:lnTo>
                <a:lnTo>
                  <a:pt x="563988" y="2664848"/>
                </a:lnTo>
                <a:lnTo>
                  <a:pt x="637158" y="2720470"/>
                </a:lnTo>
                <a:lnTo>
                  <a:pt x="713043" y="2772623"/>
                </a:lnTo>
                <a:lnTo>
                  <a:pt x="791644" y="2822451"/>
                </a:lnTo>
                <a:lnTo>
                  <a:pt x="874568" y="2866484"/>
                </a:lnTo>
                <a:lnTo>
                  <a:pt x="959947" y="2908210"/>
                </a:lnTo>
                <a:lnTo>
                  <a:pt x="1048020" y="2945286"/>
                </a:lnTo>
                <a:lnTo>
                  <a:pt x="1137405" y="2978892"/>
                </a:lnTo>
                <a:lnTo>
                  <a:pt x="1229631" y="3006703"/>
                </a:lnTo>
                <a:lnTo>
                  <a:pt x="1323101" y="3032201"/>
                </a:lnTo>
                <a:lnTo>
                  <a:pt x="1418269" y="3051901"/>
                </a:lnTo>
                <a:lnTo>
                  <a:pt x="1513097" y="3068125"/>
                </a:lnTo>
                <a:lnTo>
                  <a:pt x="1610642" y="3078555"/>
                </a:lnTo>
                <a:lnTo>
                  <a:pt x="1708186" y="3085508"/>
                </a:lnTo>
                <a:lnTo>
                  <a:pt x="1805843" y="3087825"/>
                </a:lnTo>
                <a:lnTo>
                  <a:pt x="1903387" y="3085508"/>
                </a:lnTo>
                <a:lnTo>
                  <a:pt x="2001158" y="3078555"/>
                </a:lnTo>
                <a:lnTo>
                  <a:pt x="2098815" y="3068125"/>
                </a:lnTo>
                <a:lnTo>
                  <a:pt x="2193643" y="3051901"/>
                </a:lnTo>
                <a:lnTo>
                  <a:pt x="2288472" y="3032201"/>
                </a:lnTo>
                <a:lnTo>
                  <a:pt x="2381942" y="3006703"/>
                </a:lnTo>
                <a:lnTo>
                  <a:pt x="2474168" y="2978892"/>
                </a:lnTo>
                <a:lnTo>
                  <a:pt x="2563791" y="2945286"/>
                </a:lnTo>
                <a:lnTo>
                  <a:pt x="2651943" y="2908210"/>
                </a:lnTo>
                <a:lnTo>
                  <a:pt x="2737265" y="2866484"/>
                </a:lnTo>
                <a:lnTo>
                  <a:pt x="2819986" y="2822451"/>
                </a:lnTo>
                <a:lnTo>
                  <a:pt x="2898519" y="2772623"/>
                </a:lnTo>
                <a:lnTo>
                  <a:pt x="2974449" y="2720470"/>
                </a:lnTo>
                <a:lnTo>
                  <a:pt x="3047890" y="2664848"/>
                </a:lnTo>
                <a:lnTo>
                  <a:pt x="3116918" y="2605746"/>
                </a:lnTo>
                <a:lnTo>
                  <a:pt x="3181985" y="2543176"/>
                </a:lnTo>
                <a:lnTo>
                  <a:pt x="3242979" y="2478280"/>
                </a:lnTo>
                <a:lnTo>
                  <a:pt x="3301256" y="2411068"/>
                </a:lnTo>
                <a:lnTo>
                  <a:pt x="3352744" y="2340144"/>
                </a:lnTo>
                <a:lnTo>
                  <a:pt x="3401516" y="2267138"/>
                </a:lnTo>
                <a:lnTo>
                  <a:pt x="3444857" y="2191815"/>
                </a:lnTo>
                <a:lnTo>
                  <a:pt x="3484236" y="2115300"/>
                </a:lnTo>
                <a:lnTo>
                  <a:pt x="3516713" y="2036518"/>
                </a:lnTo>
                <a:lnTo>
                  <a:pt x="3546588" y="1956572"/>
                </a:lnTo>
                <a:lnTo>
                  <a:pt x="3569559" y="1875464"/>
                </a:lnTo>
                <a:lnTo>
                  <a:pt x="3588570" y="1794356"/>
                </a:lnTo>
                <a:lnTo>
                  <a:pt x="3601018" y="1710923"/>
                </a:lnTo>
                <a:lnTo>
                  <a:pt x="3609165" y="1627489"/>
                </a:lnTo>
                <a:lnTo>
                  <a:pt x="3611881" y="1544055"/>
                </a:lnTo>
                <a:lnTo>
                  <a:pt x="3609165" y="1460622"/>
                </a:lnTo>
                <a:lnTo>
                  <a:pt x="3601018" y="1376897"/>
                </a:lnTo>
                <a:lnTo>
                  <a:pt x="3588570" y="1293464"/>
                </a:lnTo>
                <a:lnTo>
                  <a:pt x="3569559" y="1212356"/>
                </a:lnTo>
                <a:lnTo>
                  <a:pt x="3546588" y="1131248"/>
                </a:lnTo>
                <a:lnTo>
                  <a:pt x="3516713" y="1051303"/>
                </a:lnTo>
                <a:lnTo>
                  <a:pt x="3484236" y="972520"/>
                </a:lnTo>
                <a:lnTo>
                  <a:pt x="3444857" y="895967"/>
                </a:lnTo>
                <a:lnTo>
                  <a:pt x="3401516" y="820673"/>
                </a:lnTo>
                <a:lnTo>
                  <a:pt x="3352744" y="747705"/>
                </a:lnTo>
                <a:lnTo>
                  <a:pt x="3301256" y="676965"/>
                </a:lnTo>
                <a:lnTo>
                  <a:pt x="3242979" y="609811"/>
                </a:lnTo>
                <a:lnTo>
                  <a:pt x="3181985" y="544886"/>
                </a:lnTo>
                <a:lnTo>
                  <a:pt x="3116918" y="482287"/>
                </a:lnTo>
                <a:lnTo>
                  <a:pt x="3047890" y="422982"/>
                </a:lnTo>
                <a:lnTo>
                  <a:pt x="2974449" y="367360"/>
                </a:lnTo>
                <a:lnTo>
                  <a:pt x="2898519" y="315226"/>
                </a:lnTo>
                <a:lnTo>
                  <a:pt x="2819986" y="265417"/>
                </a:lnTo>
                <a:lnTo>
                  <a:pt x="2737265" y="221326"/>
                </a:lnTo>
                <a:lnTo>
                  <a:pt x="2651943" y="179658"/>
                </a:lnTo>
                <a:lnTo>
                  <a:pt x="2563791" y="142544"/>
                </a:lnTo>
                <a:lnTo>
                  <a:pt x="2474168" y="108919"/>
                </a:lnTo>
                <a:lnTo>
                  <a:pt x="2381942" y="81107"/>
                </a:lnTo>
                <a:lnTo>
                  <a:pt x="2288472" y="55622"/>
                </a:lnTo>
                <a:lnTo>
                  <a:pt x="2193643" y="35951"/>
                </a:lnTo>
                <a:lnTo>
                  <a:pt x="2098815" y="19671"/>
                </a:lnTo>
                <a:lnTo>
                  <a:pt x="2001158" y="9302"/>
                </a:lnTo>
                <a:lnTo>
                  <a:pt x="1903387" y="2325"/>
                </a:lnTo>
                <a:lnTo>
                  <a:pt x="18058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53506" y="3594135"/>
            <a:ext cx="3611879" cy="3088005"/>
          </a:xfrm>
          <a:custGeom>
            <a:avLst/>
            <a:gdLst/>
            <a:ahLst/>
            <a:cxnLst/>
            <a:rect l="l" t="t" r="r" b="b"/>
            <a:pathLst>
              <a:path w="3611879" h="3088004">
                <a:moveTo>
                  <a:pt x="0" y="1544055"/>
                </a:moveTo>
                <a:lnTo>
                  <a:pt x="2710" y="1460622"/>
                </a:lnTo>
                <a:lnTo>
                  <a:pt x="10840" y="1376897"/>
                </a:lnTo>
                <a:lnTo>
                  <a:pt x="23037" y="1293464"/>
                </a:lnTo>
                <a:lnTo>
                  <a:pt x="42008" y="1212356"/>
                </a:lnTo>
                <a:lnTo>
                  <a:pt x="65044" y="1131248"/>
                </a:lnTo>
                <a:lnTo>
                  <a:pt x="94856" y="1051303"/>
                </a:lnTo>
                <a:lnTo>
                  <a:pt x="127382" y="972520"/>
                </a:lnTo>
                <a:lnTo>
                  <a:pt x="166671" y="895967"/>
                </a:lnTo>
                <a:lnTo>
                  <a:pt x="210034" y="820673"/>
                </a:lnTo>
                <a:lnTo>
                  <a:pt x="258817" y="747705"/>
                </a:lnTo>
                <a:lnTo>
                  <a:pt x="310588" y="676965"/>
                </a:lnTo>
                <a:lnTo>
                  <a:pt x="368855" y="609811"/>
                </a:lnTo>
                <a:lnTo>
                  <a:pt x="429837" y="544886"/>
                </a:lnTo>
                <a:lnTo>
                  <a:pt x="494881" y="482287"/>
                </a:lnTo>
                <a:lnTo>
                  <a:pt x="563988" y="422982"/>
                </a:lnTo>
                <a:lnTo>
                  <a:pt x="637158" y="367360"/>
                </a:lnTo>
                <a:lnTo>
                  <a:pt x="713043" y="315226"/>
                </a:lnTo>
                <a:lnTo>
                  <a:pt x="791644" y="265417"/>
                </a:lnTo>
                <a:lnTo>
                  <a:pt x="874568" y="221326"/>
                </a:lnTo>
                <a:lnTo>
                  <a:pt x="959947" y="179658"/>
                </a:lnTo>
                <a:lnTo>
                  <a:pt x="1048020" y="142544"/>
                </a:lnTo>
                <a:lnTo>
                  <a:pt x="1137405" y="108919"/>
                </a:lnTo>
                <a:lnTo>
                  <a:pt x="1229631" y="81107"/>
                </a:lnTo>
                <a:lnTo>
                  <a:pt x="1323101" y="55622"/>
                </a:lnTo>
                <a:lnTo>
                  <a:pt x="1418269" y="35951"/>
                </a:lnTo>
                <a:lnTo>
                  <a:pt x="1513097" y="19671"/>
                </a:lnTo>
                <a:lnTo>
                  <a:pt x="1610642" y="9302"/>
                </a:lnTo>
                <a:lnTo>
                  <a:pt x="1708186" y="2325"/>
                </a:lnTo>
                <a:lnTo>
                  <a:pt x="1805843" y="0"/>
                </a:lnTo>
                <a:lnTo>
                  <a:pt x="1903387" y="2325"/>
                </a:lnTo>
                <a:lnTo>
                  <a:pt x="2001158" y="9302"/>
                </a:lnTo>
                <a:lnTo>
                  <a:pt x="2098815" y="19671"/>
                </a:lnTo>
                <a:lnTo>
                  <a:pt x="2193643" y="35951"/>
                </a:lnTo>
                <a:lnTo>
                  <a:pt x="2288472" y="55622"/>
                </a:lnTo>
                <a:lnTo>
                  <a:pt x="2381942" y="81107"/>
                </a:lnTo>
                <a:lnTo>
                  <a:pt x="2474168" y="108919"/>
                </a:lnTo>
                <a:lnTo>
                  <a:pt x="2563791" y="142544"/>
                </a:lnTo>
                <a:lnTo>
                  <a:pt x="2651943" y="179658"/>
                </a:lnTo>
                <a:lnTo>
                  <a:pt x="2737265" y="221326"/>
                </a:lnTo>
                <a:lnTo>
                  <a:pt x="2819986" y="265417"/>
                </a:lnTo>
                <a:lnTo>
                  <a:pt x="2898519" y="315226"/>
                </a:lnTo>
                <a:lnTo>
                  <a:pt x="2974449" y="367360"/>
                </a:lnTo>
                <a:lnTo>
                  <a:pt x="3047890" y="422982"/>
                </a:lnTo>
                <a:lnTo>
                  <a:pt x="3116918" y="482287"/>
                </a:lnTo>
                <a:lnTo>
                  <a:pt x="3181985" y="544886"/>
                </a:lnTo>
                <a:lnTo>
                  <a:pt x="3242979" y="609811"/>
                </a:lnTo>
                <a:lnTo>
                  <a:pt x="3301256" y="676965"/>
                </a:lnTo>
                <a:lnTo>
                  <a:pt x="3352744" y="747705"/>
                </a:lnTo>
                <a:lnTo>
                  <a:pt x="3401516" y="820673"/>
                </a:lnTo>
                <a:lnTo>
                  <a:pt x="3444857" y="895967"/>
                </a:lnTo>
                <a:lnTo>
                  <a:pt x="3484236" y="972520"/>
                </a:lnTo>
                <a:lnTo>
                  <a:pt x="3516713" y="1051303"/>
                </a:lnTo>
                <a:lnTo>
                  <a:pt x="3546588" y="1131248"/>
                </a:lnTo>
                <a:lnTo>
                  <a:pt x="3569559" y="1212356"/>
                </a:lnTo>
                <a:lnTo>
                  <a:pt x="3588570" y="1293464"/>
                </a:lnTo>
                <a:lnTo>
                  <a:pt x="3601018" y="1376897"/>
                </a:lnTo>
                <a:lnTo>
                  <a:pt x="3609165" y="1460622"/>
                </a:lnTo>
                <a:lnTo>
                  <a:pt x="3611881" y="1544055"/>
                </a:lnTo>
                <a:lnTo>
                  <a:pt x="3609165" y="1627489"/>
                </a:lnTo>
                <a:lnTo>
                  <a:pt x="3601018" y="1710923"/>
                </a:lnTo>
                <a:lnTo>
                  <a:pt x="3588570" y="1794356"/>
                </a:lnTo>
                <a:lnTo>
                  <a:pt x="3569559" y="1875464"/>
                </a:lnTo>
                <a:lnTo>
                  <a:pt x="3546588" y="1956572"/>
                </a:lnTo>
                <a:lnTo>
                  <a:pt x="3516713" y="2036518"/>
                </a:lnTo>
                <a:lnTo>
                  <a:pt x="3484236" y="2115300"/>
                </a:lnTo>
                <a:lnTo>
                  <a:pt x="3444857" y="2191815"/>
                </a:lnTo>
                <a:lnTo>
                  <a:pt x="3401516" y="2267138"/>
                </a:lnTo>
                <a:lnTo>
                  <a:pt x="3352744" y="2340144"/>
                </a:lnTo>
                <a:lnTo>
                  <a:pt x="3301256" y="2411068"/>
                </a:lnTo>
                <a:lnTo>
                  <a:pt x="3242979" y="2478280"/>
                </a:lnTo>
                <a:lnTo>
                  <a:pt x="3181985" y="2543176"/>
                </a:lnTo>
                <a:lnTo>
                  <a:pt x="3116918" y="2605746"/>
                </a:lnTo>
                <a:lnTo>
                  <a:pt x="3047890" y="2664848"/>
                </a:lnTo>
                <a:lnTo>
                  <a:pt x="2974449" y="2720470"/>
                </a:lnTo>
                <a:lnTo>
                  <a:pt x="2898519" y="2772623"/>
                </a:lnTo>
                <a:lnTo>
                  <a:pt x="2819986" y="2822451"/>
                </a:lnTo>
                <a:lnTo>
                  <a:pt x="2737265" y="2866484"/>
                </a:lnTo>
                <a:lnTo>
                  <a:pt x="2651943" y="2908210"/>
                </a:lnTo>
                <a:lnTo>
                  <a:pt x="2563791" y="2945286"/>
                </a:lnTo>
                <a:lnTo>
                  <a:pt x="2474168" y="2978892"/>
                </a:lnTo>
                <a:lnTo>
                  <a:pt x="2381942" y="3006703"/>
                </a:lnTo>
                <a:lnTo>
                  <a:pt x="2288472" y="3032201"/>
                </a:lnTo>
                <a:lnTo>
                  <a:pt x="2193643" y="3051901"/>
                </a:lnTo>
                <a:lnTo>
                  <a:pt x="2098815" y="3068125"/>
                </a:lnTo>
                <a:lnTo>
                  <a:pt x="2001158" y="3078555"/>
                </a:lnTo>
                <a:lnTo>
                  <a:pt x="1903387" y="3085508"/>
                </a:lnTo>
                <a:lnTo>
                  <a:pt x="1805843" y="3087825"/>
                </a:lnTo>
                <a:lnTo>
                  <a:pt x="1708186" y="3085508"/>
                </a:lnTo>
                <a:lnTo>
                  <a:pt x="1610642" y="3078555"/>
                </a:lnTo>
                <a:lnTo>
                  <a:pt x="1513097" y="3068125"/>
                </a:lnTo>
                <a:lnTo>
                  <a:pt x="1418269" y="3051901"/>
                </a:lnTo>
                <a:lnTo>
                  <a:pt x="1323101" y="3032201"/>
                </a:lnTo>
                <a:lnTo>
                  <a:pt x="1229631" y="3006703"/>
                </a:lnTo>
                <a:lnTo>
                  <a:pt x="1137405" y="2978892"/>
                </a:lnTo>
                <a:lnTo>
                  <a:pt x="1048020" y="2945286"/>
                </a:lnTo>
                <a:lnTo>
                  <a:pt x="959947" y="2908210"/>
                </a:lnTo>
                <a:lnTo>
                  <a:pt x="874568" y="2866484"/>
                </a:lnTo>
                <a:lnTo>
                  <a:pt x="791644" y="2822451"/>
                </a:lnTo>
                <a:lnTo>
                  <a:pt x="713043" y="2772623"/>
                </a:lnTo>
                <a:lnTo>
                  <a:pt x="637158" y="2720470"/>
                </a:lnTo>
                <a:lnTo>
                  <a:pt x="563988" y="2664848"/>
                </a:lnTo>
                <a:lnTo>
                  <a:pt x="494881" y="2605746"/>
                </a:lnTo>
                <a:lnTo>
                  <a:pt x="429837" y="2543176"/>
                </a:lnTo>
                <a:lnTo>
                  <a:pt x="368855" y="2478280"/>
                </a:lnTo>
                <a:lnTo>
                  <a:pt x="310588" y="2411068"/>
                </a:lnTo>
                <a:lnTo>
                  <a:pt x="258817" y="2340144"/>
                </a:lnTo>
                <a:lnTo>
                  <a:pt x="210034" y="2267138"/>
                </a:lnTo>
                <a:lnTo>
                  <a:pt x="166671" y="2191815"/>
                </a:lnTo>
                <a:lnTo>
                  <a:pt x="127382" y="2115300"/>
                </a:lnTo>
                <a:lnTo>
                  <a:pt x="94856" y="2036518"/>
                </a:lnTo>
                <a:lnTo>
                  <a:pt x="65044" y="1956572"/>
                </a:lnTo>
                <a:lnTo>
                  <a:pt x="42008" y="1875464"/>
                </a:lnTo>
                <a:lnTo>
                  <a:pt x="23037" y="1794356"/>
                </a:lnTo>
                <a:lnTo>
                  <a:pt x="10840" y="1710923"/>
                </a:lnTo>
                <a:lnTo>
                  <a:pt x="2710" y="1627489"/>
                </a:lnTo>
                <a:lnTo>
                  <a:pt x="0" y="154405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61933" y="4028649"/>
            <a:ext cx="2595245" cy="2219325"/>
          </a:xfrm>
          <a:custGeom>
            <a:avLst/>
            <a:gdLst/>
            <a:ahLst/>
            <a:cxnLst/>
            <a:rect l="l" t="t" r="r" b="b"/>
            <a:pathLst>
              <a:path w="2595245" h="2219325">
                <a:moveTo>
                  <a:pt x="1339399" y="0"/>
                </a:moveTo>
                <a:lnTo>
                  <a:pt x="1255321" y="0"/>
                </a:lnTo>
                <a:lnTo>
                  <a:pt x="1172714" y="4651"/>
                </a:lnTo>
                <a:lnTo>
                  <a:pt x="1089993" y="13954"/>
                </a:lnTo>
                <a:lnTo>
                  <a:pt x="1008744" y="27811"/>
                </a:lnTo>
                <a:lnTo>
                  <a:pt x="928740" y="45447"/>
                </a:lnTo>
                <a:lnTo>
                  <a:pt x="848509" y="67444"/>
                </a:lnTo>
                <a:lnTo>
                  <a:pt x="771334" y="94189"/>
                </a:lnTo>
                <a:lnTo>
                  <a:pt x="696761" y="125392"/>
                </a:lnTo>
                <a:lnTo>
                  <a:pt x="625018" y="160181"/>
                </a:lnTo>
                <a:lnTo>
                  <a:pt x="554508" y="199620"/>
                </a:lnTo>
                <a:lnTo>
                  <a:pt x="488105" y="241289"/>
                </a:lnTo>
                <a:lnTo>
                  <a:pt x="424418" y="287705"/>
                </a:lnTo>
                <a:lnTo>
                  <a:pt x="364794" y="337513"/>
                </a:lnTo>
                <a:lnTo>
                  <a:pt x="308961" y="389647"/>
                </a:lnTo>
                <a:lnTo>
                  <a:pt x="257473" y="445270"/>
                </a:lnTo>
                <a:lnTo>
                  <a:pt x="210036" y="504381"/>
                </a:lnTo>
                <a:lnTo>
                  <a:pt x="166673" y="564655"/>
                </a:lnTo>
                <a:lnTo>
                  <a:pt x="127384" y="628320"/>
                </a:lnTo>
                <a:lnTo>
                  <a:pt x="93504" y="693245"/>
                </a:lnTo>
                <a:lnTo>
                  <a:pt x="65044" y="759333"/>
                </a:lnTo>
                <a:lnTo>
                  <a:pt x="42005" y="827650"/>
                </a:lnTo>
                <a:lnTo>
                  <a:pt x="23039" y="897226"/>
                </a:lnTo>
                <a:lnTo>
                  <a:pt x="9482" y="967869"/>
                </a:lnTo>
                <a:lnTo>
                  <a:pt x="1357" y="1038802"/>
                </a:lnTo>
                <a:lnTo>
                  <a:pt x="0" y="1109541"/>
                </a:lnTo>
                <a:lnTo>
                  <a:pt x="1357" y="1180184"/>
                </a:lnTo>
                <a:lnTo>
                  <a:pt x="9482" y="1250923"/>
                </a:lnTo>
                <a:lnTo>
                  <a:pt x="23039" y="1321566"/>
                </a:lnTo>
                <a:lnTo>
                  <a:pt x="42005" y="1391142"/>
                </a:lnTo>
                <a:lnTo>
                  <a:pt x="65044" y="1459459"/>
                </a:lnTo>
                <a:lnTo>
                  <a:pt x="93504" y="1525547"/>
                </a:lnTo>
                <a:lnTo>
                  <a:pt x="127384" y="1590472"/>
                </a:lnTo>
                <a:lnTo>
                  <a:pt x="166673" y="1654137"/>
                </a:lnTo>
                <a:lnTo>
                  <a:pt x="210036" y="1714421"/>
                </a:lnTo>
                <a:lnTo>
                  <a:pt x="257473" y="1773522"/>
                </a:lnTo>
                <a:lnTo>
                  <a:pt x="308961" y="1829145"/>
                </a:lnTo>
                <a:lnTo>
                  <a:pt x="364794" y="1881298"/>
                </a:lnTo>
                <a:lnTo>
                  <a:pt x="424418" y="1931126"/>
                </a:lnTo>
                <a:lnTo>
                  <a:pt x="488105" y="1977707"/>
                </a:lnTo>
                <a:lnTo>
                  <a:pt x="554508" y="2019434"/>
                </a:lnTo>
                <a:lnTo>
                  <a:pt x="625018" y="2058834"/>
                </a:lnTo>
                <a:lnTo>
                  <a:pt x="696761" y="2093594"/>
                </a:lnTo>
                <a:lnTo>
                  <a:pt x="771334" y="2124884"/>
                </a:lnTo>
                <a:lnTo>
                  <a:pt x="848509" y="2151532"/>
                </a:lnTo>
                <a:lnTo>
                  <a:pt x="928740" y="2173558"/>
                </a:lnTo>
                <a:lnTo>
                  <a:pt x="1008744" y="2190933"/>
                </a:lnTo>
                <a:lnTo>
                  <a:pt x="1089993" y="2204838"/>
                </a:lnTo>
                <a:lnTo>
                  <a:pt x="1172714" y="2214112"/>
                </a:lnTo>
                <a:lnTo>
                  <a:pt x="1255321" y="2218744"/>
                </a:lnTo>
                <a:lnTo>
                  <a:pt x="1339399" y="2218744"/>
                </a:lnTo>
                <a:lnTo>
                  <a:pt x="1422345" y="2214112"/>
                </a:lnTo>
                <a:lnTo>
                  <a:pt x="1504952" y="2204838"/>
                </a:lnTo>
                <a:lnTo>
                  <a:pt x="1586314" y="2190933"/>
                </a:lnTo>
                <a:lnTo>
                  <a:pt x="1666206" y="2173558"/>
                </a:lnTo>
                <a:lnTo>
                  <a:pt x="1746210" y="2151532"/>
                </a:lnTo>
                <a:lnTo>
                  <a:pt x="1823385" y="2124884"/>
                </a:lnTo>
                <a:lnTo>
                  <a:pt x="1897958" y="2093594"/>
                </a:lnTo>
                <a:lnTo>
                  <a:pt x="1969701" y="2058834"/>
                </a:lnTo>
                <a:lnTo>
                  <a:pt x="2040540" y="2019434"/>
                </a:lnTo>
                <a:lnTo>
                  <a:pt x="2106852" y="1977707"/>
                </a:lnTo>
                <a:lnTo>
                  <a:pt x="2170561" y="1931126"/>
                </a:lnTo>
                <a:lnTo>
                  <a:pt x="2230196" y="1881298"/>
                </a:lnTo>
                <a:lnTo>
                  <a:pt x="2285758" y="1829145"/>
                </a:lnTo>
                <a:lnTo>
                  <a:pt x="2337246" y="1773522"/>
                </a:lnTo>
                <a:lnTo>
                  <a:pt x="2384660" y="1714421"/>
                </a:lnTo>
                <a:lnTo>
                  <a:pt x="2428001" y="1654137"/>
                </a:lnTo>
                <a:lnTo>
                  <a:pt x="2467380" y="1590472"/>
                </a:lnTo>
                <a:lnTo>
                  <a:pt x="2501215" y="1525547"/>
                </a:lnTo>
                <a:lnTo>
                  <a:pt x="2529732" y="1459459"/>
                </a:lnTo>
                <a:lnTo>
                  <a:pt x="2552930" y="1391142"/>
                </a:lnTo>
                <a:lnTo>
                  <a:pt x="2571941" y="1321566"/>
                </a:lnTo>
                <a:lnTo>
                  <a:pt x="2585520" y="1250923"/>
                </a:lnTo>
                <a:lnTo>
                  <a:pt x="2593667" y="1180184"/>
                </a:lnTo>
                <a:lnTo>
                  <a:pt x="2595025" y="1109541"/>
                </a:lnTo>
                <a:lnTo>
                  <a:pt x="2593667" y="1038802"/>
                </a:lnTo>
                <a:lnTo>
                  <a:pt x="2585520" y="967869"/>
                </a:lnTo>
                <a:lnTo>
                  <a:pt x="2571941" y="897226"/>
                </a:lnTo>
                <a:lnTo>
                  <a:pt x="2552930" y="827650"/>
                </a:lnTo>
                <a:lnTo>
                  <a:pt x="2529732" y="759333"/>
                </a:lnTo>
                <a:lnTo>
                  <a:pt x="2501215" y="693245"/>
                </a:lnTo>
                <a:lnTo>
                  <a:pt x="2467380" y="628320"/>
                </a:lnTo>
                <a:lnTo>
                  <a:pt x="2428001" y="564655"/>
                </a:lnTo>
                <a:lnTo>
                  <a:pt x="2384660" y="504381"/>
                </a:lnTo>
                <a:lnTo>
                  <a:pt x="2337246" y="445270"/>
                </a:lnTo>
                <a:lnTo>
                  <a:pt x="2285758" y="389647"/>
                </a:lnTo>
                <a:lnTo>
                  <a:pt x="2230196" y="337513"/>
                </a:lnTo>
                <a:lnTo>
                  <a:pt x="2170561" y="287705"/>
                </a:lnTo>
                <a:lnTo>
                  <a:pt x="2106852" y="241289"/>
                </a:lnTo>
                <a:lnTo>
                  <a:pt x="2040540" y="199620"/>
                </a:lnTo>
                <a:lnTo>
                  <a:pt x="1969701" y="160181"/>
                </a:lnTo>
                <a:lnTo>
                  <a:pt x="1897958" y="125392"/>
                </a:lnTo>
                <a:lnTo>
                  <a:pt x="1823385" y="94189"/>
                </a:lnTo>
                <a:lnTo>
                  <a:pt x="1746210" y="67444"/>
                </a:lnTo>
                <a:lnTo>
                  <a:pt x="1666206" y="45447"/>
                </a:lnTo>
                <a:lnTo>
                  <a:pt x="1586314" y="27811"/>
                </a:lnTo>
                <a:lnTo>
                  <a:pt x="1504952" y="13954"/>
                </a:lnTo>
                <a:lnTo>
                  <a:pt x="1422345" y="4651"/>
                </a:lnTo>
                <a:lnTo>
                  <a:pt x="13393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1933" y="4028649"/>
            <a:ext cx="2595245" cy="2219325"/>
          </a:xfrm>
          <a:custGeom>
            <a:avLst/>
            <a:gdLst/>
            <a:ahLst/>
            <a:cxnLst/>
            <a:rect l="l" t="t" r="r" b="b"/>
            <a:pathLst>
              <a:path w="2595245" h="2219325">
                <a:moveTo>
                  <a:pt x="0" y="1109541"/>
                </a:moveTo>
                <a:lnTo>
                  <a:pt x="1357" y="1038802"/>
                </a:lnTo>
                <a:lnTo>
                  <a:pt x="9482" y="967869"/>
                </a:lnTo>
                <a:lnTo>
                  <a:pt x="23039" y="897226"/>
                </a:lnTo>
                <a:lnTo>
                  <a:pt x="42005" y="827650"/>
                </a:lnTo>
                <a:lnTo>
                  <a:pt x="65044" y="759333"/>
                </a:lnTo>
                <a:lnTo>
                  <a:pt x="93504" y="693245"/>
                </a:lnTo>
                <a:lnTo>
                  <a:pt x="127384" y="628320"/>
                </a:lnTo>
                <a:lnTo>
                  <a:pt x="166673" y="564655"/>
                </a:lnTo>
                <a:lnTo>
                  <a:pt x="210036" y="504381"/>
                </a:lnTo>
                <a:lnTo>
                  <a:pt x="257473" y="445270"/>
                </a:lnTo>
                <a:lnTo>
                  <a:pt x="308961" y="389647"/>
                </a:lnTo>
                <a:lnTo>
                  <a:pt x="364794" y="337513"/>
                </a:lnTo>
                <a:lnTo>
                  <a:pt x="424418" y="287705"/>
                </a:lnTo>
                <a:lnTo>
                  <a:pt x="488105" y="241289"/>
                </a:lnTo>
                <a:lnTo>
                  <a:pt x="554508" y="199620"/>
                </a:lnTo>
                <a:lnTo>
                  <a:pt x="625018" y="160181"/>
                </a:lnTo>
                <a:lnTo>
                  <a:pt x="696761" y="125392"/>
                </a:lnTo>
                <a:lnTo>
                  <a:pt x="771334" y="94189"/>
                </a:lnTo>
                <a:lnTo>
                  <a:pt x="848509" y="67444"/>
                </a:lnTo>
                <a:lnTo>
                  <a:pt x="928740" y="45447"/>
                </a:lnTo>
                <a:lnTo>
                  <a:pt x="1008744" y="27811"/>
                </a:lnTo>
                <a:lnTo>
                  <a:pt x="1089993" y="13954"/>
                </a:lnTo>
                <a:lnTo>
                  <a:pt x="1172714" y="4651"/>
                </a:lnTo>
                <a:lnTo>
                  <a:pt x="1255321" y="0"/>
                </a:lnTo>
                <a:lnTo>
                  <a:pt x="1339399" y="0"/>
                </a:lnTo>
                <a:lnTo>
                  <a:pt x="1422345" y="4651"/>
                </a:lnTo>
                <a:lnTo>
                  <a:pt x="1504952" y="13954"/>
                </a:lnTo>
                <a:lnTo>
                  <a:pt x="1586314" y="27811"/>
                </a:lnTo>
                <a:lnTo>
                  <a:pt x="1666206" y="45447"/>
                </a:lnTo>
                <a:lnTo>
                  <a:pt x="1746210" y="67444"/>
                </a:lnTo>
                <a:lnTo>
                  <a:pt x="1823385" y="94189"/>
                </a:lnTo>
                <a:lnTo>
                  <a:pt x="1897958" y="125392"/>
                </a:lnTo>
                <a:lnTo>
                  <a:pt x="1969701" y="160181"/>
                </a:lnTo>
                <a:lnTo>
                  <a:pt x="2040540" y="199620"/>
                </a:lnTo>
                <a:lnTo>
                  <a:pt x="2106852" y="241289"/>
                </a:lnTo>
                <a:lnTo>
                  <a:pt x="2170561" y="287705"/>
                </a:lnTo>
                <a:lnTo>
                  <a:pt x="2230196" y="337513"/>
                </a:lnTo>
                <a:lnTo>
                  <a:pt x="2285758" y="389647"/>
                </a:lnTo>
                <a:lnTo>
                  <a:pt x="2337246" y="445270"/>
                </a:lnTo>
                <a:lnTo>
                  <a:pt x="2384660" y="504381"/>
                </a:lnTo>
                <a:lnTo>
                  <a:pt x="2428001" y="564655"/>
                </a:lnTo>
                <a:lnTo>
                  <a:pt x="2467380" y="628320"/>
                </a:lnTo>
                <a:lnTo>
                  <a:pt x="2501215" y="693245"/>
                </a:lnTo>
                <a:lnTo>
                  <a:pt x="2529732" y="759333"/>
                </a:lnTo>
                <a:lnTo>
                  <a:pt x="2552930" y="827650"/>
                </a:lnTo>
                <a:lnTo>
                  <a:pt x="2571941" y="897226"/>
                </a:lnTo>
                <a:lnTo>
                  <a:pt x="2585520" y="967869"/>
                </a:lnTo>
                <a:lnTo>
                  <a:pt x="2593667" y="1038802"/>
                </a:lnTo>
                <a:lnTo>
                  <a:pt x="2595025" y="1109541"/>
                </a:lnTo>
                <a:lnTo>
                  <a:pt x="2593667" y="1180184"/>
                </a:lnTo>
                <a:lnTo>
                  <a:pt x="2585520" y="1250923"/>
                </a:lnTo>
                <a:lnTo>
                  <a:pt x="2571941" y="1321566"/>
                </a:lnTo>
                <a:lnTo>
                  <a:pt x="2552930" y="1391142"/>
                </a:lnTo>
                <a:lnTo>
                  <a:pt x="2529732" y="1459459"/>
                </a:lnTo>
                <a:lnTo>
                  <a:pt x="2501215" y="1525547"/>
                </a:lnTo>
                <a:lnTo>
                  <a:pt x="2467380" y="1590472"/>
                </a:lnTo>
                <a:lnTo>
                  <a:pt x="2428001" y="1654137"/>
                </a:lnTo>
                <a:lnTo>
                  <a:pt x="2384660" y="1714421"/>
                </a:lnTo>
                <a:lnTo>
                  <a:pt x="2337246" y="1773522"/>
                </a:lnTo>
                <a:lnTo>
                  <a:pt x="2285758" y="1829145"/>
                </a:lnTo>
                <a:lnTo>
                  <a:pt x="2230196" y="1881298"/>
                </a:lnTo>
                <a:lnTo>
                  <a:pt x="2170561" y="1931126"/>
                </a:lnTo>
                <a:lnTo>
                  <a:pt x="2106852" y="1977707"/>
                </a:lnTo>
                <a:lnTo>
                  <a:pt x="2040540" y="2019434"/>
                </a:lnTo>
                <a:lnTo>
                  <a:pt x="1969701" y="2058834"/>
                </a:lnTo>
                <a:lnTo>
                  <a:pt x="1897958" y="2093594"/>
                </a:lnTo>
                <a:lnTo>
                  <a:pt x="1823385" y="2124884"/>
                </a:lnTo>
                <a:lnTo>
                  <a:pt x="1746210" y="2151532"/>
                </a:lnTo>
                <a:lnTo>
                  <a:pt x="1666206" y="2173558"/>
                </a:lnTo>
                <a:lnTo>
                  <a:pt x="1586314" y="2190933"/>
                </a:lnTo>
                <a:lnTo>
                  <a:pt x="1504952" y="2204838"/>
                </a:lnTo>
                <a:lnTo>
                  <a:pt x="1422345" y="2214112"/>
                </a:lnTo>
                <a:lnTo>
                  <a:pt x="1339399" y="2218744"/>
                </a:lnTo>
                <a:lnTo>
                  <a:pt x="1255321" y="2218744"/>
                </a:lnTo>
                <a:lnTo>
                  <a:pt x="1172714" y="2214112"/>
                </a:lnTo>
                <a:lnTo>
                  <a:pt x="1089993" y="2204838"/>
                </a:lnTo>
                <a:lnTo>
                  <a:pt x="1008744" y="2190933"/>
                </a:lnTo>
                <a:lnTo>
                  <a:pt x="928740" y="2173558"/>
                </a:lnTo>
                <a:lnTo>
                  <a:pt x="848509" y="2151532"/>
                </a:lnTo>
                <a:lnTo>
                  <a:pt x="771334" y="2124884"/>
                </a:lnTo>
                <a:lnTo>
                  <a:pt x="696761" y="2093594"/>
                </a:lnTo>
                <a:lnTo>
                  <a:pt x="625018" y="2058834"/>
                </a:lnTo>
                <a:lnTo>
                  <a:pt x="554508" y="2019434"/>
                </a:lnTo>
                <a:lnTo>
                  <a:pt x="488105" y="1977707"/>
                </a:lnTo>
                <a:lnTo>
                  <a:pt x="424418" y="1931126"/>
                </a:lnTo>
                <a:lnTo>
                  <a:pt x="364794" y="1881298"/>
                </a:lnTo>
                <a:lnTo>
                  <a:pt x="308961" y="1829145"/>
                </a:lnTo>
                <a:lnTo>
                  <a:pt x="257473" y="1773522"/>
                </a:lnTo>
                <a:lnTo>
                  <a:pt x="210036" y="1714421"/>
                </a:lnTo>
                <a:lnTo>
                  <a:pt x="166673" y="1654137"/>
                </a:lnTo>
                <a:lnTo>
                  <a:pt x="127384" y="1590472"/>
                </a:lnTo>
                <a:lnTo>
                  <a:pt x="93504" y="1525547"/>
                </a:lnTo>
                <a:lnTo>
                  <a:pt x="65044" y="1459459"/>
                </a:lnTo>
                <a:lnTo>
                  <a:pt x="42005" y="1391142"/>
                </a:lnTo>
                <a:lnTo>
                  <a:pt x="23039" y="1321566"/>
                </a:lnTo>
                <a:lnTo>
                  <a:pt x="9482" y="1250923"/>
                </a:lnTo>
                <a:lnTo>
                  <a:pt x="1357" y="1180184"/>
                </a:lnTo>
                <a:lnTo>
                  <a:pt x="0" y="110954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35406" y="4519075"/>
            <a:ext cx="1448435" cy="1238250"/>
          </a:xfrm>
          <a:custGeom>
            <a:avLst/>
            <a:gdLst/>
            <a:ahLst/>
            <a:cxnLst/>
            <a:rect l="l" t="t" r="r" b="b"/>
            <a:pathLst>
              <a:path w="1448435" h="1238250">
                <a:moveTo>
                  <a:pt x="755062" y="0"/>
                </a:moveTo>
                <a:lnTo>
                  <a:pt x="692710" y="0"/>
                </a:lnTo>
                <a:lnTo>
                  <a:pt x="631717" y="4651"/>
                </a:lnTo>
                <a:lnTo>
                  <a:pt x="570723" y="13954"/>
                </a:lnTo>
                <a:lnTo>
                  <a:pt x="512446" y="26648"/>
                </a:lnTo>
                <a:lnTo>
                  <a:pt x="454281" y="44090"/>
                </a:lnTo>
                <a:lnTo>
                  <a:pt x="398720" y="66087"/>
                </a:lnTo>
                <a:lnTo>
                  <a:pt x="344516" y="91573"/>
                </a:lnTo>
                <a:lnTo>
                  <a:pt x="292915" y="121710"/>
                </a:lnTo>
                <a:lnTo>
                  <a:pt x="245274" y="154173"/>
                </a:lnTo>
                <a:lnTo>
                  <a:pt x="200576" y="190124"/>
                </a:lnTo>
                <a:lnTo>
                  <a:pt x="159952" y="229466"/>
                </a:lnTo>
                <a:lnTo>
                  <a:pt x="123288" y="272394"/>
                </a:lnTo>
                <a:lnTo>
                  <a:pt x="92169" y="317551"/>
                </a:lnTo>
                <a:lnTo>
                  <a:pt x="63652" y="363871"/>
                </a:lnTo>
                <a:lnTo>
                  <a:pt x="40681" y="412613"/>
                </a:lnTo>
                <a:lnTo>
                  <a:pt x="23039" y="462422"/>
                </a:lnTo>
                <a:lnTo>
                  <a:pt x="10840" y="514749"/>
                </a:lnTo>
                <a:lnTo>
                  <a:pt x="2715" y="566980"/>
                </a:lnTo>
                <a:lnTo>
                  <a:pt x="0" y="619114"/>
                </a:lnTo>
                <a:lnTo>
                  <a:pt x="2715" y="671248"/>
                </a:lnTo>
                <a:lnTo>
                  <a:pt x="10840" y="723382"/>
                </a:lnTo>
                <a:lnTo>
                  <a:pt x="23039" y="775516"/>
                </a:lnTo>
                <a:lnTo>
                  <a:pt x="40681" y="825324"/>
                </a:lnTo>
                <a:lnTo>
                  <a:pt x="63652" y="874067"/>
                </a:lnTo>
                <a:lnTo>
                  <a:pt x="92169" y="920386"/>
                </a:lnTo>
                <a:lnTo>
                  <a:pt x="123288" y="965543"/>
                </a:lnTo>
                <a:lnTo>
                  <a:pt x="159952" y="1008471"/>
                </a:lnTo>
                <a:lnTo>
                  <a:pt x="200576" y="1047814"/>
                </a:lnTo>
                <a:lnTo>
                  <a:pt x="245274" y="1083765"/>
                </a:lnTo>
                <a:lnTo>
                  <a:pt x="292915" y="1116228"/>
                </a:lnTo>
                <a:lnTo>
                  <a:pt x="344516" y="1146365"/>
                </a:lnTo>
                <a:lnTo>
                  <a:pt x="398720" y="1171850"/>
                </a:lnTo>
                <a:lnTo>
                  <a:pt x="454281" y="1193847"/>
                </a:lnTo>
                <a:lnTo>
                  <a:pt x="512446" y="1211290"/>
                </a:lnTo>
                <a:lnTo>
                  <a:pt x="570723" y="1223994"/>
                </a:lnTo>
                <a:lnTo>
                  <a:pt x="631717" y="1233267"/>
                </a:lnTo>
                <a:lnTo>
                  <a:pt x="692710" y="1237899"/>
                </a:lnTo>
                <a:lnTo>
                  <a:pt x="755062" y="1237899"/>
                </a:lnTo>
                <a:lnTo>
                  <a:pt x="816055" y="1233267"/>
                </a:lnTo>
                <a:lnTo>
                  <a:pt x="877275" y="1223994"/>
                </a:lnTo>
                <a:lnTo>
                  <a:pt x="935552" y="1211290"/>
                </a:lnTo>
                <a:lnTo>
                  <a:pt x="993830" y="1193847"/>
                </a:lnTo>
                <a:lnTo>
                  <a:pt x="1049391" y="1171850"/>
                </a:lnTo>
                <a:lnTo>
                  <a:pt x="1103595" y="1146365"/>
                </a:lnTo>
                <a:lnTo>
                  <a:pt x="1155083" y="1116228"/>
                </a:lnTo>
                <a:lnTo>
                  <a:pt x="1202497" y="1083765"/>
                </a:lnTo>
                <a:lnTo>
                  <a:pt x="1247196" y="1047814"/>
                </a:lnTo>
                <a:lnTo>
                  <a:pt x="1287820" y="1008471"/>
                </a:lnTo>
                <a:lnTo>
                  <a:pt x="1324484" y="965543"/>
                </a:lnTo>
                <a:lnTo>
                  <a:pt x="1355603" y="920386"/>
                </a:lnTo>
                <a:lnTo>
                  <a:pt x="1384120" y="874067"/>
                </a:lnTo>
                <a:lnTo>
                  <a:pt x="1407431" y="825324"/>
                </a:lnTo>
                <a:lnTo>
                  <a:pt x="1424970" y="775516"/>
                </a:lnTo>
                <a:lnTo>
                  <a:pt x="1437192" y="723382"/>
                </a:lnTo>
                <a:lnTo>
                  <a:pt x="1445339" y="671248"/>
                </a:lnTo>
                <a:lnTo>
                  <a:pt x="1448055" y="619114"/>
                </a:lnTo>
                <a:lnTo>
                  <a:pt x="1445339" y="566980"/>
                </a:lnTo>
                <a:lnTo>
                  <a:pt x="1437192" y="514749"/>
                </a:lnTo>
                <a:lnTo>
                  <a:pt x="1424970" y="462422"/>
                </a:lnTo>
                <a:lnTo>
                  <a:pt x="1407431" y="412613"/>
                </a:lnTo>
                <a:lnTo>
                  <a:pt x="1384120" y="363871"/>
                </a:lnTo>
                <a:lnTo>
                  <a:pt x="1355603" y="317551"/>
                </a:lnTo>
                <a:lnTo>
                  <a:pt x="1324484" y="272394"/>
                </a:lnTo>
                <a:lnTo>
                  <a:pt x="1287820" y="229466"/>
                </a:lnTo>
                <a:lnTo>
                  <a:pt x="1247196" y="190124"/>
                </a:lnTo>
                <a:lnTo>
                  <a:pt x="1202497" y="154173"/>
                </a:lnTo>
                <a:lnTo>
                  <a:pt x="1155083" y="121710"/>
                </a:lnTo>
                <a:lnTo>
                  <a:pt x="1103595" y="91573"/>
                </a:lnTo>
                <a:lnTo>
                  <a:pt x="1049391" y="66087"/>
                </a:lnTo>
                <a:lnTo>
                  <a:pt x="993830" y="44090"/>
                </a:lnTo>
                <a:lnTo>
                  <a:pt x="935552" y="26648"/>
                </a:lnTo>
                <a:lnTo>
                  <a:pt x="877275" y="13954"/>
                </a:lnTo>
                <a:lnTo>
                  <a:pt x="816055" y="4651"/>
                </a:lnTo>
                <a:lnTo>
                  <a:pt x="755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35406" y="4519075"/>
            <a:ext cx="1448435" cy="1238250"/>
          </a:xfrm>
          <a:custGeom>
            <a:avLst/>
            <a:gdLst/>
            <a:ahLst/>
            <a:cxnLst/>
            <a:rect l="l" t="t" r="r" b="b"/>
            <a:pathLst>
              <a:path w="1448435" h="1238250">
                <a:moveTo>
                  <a:pt x="0" y="619114"/>
                </a:moveTo>
                <a:lnTo>
                  <a:pt x="2715" y="566980"/>
                </a:lnTo>
                <a:lnTo>
                  <a:pt x="10840" y="514749"/>
                </a:lnTo>
                <a:lnTo>
                  <a:pt x="23039" y="462422"/>
                </a:lnTo>
                <a:lnTo>
                  <a:pt x="40681" y="412613"/>
                </a:lnTo>
                <a:lnTo>
                  <a:pt x="63652" y="363871"/>
                </a:lnTo>
                <a:lnTo>
                  <a:pt x="92169" y="317551"/>
                </a:lnTo>
                <a:lnTo>
                  <a:pt x="123288" y="272394"/>
                </a:lnTo>
                <a:lnTo>
                  <a:pt x="159952" y="229466"/>
                </a:lnTo>
                <a:lnTo>
                  <a:pt x="200576" y="190124"/>
                </a:lnTo>
                <a:lnTo>
                  <a:pt x="245274" y="154173"/>
                </a:lnTo>
                <a:lnTo>
                  <a:pt x="292915" y="121710"/>
                </a:lnTo>
                <a:lnTo>
                  <a:pt x="344516" y="91573"/>
                </a:lnTo>
                <a:lnTo>
                  <a:pt x="398720" y="66087"/>
                </a:lnTo>
                <a:lnTo>
                  <a:pt x="454281" y="44090"/>
                </a:lnTo>
                <a:lnTo>
                  <a:pt x="512446" y="26648"/>
                </a:lnTo>
                <a:lnTo>
                  <a:pt x="570723" y="13954"/>
                </a:lnTo>
                <a:lnTo>
                  <a:pt x="631717" y="4651"/>
                </a:lnTo>
                <a:lnTo>
                  <a:pt x="692710" y="0"/>
                </a:lnTo>
                <a:lnTo>
                  <a:pt x="755062" y="0"/>
                </a:lnTo>
                <a:lnTo>
                  <a:pt x="816055" y="4651"/>
                </a:lnTo>
                <a:lnTo>
                  <a:pt x="877275" y="13954"/>
                </a:lnTo>
                <a:lnTo>
                  <a:pt x="935552" y="26648"/>
                </a:lnTo>
                <a:lnTo>
                  <a:pt x="993830" y="44090"/>
                </a:lnTo>
                <a:lnTo>
                  <a:pt x="1049391" y="66087"/>
                </a:lnTo>
                <a:lnTo>
                  <a:pt x="1103595" y="91573"/>
                </a:lnTo>
                <a:lnTo>
                  <a:pt x="1155083" y="121710"/>
                </a:lnTo>
                <a:lnTo>
                  <a:pt x="1202497" y="154173"/>
                </a:lnTo>
                <a:lnTo>
                  <a:pt x="1247196" y="190124"/>
                </a:lnTo>
                <a:lnTo>
                  <a:pt x="1287820" y="229466"/>
                </a:lnTo>
                <a:lnTo>
                  <a:pt x="1324484" y="272394"/>
                </a:lnTo>
                <a:lnTo>
                  <a:pt x="1355603" y="317551"/>
                </a:lnTo>
                <a:lnTo>
                  <a:pt x="1384120" y="363871"/>
                </a:lnTo>
                <a:lnTo>
                  <a:pt x="1407431" y="412613"/>
                </a:lnTo>
                <a:lnTo>
                  <a:pt x="1424970" y="462422"/>
                </a:lnTo>
                <a:lnTo>
                  <a:pt x="1437192" y="514749"/>
                </a:lnTo>
                <a:lnTo>
                  <a:pt x="1445339" y="566980"/>
                </a:lnTo>
                <a:lnTo>
                  <a:pt x="1448055" y="619114"/>
                </a:lnTo>
                <a:lnTo>
                  <a:pt x="1445339" y="671248"/>
                </a:lnTo>
                <a:lnTo>
                  <a:pt x="1437192" y="723382"/>
                </a:lnTo>
                <a:lnTo>
                  <a:pt x="1424970" y="775516"/>
                </a:lnTo>
                <a:lnTo>
                  <a:pt x="1407431" y="825324"/>
                </a:lnTo>
                <a:lnTo>
                  <a:pt x="1384120" y="874067"/>
                </a:lnTo>
                <a:lnTo>
                  <a:pt x="1355603" y="920386"/>
                </a:lnTo>
                <a:lnTo>
                  <a:pt x="1324484" y="965543"/>
                </a:lnTo>
                <a:lnTo>
                  <a:pt x="1287820" y="1008471"/>
                </a:lnTo>
                <a:lnTo>
                  <a:pt x="1247196" y="1047814"/>
                </a:lnTo>
                <a:lnTo>
                  <a:pt x="1202497" y="1083765"/>
                </a:lnTo>
                <a:lnTo>
                  <a:pt x="1155083" y="1116228"/>
                </a:lnTo>
                <a:lnTo>
                  <a:pt x="1103595" y="1146365"/>
                </a:lnTo>
                <a:lnTo>
                  <a:pt x="1049391" y="1171850"/>
                </a:lnTo>
                <a:lnTo>
                  <a:pt x="993830" y="1193847"/>
                </a:lnTo>
                <a:lnTo>
                  <a:pt x="935552" y="1211290"/>
                </a:lnTo>
                <a:lnTo>
                  <a:pt x="877275" y="1223994"/>
                </a:lnTo>
                <a:lnTo>
                  <a:pt x="816055" y="1233267"/>
                </a:lnTo>
                <a:lnTo>
                  <a:pt x="755062" y="1237899"/>
                </a:lnTo>
                <a:lnTo>
                  <a:pt x="692710" y="1237899"/>
                </a:lnTo>
                <a:lnTo>
                  <a:pt x="631717" y="1233267"/>
                </a:lnTo>
                <a:lnTo>
                  <a:pt x="570723" y="1223994"/>
                </a:lnTo>
                <a:lnTo>
                  <a:pt x="512446" y="1211290"/>
                </a:lnTo>
                <a:lnTo>
                  <a:pt x="454281" y="1193847"/>
                </a:lnTo>
                <a:lnTo>
                  <a:pt x="398720" y="1171850"/>
                </a:lnTo>
                <a:lnTo>
                  <a:pt x="344516" y="1146365"/>
                </a:lnTo>
                <a:lnTo>
                  <a:pt x="292915" y="1116228"/>
                </a:lnTo>
                <a:lnTo>
                  <a:pt x="245274" y="1083765"/>
                </a:lnTo>
                <a:lnTo>
                  <a:pt x="200576" y="1047814"/>
                </a:lnTo>
                <a:lnTo>
                  <a:pt x="159952" y="1008471"/>
                </a:lnTo>
                <a:lnTo>
                  <a:pt x="123288" y="965543"/>
                </a:lnTo>
                <a:lnTo>
                  <a:pt x="92169" y="920386"/>
                </a:lnTo>
                <a:lnTo>
                  <a:pt x="63652" y="874067"/>
                </a:lnTo>
                <a:lnTo>
                  <a:pt x="40681" y="825324"/>
                </a:lnTo>
                <a:lnTo>
                  <a:pt x="23039" y="775516"/>
                </a:lnTo>
                <a:lnTo>
                  <a:pt x="10840" y="723382"/>
                </a:lnTo>
                <a:lnTo>
                  <a:pt x="2715" y="671248"/>
                </a:lnTo>
                <a:lnTo>
                  <a:pt x="0" y="61911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93668" y="3776010"/>
            <a:ext cx="994410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 defTabSz="914400"/>
            <a:r>
              <a:rPr sz="1050" b="1" spc="114" dirty="0">
                <a:solidFill>
                  <a:prstClr val="black"/>
                </a:solidFill>
                <a:latin typeface="Arial"/>
                <a:cs typeface="Arial"/>
              </a:rPr>
              <a:t>Management</a:t>
            </a:r>
            <a:endParaRPr sz="1050">
              <a:solidFill>
                <a:prstClr val="black"/>
              </a:solidFill>
              <a:latin typeface="Arial"/>
              <a:cs typeface="Arial"/>
            </a:endParaRPr>
          </a:p>
          <a:p>
            <a:pPr defTabSz="914400">
              <a:spcBef>
                <a:spcPts val="35"/>
              </a:spcBef>
            </a:pPr>
            <a:endParaRPr sz="13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indent="635" algn="ctr" defTabSz="914400">
              <a:lnSpc>
                <a:spcPct val="101400"/>
              </a:lnSpc>
            </a:pPr>
            <a:r>
              <a:rPr sz="1050" b="1" spc="95" dirty="0">
                <a:solidFill>
                  <a:prstClr val="black"/>
                </a:solidFill>
                <a:latin typeface="Arial"/>
                <a:cs typeface="Arial"/>
              </a:rPr>
              <a:t>Project  </a:t>
            </a:r>
            <a:r>
              <a:rPr sz="1050" b="1" spc="17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050" b="1" spc="110" dirty="0">
                <a:solidFill>
                  <a:prstClr val="black"/>
                </a:solidFill>
                <a:latin typeface="Arial"/>
                <a:cs typeface="Arial"/>
              </a:rPr>
              <a:t>anag</a:t>
            </a:r>
            <a:r>
              <a:rPr sz="1050" b="1" spc="1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1050" b="1" spc="1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050" b="1" spc="6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endParaRPr sz="1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93668" y="4883898"/>
            <a:ext cx="994410" cy="500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" algn="ctr" defTabSz="914400">
              <a:lnSpc>
                <a:spcPct val="101699"/>
              </a:lnSpc>
            </a:pPr>
            <a:r>
              <a:rPr sz="1050" b="1" spc="105" dirty="0">
                <a:solidFill>
                  <a:prstClr val="black"/>
                </a:solidFill>
                <a:latin typeface="Arial"/>
                <a:cs typeface="Arial"/>
              </a:rPr>
              <a:t>Software  </a:t>
            </a:r>
            <a:r>
              <a:rPr sz="1050" b="1" spc="95" dirty="0">
                <a:solidFill>
                  <a:prstClr val="black"/>
                </a:solidFill>
                <a:latin typeface="Arial"/>
                <a:cs typeface="Arial"/>
              </a:rPr>
              <a:t>Project  </a:t>
            </a:r>
            <a:r>
              <a:rPr sz="1050" b="1" spc="17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050" b="1" spc="110" dirty="0">
                <a:solidFill>
                  <a:prstClr val="black"/>
                </a:solidFill>
                <a:latin typeface="Arial"/>
                <a:cs typeface="Arial"/>
              </a:rPr>
              <a:t>anag</a:t>
            </a:r>
            <a:r>
              <a:rPr sz="1050" b="1" spc="1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1050" b="1" spc="1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050" b="1" spc="6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endParaRPr sz="1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0" dirty="0"/>
              <a:t>Interaction/Stakeholders</a:t>
            </a:r>
            <a:r>
              <a:rPr spc="-75" dirty="0"/>
              <a:t> </a:t>
            </a:r>
            <a:r>
              <a:rPr sz="2400" spc="-5" dirty="0"/>
              <a:t>[4]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696313" y="1278890"/>
            <a:ext cx="4395470" cy="2898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73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As a PM, who do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you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interact</a:t>
            </a:r>
            <a:r>
              <a:rPr sz="2000" spc="-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with?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"/>
              </a:spcBef>
              <a:buClr>
                <a:srgbClr val="CC8E5F"/>
              </a:buClr>
              <a:buFont typeface="Wingdings"/>
              <a:buChar char=""/>
            </a:pPr>
            <a:endParaRPr sz="20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spcBef>
                <a:spcPts val="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r>
              <a:rPr sz="2000"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Stakeholders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buClr>
                <a:srgbClr val="7D96AC"/>
              </a:buClr>
              <a:buSzPct val="6875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r>
              <a:rPr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sponsor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875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Executives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875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pc="-40"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875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Customers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875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Functional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managers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etc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0" y="3140507"/>
            <a:ext cx="3276600" cy="3369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2939" y="4177119"/>
            <a:ext cx="4866861" cy="24357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4" y="1729360"/>
            <a:ext cx="581787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0" dirty="0">
                <a:solidFill>
                  <a:srgbClr val="FFFFFF"/>
                </a:solidFill>
              </a:rPr>
              <a:t>Project Management</a:t>
            </a:r>
            <a:r>
              <a:rPr spc="-140" dirty="0">
                <a:solidFill>
                  <a:srgbClr val="FFFFFF"/>
                </a:solidFill>
              </a:rPr>
              <a:t> </a:t>
            </a:r>
            <a:r>
              <a:rPr spc="-70" dirty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9" name="object 9"/>
          <p:cNvSpPr/>
          <p:nvPr/>
        </p:nvSpPr>
        <p:spPr>
          <a:xfrm>
            <a:off x="2252870" y="2779903"/>
            <a:ext cx="8097078" cy="3620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dirty="0"/>
              <a:t>PM </a:t>
            </a:r>
            <a:r>
              <a:rPr spc="-60" dirty="0"/>
              <a:t>Tools:</a:t>
            </a:r>
            <a:r>
              <a:rPr spc="-100" dirty="0"/>
              <a:t> </a:t>
            </a:r>
            <a:r>
              <a:rPr spc="-2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0"/>
            <a:ext cx="6403340" cy="420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720"/>
              </a:spcBef>
              <a:buClr>
                <a:srgbClr val="CC8E5F"/>
              </a:buClr>
              <a:buSzPct val="59615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600" spc="-10" dirty="0">
                <a:solidFill>
                  <a:prstClr val="black"/>
                </a:solidFill>
                <a:latin typeface="Tw Cen MT"/>
                <a:cs typeface="Tw Cen MT"/>
              </a:rPr>
              <a:t>Low-end</a:t>
            </a:r>
            <a:endParaRPr sz="2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540"/>
              </a:spcBef>
              <a:buClr>
                <a:srgbClr val="7D96AC"/>
              </a:buClr>
              <a:buSzPct val="68421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Basic features, tasks </a:t>
            </a:r>
            <a:r>
              <a:rPr sz="1900" spc="-10" dirty="0">
                <a:solidFill>
                  <a:prstClr val="black"/>
                </a:solidFill>
                <a:latin typeface="Tw Cen MT"/>
                <a:cs typeface="Tw Cen MT"/>
              </a:rPr>
              <a:t>management,</a:t>
            </a:r>
            <a:r>
              <a:rPr sz="1900" spc="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1900" spc="10" dirty="0">
                <a:solidFill>
                  <a:prstClr val="black"/>
                </a:solidFill>
                <a:latin typeface="Tw Cen MT"/>
                <a:cs typeface="Tw Cen MT"/>
              </a:rPr>
              <a:t>charting</a:t>
            </a:r>
            <a:endParaRPr sz="19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40"/>
              </a:spcBef>
              <a:buClr>
                <a:srgbClr val="7D96AC"/>
              </a:buClr>
              <a:buSzPct val="68421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MS </a:t>
            </a:r>
            <a:r>
              <a:rPr sz="1900" spc="-10" dirty="0">
                <a:solidFill>
                  <a:prstClr val="black"/>
                </a:solidFill>
                <a:latin typeface="Tw Cen MT"/>
                <a:cs typeface="Tw Cen MT"/>
              </a:rPr>
              <a:t>Excel, </a:t>
            </a: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Milestones</a:t>
            </a:r>
            <a:r>
              <a:rPr sz="1900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1900" dirty="0">
                <a:solidFill>
                  <a:prstClr val="black"/>
                </a:solidFill>
                <a:latin typeface="Tw Cen MT"/>
                <a:cs typeface="Tw Cen MT"/>
              </a:rPr>
              <a:t>Simplicity</a:t>
            </a:r>
          </a:p>
          <a:p>
            <a:pPr marL="851535" indent="-320040" defTabSz="914400">
              <a:spcBef>
                <a:spcPts val="1325"/>
              </a:spcBef>
              <a:buClr>
                <a:srgbClr val="CC8E5F"/>
              </a:buClr>
              <a:buSzPct val="59615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Mid-market</a:t>
            </a:r>
          </a:p>
          <a:p>
            <a:pPr marL="1171575" lvl="1" indent="-274320" defTabSz="914400">
              <a:spcBef>
                <a:spcPts val="1540"/>
              </a:spcBef>
              <a:buClr>
                <a:srgbClr val="7D96AC"/>
              </a:buClr>
              <a:buSzPct val="68421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Handle </a:t>
            </a:r>
            <a:r>
              <a:rPr sz="1900" spc="-10" dirty="0">
                <a:solidFill>
                  <a:prstClr val="black"/>
                </a:solidFill>
                <a:latin typeface="Tw Cen MT"/>
                <a:cs typeface="Tw Cen MT"/>
              </a:rPr>
              <a:t>larger projects, </a:t>
            </a:r>
            <a:r>
              <a:rPr sz="1900" dirty="0">
                <a:solidFill>
                  <a:prstClr val="black"/>
                </a:solidFill>
                <a:latin typeface="Tw Cen MT"/>
                <a:cs typeface="Tw Cen MT"/>
              </a:rPr>
              <a:t>multiple </a:t>
            </a:r>
            <a:r>
              <a:rPr sz="1900" spc="-10" dirty="0">
                <a:solidFill>
                  <a:prstClr val="black"/>
                </a:solidFill>
                <a:latin typeface="Tw Cen MT"/>
                <a:cs typeface="Tw Cen MT"/>
              </a:rPr>
              <a:t>projects, </a:t>
            </a: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analysis</a:t>
            </a:r>
            <a:r>
              <a:rPr sz="1900" spc="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1900" dirty="0">
                <a:solidFill>
                  <a:prstClr val="black"/>
                </a:solidFill>
                <a:latin typeface="Tw Cen MT"/>
                <a:cs typeface="Tw Cen MT"/>
              </a:rPr>
              <a:t>tools</a:t>
            </a:r>
          </a:p>
          <a:p>
            <a:pPr marL="1171575" lvl="1" indent="-274320" defTabSz="914400">
              <a:spcBef>
                <a:spcPts val="140"/>
              </a:spcBef>
              <a:buClr>
                <a:srgbClr val="7D96AC"/>
              </a:buClr>
              <a:buSzPct val="68421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MS </a:t>
            </a:r>
            <a:r>
              <a:rPr sz="1900" spc="-10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1900" spc="-15" dirty="0">
                <a:solidFill>
                  <a:prstClr val="black"/>
                </a:solidFill>
                <a:latin typeface="Tw Cen MT"/>
                <a:cs typeface="Tw Cen MT"/>
              </a:rPr>
              <a:t>(approx. </a:t>
            </a: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50% of</a:t>
            </a:r>
            <a:r>
              <a:rPr sz="1900" spc="8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market)</a:t>
            </a:r>
            <a:endParaRPr sz="19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1410"/>
              </a:spcBef>
              <a:buClr>
                <a:srgbClr val="CC8E5F"/>
              </a:buClr>
              <a:buSzPct val="59615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600" dirty="0">
                <a:solidFill>
                  <a:prstClr val="black"/>
                </a:solidFill>
                <a:latin typeface="Tw Cen MT"/>
                <a:cs typeface="Tw Cen MT"/>
              </a:rPr>
              <a:t>High-end</a:t>
            </a:r>
          </a:p>
          <a:p>
            <a:pPr marL="1171575" lvl="1" indent="-274320" defTabSz="914400">
              <a:spcBef>
                <a:spcPts val="1555"/>
              </a:spcBef>
              <a:buClr>
                <a:srgbClr val="7D96AC"/>
              </a:buClr>
              <a:buSzPct val="68421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900" spc="-30" dirty="0">
                <a:solidFill>
                  <a:prstClr val="black"/>
                </a:solidFill>
                <a:latin typeface="Tw Cen MT"/>
                <a:cs typeface="Tw Cen MT"/>
              </a:rPr>
              <a:t>Very </a:t>
            </a:r>
            <a:r>
              <a:rPr sz="1900" spc="-15" dirty="0">
                <a:solidFill>
                  <a:prstClr val="black"/>
                </a:solidFill>
                <a:latin typeface="Tw Cen MT"/>
                <a:cs typeface="Tw Cen MT"/>
              </a:rPr>
              <a:t>large </a:t>
            </a:r>
            <a:r>
              <a:rPr sz="1900" spc="-10" dirty="0">
                <a:solidFill>
                  <a:prstClr val="black"/>
                </a:solidFill>
                <a:latin typeface="Tw Cen MT"/>
                <a:cs typeface="Tw Cen MT"/>
              </a:rPr>
              <a:t>projects, </a:t>
            </a: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specialized </a:t>
            </a:r>
            <a:r>
              <a:rPr sz="1900" spc="-10" dirty="0">
                <a:solidFill>
                  <a:prstClr val="black"/>
                </a:solidFill>
                <a:latin typeface="Tw Cen MT"/>
                <a:cs typeface="Tw Cen MT"/>
              </a:rPr>
              <a:t>needs,</a:t>
            </a:r>
            <a:r>
              <a:rPr sz="1900" spc="1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1900" spc="-5" dirty="0">
                <a:solidFill>
                  <a:prstClr val="black"/>
                </a:solidFill>
                <a:latin typeface="Tw Cen MT"/>
                <a:cs typeface="Tw Cen MT"/>
              </a:rPr>
              <a:t>enterprise</a:t>
            </a:r>
            <a:endParaRPr sz="19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40"/>
              </a:spcBef>
              <a:buClr>
                <a:srgbClr val="7D96AC"/>
              </a:buClr>
              <a:buSzPct val="68421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1900" spc="-10" dirty="0">
                <a:solidFill>
                  <a:prstClr val="black"/>
                </a:solidFill>
                <a:latin typeface="Tw Cen MT"/>
                <a:cs typeface="Tw Cen MT"/>
              </a:rPr>
              <a:t>Primavera Project Manager</a:t>
            </a:r>
            <a:endParaRPr sz="19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925"/>
            <a:r>
              <a:rPr spc="-125" dirty="0"/>
              <a:t>R</a:t>
            </a:r>
            <a:r>
              <a:rPr dirty="0"/>
              <a:t>ef</a:t>
            </a:r>
            <a:r>
              <a:rPr spc="5" dirty="0"/>
              <a:t>e</a:t>
            </a:r>
            <a:r>
              <a:rPr dirty="0"/>
              <a:t>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9810" y="1742717"/>
            <a:ext cx="841946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1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40155" indent="-342900" defTabSz="914400">
              <a:buClr>
                <a:srgbClr val="7D96AC"/>
              </a:buClr>
              <a:buSzPct val="69444"/>
              <a:buFontTx/>
              <a:buAutoNum type="arabicPeriod"/>
              <a:tabLst>
                <a:tab pos="1240155" algn="l"/>
                <a:tab pos="124079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Engineering: A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Practitioner’s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Approach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–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Roger</a:t>
            </a:r>
            <a:r>
              <a:rPr spc="-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Pressman</a:t>
            </a:r>
          </a:p>
          <a:p>
            <a:pPr marL="1240155" indent="-342900" defTabSz="914400">
              <a:spcBef>
                <a:spcPts val="600"/>
              </a:spcBef>
              <a:buClr>
                <a:srgbClr val="7D96AC"/>
              </a:buClr>
              <a:buSzPct val="69444"/>
              <a:buFontTx/>
              <a:buAutoNum type="arabicPeriod"/>
              <a:tabLst>
                <a:tab pos="1240155" algn="l"/>
                <a:tab pos="124079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Engineering Project Management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– </a:t>
            </a:r>
            <a:r>
              <a:rPr spc="10" dirty="0">
                <a:solidFill>
                  <a:prstClr val="black"/>
                </a:solidFill>
                <a:latin typeface="Tw Cen MT"/>
                <a:cs typeface="Tw Cen MT"/>
              </a:rPr>
              <a:t>Richard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H.</a:t>
            </a:r>
            <a:r>
              <a:rPr spc="-4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Thayer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40155" indent="-342900" defTabSz="914400">
              <a:spcBef>
                <a:spcPts val="600"/>
              </a:spcBef>
              <a:buClr>
                <a:srgbClr val="7D96AC"/>
              </a:buClr>
              <a:buSzPct val="69444"/>
              <a:buFontTx/>
              <a:buAutoNum type="arabicPeriod"/>
              <a:tabLst>
                <a:tab pos="1240155" algn="l"/>
                <a:tab pos="124079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PMBOK Guide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4rth</a:t>
            </a:r>
            <a:r>
              <a:rPr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Edition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40155" indent="-342900" defTabSz="914400">
              <a:spcBef>
                <a:spcPts val="600"/>
              </a:spcBef>
              <a:buClr>
                <a:srgbClr val="7D96AC"/>
              </a:buClr>
              <a:buSzPct val="69444"/>
              <a:buFontTx/>
              <a:buAutoNum type="arabicPeriod"/>
              <a:tabLst>
                <a:tab pos="1240155" algn="l"/>
                <a:tab pos="1240790" algn="l"/>
              </a:tabLst>
            </a:pPr>
            <a:r>
              <a:rPr u="heavy" spc="-5" dirty="0">
                <a:solidFill>
                  <a:srgbClr val="636363"/>
                </a:solidFill>
                <a:latin typeface="Tw Cen MT"/>
                <a:cs typeface="Tw Cen MT"/>
                <a:hlinkClick r:id="rId2"/>
              </a:rPr>
              <a:t>http://en.wikipedia.org/wiki/Project_stakeholder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40155" marR="5080" indent="-342900" defTabSz="914400">
              <a:spcBef>
                <a:spcPts val="600"/>
              </a:spcBef>
              <a:buClr>
                <a:srgbClr val="7D96AC"/>
              </a:buClr>
              <a:buSzPct val="69444"/>
              <a:buFontTx/>
              <a:buAutoNum type="arabicPeriod"/>
              <a:tabLst>
                <a:tab pos="1240155" algn="l"/>
                <a:tab pos="1240790" algn="l"/>
              </a:tabLst>
            </a:pPr>
            <a:r>
              <a:rPr u="heavy" spc="-5" dirty="0">
                <a:solidFill>
                  <a:srgbClr val="636363"/>
                </a:solidFill>
                <a:latin typeface="Tw Cen MT"/>
                <a:cs typeface="Tw Cen MT"/>
                <a:hlinkClick r:id="rId3"/>
              </a:rPr>
              <a:t>http://en.wikipedia.org/wiki/A_Guide_to_the_Project_Management_Body_of  </a:t>
            </a:r>
            <a:r>
              <a:rPr u="heavy" spc="-10" dirty="0">
                <a:solidFill>
                  <a:srgbClr val="636363"/>
                </a:solidFill>
                <a:latin typeface="Tw Cen MT"/>
                <a:cs typeface="Tw Cen MT"/>
                <a:hlinkClick r:id="rId3"/>
              </a:rPr>
              <a:t>Knowledge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A3E36E-02EB-9A77-79D7-58A4ADD63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0" y="2352675"/>
            <a:ext cx="7421216" cy="278916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544</TotalTime>
  <Words>799</Words>
  <Application>Microsoft Office PowerPoint</Application>
  <PresentationFormat>Widescreen</PresentationFormat>
  <Paragraphs>198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Corbel</vt:lpstr>
      <vt:lpstr>Times New Roman</vt:lpstr>
      <vt:lpstr>Tw Cen MT</vt:lpstr>
      <vt:lpstr>Wingdings</vt:lpstr>
      <vt:lpstr>Wingdings 2</vt:lpstr>
      <vt:lpstr>Parallax</vt:lpstr>
      <vt:lpstr>Office Theme</vt:lpstr>
      <vt:lpstr>Software Project Management (SPM) Lecture 1</vt:lpstr>
      <vt:lpstr>Course Catalogue</vt:lpstr>
      <vt:lpstr>Course Objective</vt:lpstr>
      <vt:lpstr>Software</vt:lpstr>
      <vt:lpstr>Software</vt:lpstr>
      <vt:lpstr>Project</vt:lpstr>
      <vt:lpstr>Project</vt:lpstr>
      <vt:lpstr>Management</vt:lpstr>
      <vt:lpstr>Management</vt:lpstr>
      <vt:lpstr>Why we need Management</vt:lpstr>
      <vt:lpstr>Responsibilities of Management</vt:lpstr>
      <vt:lpstr>Management Activities</vt:lpstr>
      <vt:lpstr>Project Management</vt:lpstr>
      <vt:lpstr>Project Management</vt:lpstr>
      <vt:lpstr>Project Management</vt:lpstr>
      <vt:lpstr>Project Management Skills</vt:lpstr>
      <vt:lpstr>PMBOK</vt:lpstr>
      <vt:lpstr>Project Management Body of Knowledge[5]</vt:lpstr>
      <vt:lpstr>Project Management Process Groups [3]</vt:lpstr>
      <vt:lpstr>Project Management Knowledge Areas [3]</vt:lpstr>
      <vt:lpstr>Software Project Management</vt:lpstr>
      <vt:lpstr>Software Project Management</vt:lpstr>
      <vt:lpstr>Interaction/Stakeholders [4]</vt:lpstr>
      <vt:lpstr>Project Management Tools</vt:lpstr>
      <vt:lpstr>PM Tools: Software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Engineering</dc:title>
  <cp:lastModifiedBy>Dell</cp:lastModifiedBy>
  <cp:revision>103</cp:revision>
  <dcterms:created xsi:type="dcterms:W3CDTF">2020-01-31T11:17:02Z</dcterms:created>
  <dcterms:modified xsi:type="dcterms:W3CDTF">2026-09-05T12:44:17Z</dcterms:modified>
</cp:coreProperties>
</file>