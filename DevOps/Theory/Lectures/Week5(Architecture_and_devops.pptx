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3" r:id="rId16"/>
    <p:sldId id="274" r:id="rId17"/>
    <p:sldId id="275" r:id="rId18"/>
    <p:sldId id="276" r:id="rId19"/>
    <p:sldId id="277" r:id="rId20"/>
    <p:sldId id="279" r:id="rId21"/>
    <p:sldId id="280" r:id="rId22"/>
    <p:sldId id="282" r:id="rId23"/>
    <p:sldId id="283" r:id="rId24"/>
    <p:sldId id="284" r:id="rId25"/>
    <p:sldId id="286" r:id="rId26"/>
    <p:sldId id="288" r:id="rId27"/>
    <p:sldId id="291" r:id="rId28"/>
    <p:sldId id="292"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32" r:id="rId68"/>
    <p:sldId id="333" r:id="rId69"/>
    <p:sldId id="334" r:id="rId70"/>
    <p:sldId id="335" r:id="rId71"/>
    <p:sldId id="336" r:id="rId72"/>
    <p:sldId id="337" r:id="rId73"/>
    <p:sldId id="338" r:id="rId74"/>
    <p:sldId id="339"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93" autoAdjust="0"/>
  </p:normalViewPr>
  <p:slideViewPr>
    <p:cSldViewPr snapToGrid="0">
      <p:cViewPr varScale="1">
        <p:scale>
          <a:sx n="63" d="100"/>
          <a:sy n="63" d="100"/>
        </p:scale>
        <p:origin x="142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lecture connects software structure to deployment decisions. It begins with Chapter 3 of Practical DevOps, then uses Docker's documentation to explain containers and Docker Engine. Students should already recognize a Linux process, an IP address, a port, and a virtual machine from lectures 5–8. The key relationship is that an architectural unit, a deployable artifact, and a running instance are different things.</a:t>
            </a:r>
          </a:p>
          <a:p>
            <a:endParaRPr/>
          </a:p>
          <a:p>
            <a:r>
              <a:t>Suggested teaching route: architecture for about 25 minutes, container concepts for about 15 minutes, and Docker's execution model and demonstration for about 15 minutes. The migration and interface slides provide additional reading when class time is limited. Use PowerPoint Presenter View to see these teaching notes.</a:t>
            </a:r>
          </a:p>
          <a:p>
            <a:endParaRPr/>
          </a:p>
          <a:p>
            <a:r>
              <a:t>Original slide: lecture 09, slide 01.</a:t>
            </a:r>
          </a:p>
          <a:p>
            <a:endParaRPr/>
          </a:p>
          <a:p>
            <a:r>
              <a:t>Sources</a:t>
            </a:r>
          </a:p>
          <a:p>
            <a:r>
              <a:t>CSC418 syllabus V3.2, p. 2</a:t>
            </a:r>
          </a:p>
          <a:p>
            <a:r>
              <a:t>../../CSC418_DevOps_Syllabus_V3.2.pdf#page=2</a:t>
            </a:r>
          </a:p>
          <a:p>
            <a:endParaRPr/>
          </a:p>
          <a:p>
            <a:r>
              <a:t>Verona, Ch 3, pp. 21-37 (PDF 40-56)</a:t>
            </a:r>
          </a:p>
          <a:p>
            <a:r>
              <a:t>../../Books/practical-devops%28verona%29.pdf#page=40</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 introduces architecture through the needs of continuous delivery. Implementing the requested feature is only one concern. Teams also need confidence that a release will behave correctly, and an affordable way to deliver small changes frequently. Deployment boundaries, dependencies, and the ability to test a component separately all affect that confidence.</a:t>
            </a:r>
          </a:p>
          <a:p>
            <a:endParaRPr dirty="0"/>
          </a:p>
          <a:p>
            <a:r>
              <a:rPr dirty="0"/>
              <a:t>An architecture can separate functions into modules while still requiring the entire application to be rebuilt and released together. Conversely, deploying components separately is useful only when interfaces allow them to evolve at different times. Keep the distinction between code organization and independent deployment explicit throughout the lecture. The course-registration examples here are teaching analogies, while the book uses a customer database.</a:t>
            </a:r>
          </a:p>
          <a:p>
            <a:endParaRPr dirty="0"/>
          </a:p>
          <a:p>
            <a:r>
              <a:rPr dirty="0"/>
              <a:t>Original slide: lecture 09, slide 03.</a:t>
            </a:r>
          </a:p>
          <a:p>
            <a:endParaRPr dirty="0"/>
          </a:p>
          <a:p>
            <a:r>
              <a:rPr dirty="0"/>
              <a:t>Sources</a:t>
            </a:r>
          </a:p>
          <a:p>
            <a:r>
              <a:rPr dirty="0"/>
              <a:t>Verona, Ch 3, pp. 21-22 (PDF 40-41)</a:t>
            </a:r>
          </a:p>
          <a:p>
            <a:r>
              <a:rPr dirty="0"/>
              <a:t>../../Books/practical-devops%28verona%29.pdf#page=40</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book's motivating example, paraphrased from printed pages 22–23. The defect is trivial, but the release scope is broad. The developer must identify the production baseline, modify it, produce a new artifact, and redeploy. The team must consider whether build changes, configuration changes, or unrelated effects have entered the release.</a:t>
            </a:r>
          </a:p>
          <a:p>
            <a:endParaRPr dirty="0"/>
          </a:p>
          <a:p>
            <a:r>
              <a:rPr dirty="0"/>
              <a:t>The lesson concerns the coupling between a small concern and a large deployment unit. Automated tests and reliable deployment can reduce this risk, but they do not erase the architectural boundary. Separating the static frontend may reduce the scope of future changes when the separation has a stable interface and an operational reason. This example does not establish that every monolith is unsuitable.</a:t>
            </a:r>
          </a:p>
          <a:p>
            <a:endParaRPr dirty="0"/>
          </a:p>
          <a:p>
            <a:r>
              <a:rPr dirty="0"/>
              <a:t>Original slide: lecture 09, slide 04.</a:t>
            </a:r>
          </a:p>
          <a:p>
            <a:endParaRPr dirty="0"/>
          </a:p>
          <a:p>
            <a:r>
              <a:rPr dirty="0"/>
              <a:t>Sources</a:t>
            </a:r>
          </a:p>
          <a:p>
            <a:r>
              <a:rPr dirty="0"/>
              <a:t>Verona, Ch 3, pp. 22-24 (PDF 41-43)</a:t>
            </a:r>
          </a:p>
          <a:p>
            <a:r>
              <a:rPr dirty="0"/>
              <a:t>../../Books/practical-devops%28verona%29.pdf#page=41</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monolith to describe deployment structure rather than to imply poor code quality. A monolithic application can contain carefully separated modules with high cohesion. Its unified transaction boundary and straightforward deployment can be valuable for a small team or an early product.</a:t>
            </a:r>
          </a:p>
          <a:p>
            <a:endParaRPr dirty="0"/>
          </a:p>
          <a:p>
            <a:r>
              <a:rPr dirty="0"/>
              <a:t>Verona emphasizes a problematic monolith to motivate separation of concerns. The supplementary perspective from Fowler is that independent services bring a management cost, and teams need a reason to pay it. A team that cannot yet identify stable boundaries may improve modularity and automation before splitting the system into services. Containerizing the existing monolith is also possible and can improve packaging without changing the architectural style.</a:t>
            </a:r>
          </a:p>
          <a:p>
            <a:endParaRPr dirty="0"/>
          </a:p>
          <a:p>
            <a:r>
              <a:rPr dirty="0"/>
              <a:t>Original slide: lecture 09, slide 05.</a:t>
            </a:r>
          </a:p>
          <a:p>
            <a:endParaRPr dirty="0"/>
          </a:p>
          <a:p>
            <a:r>
              <a:rPr dirty="0"/>
              <a:t>Sources</a:t>
            </a:r>
          </a:p>
          <a:p>
            <a:r>
              <a:rPr dirty="0"/>
              <a:t>Verona, Ch 3, pp. 22-24 (PDF 41-43)</a:t>
            </a:r>
          </a:p>
          <a:p>
            <a:r>
              <a:rPr dirty="0"/>
              <a:t>../../Books/practical-devops%28verona%29.pdf#page=41</a:t>
            </a:r>
          </a:p>
          <a:p>
            <a:endParaRPr dirty="0"/>
          </a:p>
          <a:p>
            <a:r>
              <a:rPr dirty="0"/>
              <a:t>Fowler: Monolith First</a:t>
            </a:r>
          </a:p>
          <a:p>
            <a:r>
              <a:rPr dirty="0"/>
              <a:t>https://martinfowler.com/bliki/MonolithFirst.html</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 describes separation of concerns as a foundation for architecture. Cohesion asks how strongly the contents of a module belong together. Coupling asks how much that module depends on the details of other modules. These terms are useful at several levels: functions, packages, services, and deployment units.</a:t>
            </a:r>
          </a:p>
          <a:p>
            <a:endParaRPr dirty="0"/>
          </a:p>
          <a:p>
            <a:r>
              <a:rPr dirty="0"/>
              <a:t>Low coupling does not mean zero communication. A useful system needs collaboration between parts. The objective is to avoid dependencies on details that change frequently, such as another component's private database structure. High cohesion also does not mean collecting everything with a similar technical name into one service. A business capability can involve presentation, logic, and storage while still forming a coherent responsibility.</a:t>
            </a:r>
          </a:p>
          <a:p>
            <a:endParaRPr dirty="0"/>
          </a:p>
          <a:p>
            <a:r>
              <a:rPr dirty="0"/>
              <a:t>Original slide: lecture 09, slide 06.</a:t>
            </a:r>
          </a:p>
          <a:p>
            <a:endParaRPr dirty="0"/>
          </a:p>
          <a:p>
            <a:r>
              <a:rPr dirty="0"/>
              <a:t>Sources</a:t>
            </a:r>
          </a:p>
          <a:p>
            <a:r>
              <a:rPr dirty="0"/>
              <a:t>Verona, Ch 3, pp. 23-24 (PDF 42-43)</a:t>
            </a:r>
          </a:p>
          <a:p>
            <a:r>
              <a:rPr dirty="0"/>
              <a:t>../../Books/practical-devops%28verona%29.pdf#page=42</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book's running organization, Matangle, sells access to educational games and needs a customer database. Its example makes the abstract separation of concerns concrete: a browser interface presents data, application logic applies rules, and PostgreSQL retains records. The diagram is extracted from the supplied book and retains its original labels.</a:t>
            </a:r>
          </a:p>
          <a:p>
            <a:endParaRPr/>
          </a:p>
          <a:p>
            <a:r>
              <a:t>Three tiers describe responsibilities. They do not guarantee three independently releasable products or exactly three servers. Verona warns that the logic and data tiers may remain tightly coupled, and the same problem can occur between the presentation and logic tiers. A team must manage interfaces and compatibility even when it has adopted a familiar architectural pattern.</a:t>
            </a:r>
          </a:p>
          <a:p>
            <a:endParaRPr/>
          </a:p>
          <a:p>
            <a:r>
              <a:t>Original slide: lecture 09, slide 07.</a:t>
            </a:r>
          </a:p>
          <a:p>
            <a:endParaRPr/>
          </a:p>
          <a:p>
            <a:r>
              <a:t>Sources</a:t>
            </a:r>
          </a:p>
          <a:p>
            <a:r>
              <a:t>Verona, Ch 3, pp. 25-26 (PDF 44-45)</a:t>
            </a:r>
          </a:p>
          <a:p>
            <a:r>
              <a:t>../../Books/practical-devops%28verona%29.pdf#page=44</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Printed pages 27–31 introduce database migration tooling and a small Liquibase example. Changeset 1 creates a customer table with id and name columns. Changeset 2 adds an address column. The changeset history lets the migration system determine what remains to be applied. The examples use the book's older tooling versions and are included here as concepts rather than installation instructions.</a:t>
            </a:r>
          </a:p>
          <a:p>
            <a:endParaRPr dirty="0"/>
          </a:p>
          <a:p>
            <a:r>
              <a:rPr dirty="0"/>
              <a:t>Database migration differs from replacing a stateless process because live information must remain meaningful. Rolling back application code does not automatically restore data after a destructive schema change. Backups, compatibility checks, and a tested migration procedure belong to the release design. Detailed Liquibase XML and Maven configuration are supplementary chapter material beyond the Docker-focused syllabus row.</a:t>
            </a:r>
          </a:p>
          <a:p>
            <a:endParaRPr dirty="0"/>
          </a:p>
          <a:p>
            <a:r>
              <a:rPr dirty="0"/>
              <a:t>Original slide: lecture 09, slide 08.</a:t>
            </a:r>
          </a:p>
          <a:p>
            <a:endParaRPr dirty="0"/>
          </a:p>
          <a:p>
            <a:r>
              <a:rPr dirty="0"/>
              <a:t>Sources</a:t>
            </a:r>
          </a:p>
          <a:p>
            <a:r>
              <a:rPr dirty="0"/>
              <a:t>Verona, Ch 3, pp. 27-31 (PDF 46-50)</a:t>
            </a:r>
          </a:p>
          <a:p>
            <a:r>
              <a:rPr dirty="0"/>
              <a:t>../../Books/practical-devops%28verona%29.pdf#page=46</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Verona's example replaces a name field with first-name and surname fields, using a load balancer and two application servers. The book retains the original field while servers are upgraded. These stages generalize that progression into expand, migrate, validate, and contract. Real migrations also need a strategy for writes arriving during the transition, such as synchronized writes or a controlled cutover.</a:t>
            </a:r>
          </a:p>
          <a:p>
            <a:endParaRPr dirty="0"/>
          </a:p>
          <a:p>
            <a:r>
              <a:rPr dirty="0"/>
              <a:t>Do not treat splitting names at the first space as a general model of human names. It is a deliberately simple historical example. The central idea is backward compatibility during overlap. A container image can make application deployment repeatable, but it cannot infer the data transformation or ensure that mixed application versions understand the same schema.</a:t>
            </a:r>
          </a:p>
          <a:p>
            <a:endParaRPr dirty="0"/>
          </a:p>
          <a:p>
            <a:r>
              <a:rPr dirty="0"/>
              <a:t>Original slide: lecture 09, slide 09.</a:t>
            </a:r>
          </a:p>
          <a:p>
            <a:endParaRPr dirty="0"/>
          </a:p>
          <a:p>
            <a:r>
              <a:rPr dirty="0"/>
              <a:t>Sources</a:t>
            </a:r>
          </a:p>
          <a:p>
            <a:r>
              <a:rPr dirty="0"/>
              <a:t>Verona, Ch 3, pp. 28-29 (PDF 47-48)</a:t>
            </a:r>
          </a:p>
          <a:p>
            <a:r>
              <a:rPr dirty="0"/>
              <a:t>../../Books/practical-devops%28verona%29.pdf#page=47</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 describes splitting the logic tier into smaller services that communicate through language-independent protocols. HTTP with JSON is one example, but a messaging protocol or another interoperable interface can serve the same purpose. Service independence concerns release and ownership as much as process count.</a:t>
            </a:r>
          </a:p>
          <a:p>
            <a:endParaRPr dirty="0"/>
          </a:p>
          <a:p>
            <a:r>
              <a:rPr dirty="0"/>
              <a:t>In the teaching example, a learning platform might have catalog, enrollment, and notification capabilities. Merely moving a function to a remote process does not guarantee a useful service boundary. If every change requires all services to deploy together, the system has retained deployment coupling while adding a network. A container can host one of these services, but microservices can also run without containers.</a:t>
            </a:r>
          </a:p>
          <a:p>
            <a:endParaRPr dirty="0"/>
          </a:p>
          <a:p>
            <a:r>
              <a:rPr dirty="0"/>
              <a:t>Original slide: lecture 09, slide 10.</a:t>
            </a:r>
          </a:p>
          <a:p>
            <a:endParaRPr dirty="0"/>
          </a:p>
          <a:p>
            <a:r>
              <a:rPr dirty="0"/>
              <a:t>Sources</a:t>
            </a:r>
          </a:p>
          <a:p>
            <a:r>
              <a:rPr dirty="0"/>
              <a:t>Verona, Ch 3, pp. 32-33 (PDF 51-52)</a:t>
            </a:r>
          </a:p>
          <a:p>
            <a:r>
              <a:rPr dirty="0"/>
              <a:t>../../Books/practical-devops%28verona%29.pdf#page=51</a:t>
            </a:r>
          </a:p>
          <a:p>
            <a:endParaRPr dirty="0"/>
          </a:p>
          <a:p>
            <a:r>
              <a:rPr dirty="0"/>
              <a:t>Lewis &amp; Fowler: Microservices</a:t>
            </a:r>
          </a:p>
          <a:p>
            <a:r>
              <a:rPr dirty="0"/>
              <a:t>https://martinfowler.com/articles/microservices.html</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left side as replicas of the entire application. Each copy contains every colored responsibility. On the right, responsibilities can appear in different combinations and replica counts on the underlying servers. The figure illustrates independent scaling rather than promising a numerical performance gain.</a:t>
            </a:r>
          </a:p>
          <a:p>
            <a:endParaRPr/>
          </a:p>
          <a:p>
            <a:r>
              <a:t>Suppose notifications become busy while enrollment remains steady. With suitable service boundaries, the team can add notification workers without creating identical enrollment replicas. This benefit is valuable only if shared dependencies, such as a single saturated database, do not remain the real bottleneck. Measurement and resource limits still matter. The figure is reproduced unchanged from the authors' original article, and the colored symbols represent generic components.</a:t>
            </a:r>
          </a:p>
          <a:p>
            <a:endParaRPr/>
          </a:p>
          <a:p>
            <a:r>
              <a:t>Original slide: lecture 09, slide 11.</a:t>
            </a:r>
          </a:p>
          <a:p>
            <a:endParaRPr/>
          </a:p>
          <a:p>
            <a:r>
              <a:t>Sources</a:t>
            </a:r>
          </a:p>
          <a:p>
            <a:r>
              <a:t>Lewis &amp; Fowler: Microservices</a:t>
            </a:r>
          </a:p>
          <a:p>
            <a:r>
              <a:t>https://martinfowler.com/articles/microservices.html</a:t>
            </a:r>
          </a:p>
          <a:p>
            <a:endParaRPr/>
          </a:p>
          <a:p>
            <a:r>
              <a:t>Verona, Ch 3, pp. 32-33 (PDF 51-52)</a:t>
            </a:r>
          </a:p>
          <a:p>
            <a:r>
              <a:t>../../Books/practical-devops%28verona%29.pdf#page=51</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comparison synthesizes Verona's architecture and resilience discussion. It describes common tendencies rather than requirements that hold for every system. A monolith can call remote services, and several microservices can share infrastructure. The decisive question is which parts can change, fail, and scale independently.</a:t>
            </a:r>
          </a:p>
          <a:p>
            <a:endParaRPr dirty="0"/>
          </a:p>
          <a:p>
            <a:r>
              <a:rPr dirty="0"/>
              <a:t>Microservices trade a simpler runtime structure for more flexible deployment boundaries. That trade introduces partial failures, version overlap, and more operational signals. Small teams may find the trade unfavorable. Larger systems with stable domain boundaries and independent team responsibilities may benefit. Neither style removes the need for automated builds, tests, release discipline, and monitoring.</a:t>
            </a:r>
          </a:p>
          <a:p>
            <a:endParaRPr dirty="0"/>
          </a:p>
          <a:p>
            <a:r>
              <a:rPr dirty="0"/>
              <a:t>Original slide: lecture 09, slide 12.</a:t>
            </a:r>
          </a:p>
          <a:p>
            <a:endParaRPr dirty="0"/>
          </a:p>
          <a:p>
            <a:r>
              <a:rPr dirty="0"/>
              <a:t>Sources</a:t>
            </a:r>
          </a:p>
          <a:p>
            <a:r>
              <a:rPr dirty="0"/>
              <a:t>Verona, Ch 3, pp. 22-24, 32-36 (PDF 41-43)</a:t>
            </a:r>
          </a:p>
          <a:p>
            <a:r>
              <a:rPr dirty="0"/>
              <a:t>../../Books/practical-devops%28verona%29.pdf#page=41</a:t>
            </a:r>
          </a:p>
          <a:p>
            <a:endParaRPr dirty="0"/>
          </a:p>
          <a:p>
            <a:r>
              <a:rPr dirty="0"/>
              <a:t>Fowler: Monolith First</a:t>
            </a:r>
          </a:p>
          <a:p>
            <a:r>
              <a:rPr dirty="0"/>
              <a:t>https://martinfowler.com/bliki/MonolithFirst.html</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Printed page 35 considers each microservice as potentially having its own data layer. Verona notes both the separation benefits and the simpler data modeling that a shared database can offer. The supplementary figure illustrates decentralized data management.</a:t>
            </a:r>
          </a:p>
          <a:p>
            <a:endParaRPr dirty="0"/>
          </a:p>
          <a:p>
            <a:r>
              <a:rPr dirty="0"/>
              <a:t>Owning data means controlling its schema and the rules by which it changes. It does not necessarily mean purchasing a separate database server for every service. Independent schemas or databases can share managed infrastructure while preserving ownership. Direct cross-service table access can make releases interdependent. Cross-service workflows may require messages, reconciliation, and clearly documented consistency expectations rather than assuming a single transaction across every capability.</a:t>
            </a:r>
          </a:p>
          <a:p>
            <a:endParaRPr dirty="0"/>
          </a:p>
          <a:p>
            <a:r>
              <a:rPr dirty="0"/>
              <a:t>Original slide: lecture 09, slide 13.</a:t>
            </a:r>
          </a:p>
          <a:p>
            <a:endParaRPr dirty="0"/>
          </a:p>
          <a:p>
            <a:r>
              <a:rPr dirty="0"/>
              <a:t>Sources</a:t>
            </a:r>
          </a:p>
          <a:p>
            <a:r>
              <a:rPr dirty="0"/>
              <a:t>Verona, Ch 3, pp. 35 (PDF 54)</a:t>
            </a:r>
          </a:p>
          <a:p>
            <a:r>
              <a:rPr dirty="0"/>
              <a:t>../../Books/practical-devops%28verona%29.pdf#page=54</a:t>
            </a:r>
          </a:p>
          <a:p>
            <a:endParaRPr dirty="0"/>
          </a:p>
          <a:p>
            <a:r>
              <a:rPr dirty="0"/>
              <a:t>Lewis &amp; Fowler: Microservices</a:t>
            </a:r>
          </a:p>
          <a:p>
            <a:r>
              <a:rPr dirty="0"/>
              <a:t>https://martinfowler.com/articles/microservices.html</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Verona calls this the Tolerant Reader pattern. The consumer extracts the values it needs and can ignore unrelated additions. This reduces pressure for all consumers to upgrade simultaneously. The JSON values shown here are an original teaching example, not a transcription of the book's program.</a:t>
            </a:r>
          </a:p>
          <a:p>
            <a:endParaRPr/>
          </a:p>
          <a:p>
            <a:r>
              <a:t>Compatibility also depends on validation rules, types, semantics, and client behavior. A client that rejects unknown fields will not tolerate additions. Changing an amount from rupees to paisa while keeping the same field name is a semantic break even if its JSON type remains numeric. Public and internal APIs both need contract management. The book's 2016 discussion contrasts REST and SOAP, but protocol choice alone does not establish compatibility.</a:t>
            </a:r>
          </a:p>
          <a:p>
            <a:endParaRPr/>
          </a:p>
          <a:p>
            <a:r>
              <a:t>Original slide: lecture 09, slide 14.</a:t>
            </a:r>
          </a:p>
          <a:p>
            <a:endParaRPr/>
          </a:p>
          <a:p>
            <a:r>
              <a:t>Illustrative API responses</a:t>
            </a:r>
          </a:p>
          <a:p>
            <a:r>
              <a:t>Version 1</a:t>
            </a:r>
          </a:p>
          <a:p>
            <a:r>
              <a:t>{"id": 42, "name": "Amina"}</a:t>
            </a:r>
          </a:p>
          <a:p>
            <a:endParaRPr/>
          </a:p>
          <a:p>
            <a:r>
              <a:t>Version 2</a:t>
            </a:r>
          </a:p>
          <a:p>
            <a:r>
              <a:t>{"id": 42, "name": "Amina",</a:t>
            </a:r>
          </a:p>
          <a:p>
            <a:r>
              <a:t> "status": "active"}</a:t>
            </a:r>
          </a:p>
          <a:p>
            <a:endParaRPr/>
          </a:p>
          <a:p>
            <a:r>
              <a:t>Sources</a:t>
            </a:r>
          </a:p>
          <a:p>
            <a:r>
              <a:t>Verona, Ch 3, pp. 34-35 (PDF 53-54)</a:t>
            </a:r>
          </a:p>
          <a:p>
            <a:r>
              <a:t>../../Books/practical-devops%28verona%29.pdf#page=53</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 uses Conway's Law to connect the structure of an organization to the systems it builds. Teams divided entirely by technical layer can produce architecture and workflows with corresponding coordination boundaries. A cross-functional team can take responsibility for a customer capability across those layers.</a:t>
            </a:r>
          </a:p>
          <a:p>
            <a:endParaRPr dirty="0"/>
          </a:p>
          <a:p>
            <a:r>
              <a:rPr dirty="0"/>
              <a:t>This is a useful lens, not a guarantee that reorganizing teams automatically fixes architecture. People still need documentation, deployment rights appropriate to their work, shared operational expectations, and ways to resolve contract changes. Explain ownership as responsibility for outcomes across the lifecycle. A service with no team able to operate it independently may not deliver the intended organizational benefit.</a:t>
            </a:r>
          </a:p>
          <a:p>
            <a:endParaRPr dirty="0"/>
          </a:p>
          <a:p>
            <a:r>
              <a:rPr dirty="0"/>
              <a:t>Original slide: lecture 09, slide 15.</a:t>
            </a:r>
          </a:p>
          <a:p>
            <a:endParaRPr dirty="0"/>
          </a:p>
          <a:p>
            <a:r>
              <a:rPr dirty="0"/>
              <a:t>Sources</a:t>
            </a:r>
          </a:p>
          <a:p>
            <a:r>
              <a:rPr dirty="0"/>
              <a:t>Verona, Ch 3, pp. 33-34 (PDF 52-53)</a:t>
            </a:r>
          </a:p>
          <a:p>
            <a:r>
              <a:rPr dirty="0"/>
              <a:t>../../Books/practical-devops%28verona%29.pdf#page=52</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from architectural boundaries to execution. A service or monolith needs application files, a runtime, libraries, configuration, and access to external resources. Problems arise when teams assume these are identical across developer machines, CI agents, and servers.</a:t>
            </a:r>
          </a:p>
          <a:p>
            <a:endParaRPr/>
          </a:p>
          <a:p>
            <a:r>
              <a:t>An image can carry the application and much of its user-space environment. Runtime configuration supplies deployment-specific values. Host kernel behavior, CPU architecture, external services, and resource availability remain outside that image. Present containerization as a reduction in environmental variation rather than a proof that all deployments behave identically.</a:t>
            </a:r>
          </a:p>
          <a:p>
            <a:endParaRPr/>
          </a:p>
          <a:p>
            <a:r>
              <a:t>Original slide: lecture 09, slide 18.</a:t>
            </a:r>
          </a:p>
          <a:p>
            <a:endParaRPr/>
          </a:p>
          <a:p>
            <a:r>
              <a:t>Sources</a:t>
            </a:r>
          </a:p>
          <a:p>
            <a:r>
              <a:t>What is a container?</a:t>
            </a:r>
          </a:p>
          <a:p>
            <a:r>
              <a:t>https://docs.docker.com/get-started/docker-concepts/the-basics/what-is-a-container/</a:t>
            </a:r>
          </a:p>
          <a:p>
            <a:endParaRPr/>
          </a:p>
          <a:p>
            <a:r>
              <a:t>Verona, Ch 7, pp. 130 (PDF 149)</a:t>
            </a:r>
          </a:p>
          <a:p>
            <a:r>
              <a:t>../../Books/practical-devops%28verona%29.pdf#page=149</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Verona's later Docker discussion emphasizes reuse across development, testing, and production. These points give concrete examples of the mismatch that reuse tries to reduce. If a team tests one built image and later deploys the same image digest, it avoids rebuilding different application contents for each environment.</a:t>
            </a:r>
          </a:p>
          <a:p>
            <a:endParaRPr dirty="0"/>
          </a:p>
          <a:p>
            <a:r>
              <a:rPr dirty="0"/>
              <a:t>Secrets and database records generally belong outside an application image. Network addresses also differ by environment. A containerized service still needs a reachable database, appropriate credentials, and enough memory. Configuration should be explicit so that a successful local run is not mistaken for proof of production readiness. Later slides distinguish the image artifact from each container's runtime settings.</a:t>
            </a:r>
          </a:p>
          <a:p>
            <a:endParaRPr dirty="0"/>
          </a:p>
          <a:p>
            <a:r>
              <a:rPr dirty="0"/>
              <a:t>Original slide: lecture 09, slide 19.</a:t>
            </a:r>
          </a:p>
          <a:p>
            <a:endParaRPr dirty="0"/>
          </a:p>
          <a:p>
            <a:r>
              <a:rPr dirty="0"/>
              <a:t>Sources</a:t>
            </a:r>
          </a:p>
          <a:p>
            <a:r>
              <a:rPr dirty="0"/>
              <a:t>Verona, Ch 4, pp. 52-53 (PDF 71-72)</a:t>
            </a:r>
          </a:p>
          <a:p>
            <a:r>
              <a:rPr dirty="0"/>
              <a:t>../../Books/practical-devops%28verona%29.pdf#page=71</a:t>
            </a:r>
          </a:p>
          <a:p>
            <a:endParaRPr dirty="0"/>
          </a:p>
          <a:p>
            <a:r>
              <a:rPr dirty="0"/>
              <a:t>Verona, Ch 7, pp. 130 (PDF 149)</a:t>
            </a:r>
          </a:p>
          <a:p>
            <a:r>
              <a:rPr dirty="0"/>
              <a:t>../../Books/practical-devops%28verona%29.pdf#page=149</a:t>
            </a:r>
          </a:p>
          <a:p>
            <a:endParaRPr dirty="0"/>
          </a:p>
          <a:p>
            <a:r>
              <a:rPr dirty="0"/>
              <a:t>What is an image?</a:t>
            </a:r>
          </a:p>
          <a:p>
            <a:r>
              <a:rPr dirty="0"/>
              <a:t>https://docs.docker.com/get-started/docker-concepts/the-basics/what-is-an-image/</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these lectures, assume Linux containers. An Ubuntu-based container image includes Ubuntu user-space files but does not boot a separate Ubuntu kernel. Its processes issue system calls to the Linux kernel hosting the runtime. The usual application-container model starts the application directly rather than booting a complete guest operating system.</a:t>
            </a:r>
          </a:p>
          <a:p>
            <a:endParaRPr/>
          </a:p>
          <a:p>
            <a:r>
              <a:t>Docker Desktop on Windows or macOS introduces a Linux environment underneath Linux containers. That means the physical desktop operating system is not necessarily the kernel that a Linux container shares. Avoid the misleading statement that a Linux container directly shares the Windows kernel. Native Windows containers have a different compatibility and isolation model, beyond the scope of this lecture.</a:t>
            </a:r>
          </a:p>
          <a:p>
            <a:endParaRPr/>
          </a:p>
          <a:p>
            <a:r>
              <a:t>Original slide: lecture 09, slide 20.</a:t>
            </a:r>
          </a:p>
          <a:p>
            <a:endParaRPr/>
          </a:p>
          <a:p>
            <a:r>
              <a:t>Sources</a:t>
            </a:r>
          </a:p>
          <a:p>
            <a:r>
              <a:t>What is a container?</a:t>
            </a:r>
          </a:p>
          <a:p>
            <a:r>
              <a:t>https://docs.docker.com/get-started/docker-concepts/the-basics/what-is-a-container/</a:t>
            </a:r>
          </a:p>
          <a:p>
            <a:endParaRPr/>
          </a:p>
          <a:p>
            <a:r>
              <a:t>Docker Desktop on Windows</a:t>
            </a:r>
          </a:p>
          <a:p>
            <a:r>
              <a:t>https://docs.docker.com/desktop/setup/install/windows-install/</a:t>
            </a:r>
          </a:p>
          <a:p>
            <a:endParaRPr/>
          </a:p>
          <a:p>
            <a:r>
              <a:t>Docker Engine security</a:t>
            </a:r>
          </a:p>
          <a:p>
            <a:r>
              <a:t>https://docs.docker.com/engine/security/</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comparison explains mechanisms rather than fixed performance ratios. Actual startup time and density depend on the workload, storage, image availability, and platform. Some VMs start quickly, and some applications in containers start slowly. Isolation quality also depends on configuration and the surrounding security model.</a:t>
            </a:r>
          </a:p>
          <a:p>
            <a:endParaRPr/>
          </a:p>
          <a:p>
            <a:r>
              <a:t>VMs and containers are frequently combined. A cloud VM can provide the guest kernel on which many containers run. Using VMs does not preclude a container-based delivery workflow. For untrusted workloads, separate kernels or additional sandboxing may be part of the design. No single mechanism substitutes for sensible access control, updates, and careful exposure of host resources.</a:t>
            </a:r>
          </a:p>
          <a:p>
            <a:endParaRPr/>
          </a:p>
          <a:p>
            <a:r>
              <a:t>Original slide: lecture 09, slide 21.</a:t>
            </a:r>
          </a:p>
          <a:p>
            <a:endParaRPr/>
          </a:p>
          <a:p>
            <a:r>
              <a:t>Sources</a:t>
            </a:r>
          </a:p>
          <a:p>
            <a:r>
              <a:t>What is a container?</a:t>
            </a:r>
          </a:p>
          <a:p>
            <a:r>
              <a:t>https://docs.docker.com/get-started/docker-concepts/the-basics/what-is-a-container/</a:t>
            </a:r>
          </a:p>
          <a:p>
            <a:endParaRPr/>
          </a:p>
          <a:p>
            <a:r>
              <a:t>Docker Engine security</a:t>
            </a:r>
          </a:p>
          <a:p>
            <a:r>
              <a:t>https://docs.docker.com/engine/security/</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connects lecture 5's virtualization model and lecture 8's EC2 VM to containers. On EC2, Docker Engine can run inside a Linux instance, and containers use that instance's kernel. On a Windows teaching machine, Docker Desktop can provide Linux-container support through its Linux environment.</a:t>
            </a:r>
          </a:p>
          <a:p>
            <a:endParaRPr/>
          </a:p>
          <a:p>
            <a:r>
              <a:t>The distinction explains why a container can report a different distribution in /etc/os-release while uname reports the host environment's kernel. The filesystem identity and kernel identity answer different questions. Docker Desktop has platform-specific backends and requirements, so installation should follow the current platform documentation rather than the older Fedora command in Verona's chapter 4.</a:t>
            </a:r>
          </a:p>
          <a:p>
            <a:endParaRPr/>
          </a:p>
          <a:p>
            <a:r>
              <a:t>Original slide: lecture 09, slide 22.</a:t>
            </a:r>
          </a:p>
          <a:p>
            <a:endParaRPr/>
          </a:p>
          <a:p>
            <a:r>
              <a:t>Sources</a:t>
            </a:r>
          </a:p>
          <a:p>
            <a:r>
              <a:t>Docker Desktop on Windows</a:t>
            </a:r>
          </a:p>
          <a:p>
            <a:r>
              <a:t>https://docs.docker.com/desktop/setup/install/windows-install/</a:t>
            </a:r>
          </a:p>
          <a:p>
            <a:endParaRPr/>
          </a:p>
          <a:p>
            <a:r>
              <a:t>Docker overview</a:t>
            </a:r>
          </a:p>
          <a:p>
            <a:r>
              <a:t>https://docs.docker.com/get-started/docker-overview/</a:t>
            </a:r>
          </a:p>
          <a:p>
            <a:endParaRPr/>
          </a:p>
          <a:p>
            <a:r>
              <a:t>What is a container?</a:t>
            </a:r>
          </a:p>
          <a:p>
            <a:r>
              <a:t>https://docs.docker.com/get-started/docker-concepts/the-basics/what-is-a-container/</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often use image and container interchangeably. Anchor the distinction in lifecycle: building produces an image, while running creates and starts a container. One image can supply many instances with separate names, configurations, and writable layers. Removing one container does not inherently remove its image.</a:t>
            </a:r>
          </a:p>
          <a:p>
            <a:endParaRPr/>
          </a:p>
          <a:p>
            <a:r>
              <a:t>A repository organizes image references within a registry. A tag is a human-readable reference and can move to different content. A digest identifies content. Explain that a source-code repository and an image repository store different artifacts even when a team uses related names. Lecture 10 will build and tag a local image before discussing a registry publishing sequence.</a:t>
            </a:r>
          </a:p>
          <a:p>
            <a:endParaRPr/>
          </a:p>
          <a:p>
            <a:r>
              <a:t>Original slide: lecture 09, slide 24.</a:t>
            </a:r>
          </a:p>
          <a:p>
            <a:endParaRPr/>
          </a:p>
          <a:p>
            <a:r>
              <a:t>Sources</a:t>
            </a:r>
          </a:p>
          <a:p>
            <a:r>
              <a:t>What is an image?</a:t>
            </a:r>
          </a:p>
          <a:p>
            <a:r>
              <a:t>https://docs.docker.com/get-started/docker-concepts/the-basics/what-is-an-image/</a:t>
            </a:r>
          </a:p>
          <a:p>
            <a:endParaRPr/>
          </a:p>
          <a:p>
            <a:r>
              <a:t>docker image pull</a:t>
            </a:r>
          </a:p>
          <a:p>
            <a:r>
              <a:t>https://docs.docker.com/reference/cli/docker/image/pull/</a:t>
            </a:r>
          </a:p>
          <a:p>
            <a:endParaRPr/>
          </a:p>
          <a:p>
            <a:r>
              <a:t>docker image tag</a:t>
            </a:r>
          </a:p>
          <a:p>
            <a:r>
              <a:t>https://docs.docker.com/reference/cli/docker/image/tag/</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image illustrates a Python application assembled over a base. Explain layering conceptually without implying that every Dockerfile instruction produces a new filesystem layer. Metadata instructions can change image configuration instead. The combined filesystem makes files from several layers appear as one coherent directory tree.</a:t>
            </a:r>
          </a:p>
          <a:p>
            <a:endParaRPr/>
          </a:p>
          <a:p>
            <a:r>
              <a:t>At runtime, a writable layer records changes that do not go to an attached mount. Those changes persist when the same container stops and starts. They disappear when the container is removed. This distinction prepares students for named volumes and for the idea that editing a running container does not update the source image used to create future instances.</a:t>
            </a:r>
          </a:p>
          <a:p>
            <a:endParaRPr/>
          </a:p>
          <a:p>
            <a:r>
              <a:t>Original slide: lecture 09, slide 25.</a:t>
            </a:r>
          </a:p>
          <a:p>
            <a:endParaRPr/>
          </a:p>
          <a:p>
            <a:r>
              <a:t>Sources</a:t>
            </a:r>
          </a:p>
          <a:p>
            <a:r>
              <a:t>Understanding image layers</a:t>
            </a:r>
          </a:p>
          <a:p>
            <a:r>
              <a:t>https://docs.docker.com/get-started/docker-concepts/building-images/understanding-image-layers/</a:t>
            </a:r>
          </a:p>
          <a:p>
            <a:endParaRPr/>
          </a:p>
          <a:p>
            <a:r>
              <a:t>Docker storage</a:t>
            </a:r>
          </a:p>
          <a:p>
            <a:r>
              <a:t>https://docs.docker.com/engine/storage/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Trace the official architecture figure from left to right. The docker command is a client. It sends requests to a daemon that manages container-related resources on the Docker host. The registry is a separate service used to distribute images. The client and daemon can run on different machines.</a:t>
            </a:r>
          </a:p>
          <a:p>
            <a:endParaRPr dirty="0"/>
          </a:p>
          <a:p>
            <a:r>
              <a:rPr dirty="0"/>
              <a:t>For modern image builds, </a:t>
            </a:r>
            <a:r>
              <a:rPr dirty="0" err="1"/>
              <a:t>BuildKit</a:t>
            </a:r>
            <a:r>
              <a:rPr dirty="0"/>
              <a:t> handles build execution and can be reached through Docker's build tooling. The overview figure is deliberately higher-level than all underlying runtime components. The operational lesson is that a working CLI alone is insufficient: the configured daemon or builder must also be available. In lecture 10, docker version is used to check the client/server connection before running examples.</a:t>
            </a:r>
          </a:p>
          <a:p>
            <a:endParaRPr dirty="0"/>
          </a:p>
          <a:p>
            <a:r>
              <a:rPr dirty="0"/>
              <a:t>Original slide: lecture 09, slide 27.</a:t>
            </a:r>
          </a:p>
          <a:p>
            <a:endParaRPr dirty="0"/>
          </a:p>
          <a:p>
            <a:r>
              <a:rPr dirty="0"/>
              <a:t>Sources</a:t>
            </a:r>
          </a:p>
          <a:p>
            <a:r>
              <a:rPr dirty="0"/>
              <a:t>Docker overview</a:t>
            </a:r>
          </a:p>
          <a:p>
            <a:r>
              <a:rPr dirty="0"/>
              <a:t>https://docs.docker.com/get-started/docker-overview/</a:t>
            </a:r>
          </a:p>
          <a:p>
            <a:endParaRPr dirty="0"/>
          </a:p>
          <a:p>
            <a:r>
              <a:rPr dirty="0"/>
              <a:t>docker </a:t>
            </a:r>
            <a:r>
              <a:rPr dirty="0" err="1"/>
              <a:t>buildx</a:t>
            </a:r>
            <a:r>
              <a:rPr dirty="0"/>
              <a:t> build</a:t>
            </a:r>
          </a:p>
          <a:p>
            <a:r>
              <a:rPr dirty="0"/>
              <a:t>https://docs.docker.com/reference/cli/docker/buildx/build/</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name l09-web identifies this example's container. The -d flag asks the client to run it detached. The -p option maps host loopback port 8080 to container port 80. The nginx reference includes the stable-alpine tag. That tag is useful for a classroom demonstration but is mutable, so a reproducible release should record the resolved digest.</a:t>
            </a:r>
          </a:p>
          <a:p>
            <a:endParaRPr dirty="0"/>
          </a:p>
          <a:p>
            <a:r>
              <a:rPr dirty="0"/>
              <a:t>If this container name already exists, Docker rejects a second run using the same name. Starting an existing stopped container is a different operation. If the image is present, the default run behavior does not guarantee that Docker checks for a newer image behind the same tag. The CLI reference documents explicit pull policies for workflows that need them.</a:t>
            </a:r>
          </a:p>
          <a:p>
            <a:endParaRPr dirty="0"/>
          </a:p>
          <a:p>
            <a:r>
              <a:rPr dirty="0"/>
              <a:t>Original slide: lecture 09, slide 28.</a:t>
            </a:r>
          </a:p>
          <a:p>
            <a:endParaRPr dirty="0"/>
          </a:p>
          <a:p>
            <a:r>
              <a:rPr dirty="0"/>
              <a:t>Terminal</a:t>
            </a:r>
          </a:p>
          <a:p>
            <a:r>
              <a:rPr dirty="0"/>
              <a:t>docker run --name l09-web -d -p 127.0.0.1:8080:80 </a:t>
            </a:r>
            <a:r>
              <a:rPr dirty="0" err="1"/>
              <a:t>nginx:stable-alpine</a:t>
            </a:r>
            <a:endParaRPr dirty="0"/>
          </a:p>
          <a:p>
            <a:endParaRPr dirty="0"/>
          </a:p>
          <a:p>
            <a:r>
              <a:rPr dirty="0"/>
              <a:t>Sources</a:t>
            </a:r>
          </a:p>
          <a:p>
            <a:r>
              <a:rPr dirty="0"/>
              <a:t>Running containers</a:t>
            </a:r>
          </a:p>
          <a:p>
            <a:r>
              <a:rPr dirty="0"/>
              <a:t>https://docs.docker.com/engine/containers/run/</a:t>
            </a:r>
          </a:p>
          <a:p>
            <a:endParaRPr dirty="0"/>
          </a:p>
          <a:p>
            <a:r>
              <a:rPr dirty="0"/>
              <a:t>docker image pull</a:t>
            </a:r>
          </a:p>
          <a:p>
            <a:r>
              <a:rPr dirty="0"/>
              <a:t>https://docs.docker.com/reference/cli/docker/image/pull/</a:t>
            </a:r>
          </a:p>
          <a:p>
            <a:endParaRPr dirty="0"/>
          </a:p>
          <a:p>
            <a:r>
              <a:rPr dirty="0"/>
              <a:t>Official NGINX image</a:t>
            </a:r>
          </a:p>
          <a:p>
            <a:r>
              <a:rPr dirty="0"/>
              <a:t>https://hub.docker.com/_/nginx</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container's lifetime follows its main process. A one-shot command can exit successfully almost immediately, while a web server normally stays in the foreground waiting for requests. Detached mode does not keep a process alive after it exits. The hello-world container is a useful example of a successful short-lived container.</a:t>
            </a:r>
          </a:p>
          <a:p>
            <a:endParaRPr dirty="0"/>
          </a:p>
          <a:p>
            <a:r>
              <a:rPr dirty="0"/>
              <a:t>The stop command normally sends the configured stop signal, which defaults to SIGTERM for Linux containers unless configured otherwise. If the process has not exited by the timeout, Docker uses SIGKILL. Good applications handle termination and finish necessary cleanup. Named volumes are separately managed, but volume deletion options and anonymous-volume behavior require attention in real cleanup procedures.</a:t>
            </a:r>
          </a:p>
          <a:p>
            <a:endParaRPr dirty="0"/>
          </a:p>
          <a:p>
            <a:r>
              <a:rPr dirty="0"/>
              <a:t>Original slide: lecture 09, slide 29.</a:t>
            </a:r>
          </a:p>
          <a:p>
            <a:endParaRPr dirty="0"/>
          </a:p>
          <a:p>
            <a:r>
              <a:rPr dirty="0"/>
              <a:t>Sources</a:t>
            </a:r>
          </a:p>
          <a:p>
            <a:r>
              <a:rPr dirty="0"/>
              <a:t>docker container stop</a:t>
            </a:r>
          </a:p>
          <a:p>
            <a:r>
              <a:rPr dirty="0"/>
              <a:t>https://docs.docker.com/reference/cli/docker/container/stop/</a:t>
            </a:r>
          </a:p>
          <a:p>
            <a:endParaRPr dirty="0"/>
          </a:p>
          <a:p>
            <a:r>
              <a:rPr dirty="0"/>
              <a:t>Running containers</a:t>
            </a:r>
          </a:p>
          <a:p>
            <a:r>
              <a:rPr dirty="0"/>
              <a:t>https://docs.docker.com/engine/containers/run/</a:t>
            </a:r>
          </a:p>
          <a:p>
            <a:endParaRPr dirty="0"/>
          </a:p>
          <a:p>
            <a:r>
              <a:rPr dirty="0"/>
              <a:t>Volumes</a:t>
            </a:r>
          </a:p>
          <a:p>
            <a:r>
              <a:rPr dirty="0"/>
              <a:t>https://docs.docker.com/engine/storage/volumes/</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named volume separates the lifetime of data from the lifetime of the container. Replacing a database container while attaching the same suitable volume can retain records, subject to database-version compatibility. A volume is not a backup because accidental updates and corruption can affect it as well.</a:t>
            </a:r>
          </a:p>
          <a:p>
            <a:endParaRPr/>
          </a:p>
          <a:p>
            <a:r>
              <a:t>A bind mount exposes a specific host path. It is convenient during development but creates dependencies on the path, permissions, and host files. Mounting over an image directory can hide the files originally present there. Use read-only mounts when a container only needs to consume content. Lecture 10 includes a small named-volume demonstration without requiring a database server.</a:t>
            </a:r>
          </a:p>
          <a:p>
            <a:endParaRPr/>
          </a:p>
          <a:p>
            <a:r>
              <a:t>Original slide: lecture 09, slide 31.</a:t>
            </a:r>
          </a:p>
          <a:p>
            <a:endParaRPr/>
          </a:p>
          <a:p>
            <a:r>
              <a:t>Sources</a:t>
            </a:r>
          </a:p>
          <a:p>
            <a:r>
              <a:t>Docker storage</a:t>
            </a:r>
          </a:p>
          <a:p>
            <a:r>
              <a:t>https://docs.docker.com/engine/storage/</a:t>
            </a:r>
          </a:p>
          <a:p>
            <a:endParaRPr/>
          </a:p>
          <a:p>
            <a:r>
              <a:t>Volumes</a:t>
            </a:r>
          </a:p>
          <a:p>
            <a:r>
              <a:t>https://docs.docker.com/engine/storage/volumes/</a:t>
            </a:r>
          </a:p>
          <a:p>
            <a:endParaRPr/>
          </a:p>
          <a:p>
            <a:r>
              <a:t>Bind mounts</a:t>
            </a:r>
          </a:p>
          <a:p>
            <a:r>
              <a:t>https://docs.docker.com/engine/storage/bind-mounts/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worked instructor demonstration, not an assessment task. Begin with an available Docker Engine configured for Linux containers. The image pull requires network access if it is not cached. Explain the difference between the daemon being unavailable and the container failing after it starts.</a:t>
            </a:r>
          </a:p>
          <a:p>
            <a:endParaRPr dirty="0"/>
          </a:p>
          <a:p>
            <a:r>
              <a:rPr dirty="0"/>
              <a:t>The commands create only the named demonstration container and remove that container after inspection. Avoid broad prune commands during a class demonstration on machines that may contain other projects. Output such as container IDs, timestamps, image digests, and log lines varies by installation. The observations on this slide are expected behavior rather than captured evidence from a live Docker run in this document.</a:t>
            </a:r>
          </a:p>
          <a:p>
            <a:endParaRPr dirty="0"/>
          </a:p>
          <a:p>
            <a:r>
              <a:rPr dirty="0"/>
              <a:t>Original slide: lecture 09, slide 33.</a:t>
            </a:r>
          </a:p>
          <a:p>
            <a:endParaRPr dirty="0"/>
          </a:p>
          <a:p>
            <a:r>
              <a:rPr dirty="0"/>
              <a:t>Terminal</a:t>
            </a:r>
          </a:p>
          <a:p>
            <a:r>
              <a:rPr dirty="0"/>
              <a:t>docker version</a:t>
            </a:r>
          </a:p>
          <a:p>
            <a:r>
              <a:rPr dirty="0"/>
              <a:t>docker run --name l09-web -d -p 127.0.0.1:8080:80 </a:t>
            </a:r>
            <a:r>
              <a:rPr dirty="0" err="1"/>
              <a:t>nginx:stable-alpine</a:t>
            </a:r>
            <a:endParaRPr dirty="0"/>
          </a:p>
          <a:p>
            <a:r>
              <a:rPr dirty="0"/>
              <a:t>docker </a:t>
            </a:r>
            <a:r>
              <a:rPr dirty="0" err="1"/>
              <a:t>ps</a:t>
            </a:r>
            <a:endParaRPr dirty="0"/>
          </a:p>
          <a:p>
            <a:r>
              <a:rPr dirty="0"/>
              <a:t>docker logs l09-web</a:t>
            </a:r>
          </a:p>
          <a:p>
            <a:r>
              <a:rPr dirty="0"/>
              <a:t>docker stop l09-web</a:t>
            </a:r>
          </a:p>
          <a:p>
            <a:r>
              <a:rPr dirty="0"/>
              <a:t>docker rm l09-web</a:t>
            </a:r>
          </a:p>
          <a:p>
            <a:endParaRPr dirty="0"/>
          </a:p>
          <a:p>
            <a:r>
              <a:rPr dirty="0"/>
              <a:t>Sources</a:t>
            </a:r>
          </a:p>
          <a:p>
            <a:r>
              <a:rPr dirty="0"/>
              <a:t>Running containers</a:t>
            </a:r>
          </a:p>
          <a:p>
            <a:r>
              <a:rPr dirty="0"/>
              <a:t>https://docs.docker.com/engine/containers/run/</a:t>
            </a:r>
          </a:p>
          <a:p>
            <a:endParaRPr dirty="0"/>
          </a:p>
          <a:p>
            <a:r>
              <a:rPr dirty="0"/>
              <a:t>docker container logs</a:t>
            </a:r>
          </a:p>
          <a:p>
            <a:r>
              <a:rPr dirty="0"/>
              <a:t>https://docs.docker.com/reference/cli/docker/container/logs/</a:t>
            </a:r>
          </a:p>
          <a:p>
            <a:endParaRPr dirty="0"/>
          </a:p>
          <a:p>
            <a:r>
              <a:rPr dirty="0"/>
              <a:t>docker container stop</a:t>
            </a:r>
          </a:p>
          <a:p>
            <a:r>
              <a:rPr dirty="0"/>
              <a:t>https://docs.docker.com/reference/cli/docker/container/stop/</a:t>
            </a:r>
          </a:p>
          <a:p>
            <a:endParaRPr dirty="0"/>
          </a:p>
          <a:p>
            <a:r>
              <a:rPr dirty="0"/>
              <a:t>Official NGINX image</a:t>
            </a:r>
          </a:p>
          <a:p>
            <a:r>
              <a:rPr dirty="0"/>
              <a:t>https://hub.docker.com/_/nginx</a:t>
            </a:r>
          </a:p>
          <a:p>
            <a:endParaRPr dirty="0"/>
          </a:p>
          <a:p>
            <a:r>
              <a:rPr dirty="0"/>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title in the supplied PDF: Practical DevOps: Harness the power of DevOps to boost your skill set and make your IT organization perform better. Author: Joakim Verona. Publisher: Packt Publishing. First published February 2016. ISBN 978-1-78588-287-6.</a:t>
            </a:r>
          </a:p>
          <a:p>
            <a:endParaRPr/>
          </a:p>
          <a:p>
            <a:r>
              <a:t>Chapter 3 supplies the architecture discussion, including the spelling-correction scenario, separation of concerns, Matangle's three-tier application, database migration, microservices, Conway's Law, compatible interfaces, and resilience. Chapters 4 and 7 provide historical Docker context. Modern commands and platform behavior in this lecture follow the linked Docker documentation rather than the old installation instructions.</a:t>
            </a:r>
          </a:p>
          <a:p>
            <a:endParaRPr/>
          </a:p>
          <a:p>
            <a:r>
              <a:t>Original slide: lecture 09, slide 36.</a:t>
            </a:r>
          </a:p>
          <a:p>
            <a:endParaRPr/>
          </a:p>
          <a:p>
            <a:r>
              <a:t>Sources</a:t>
            </a:r>
          </a:p>
          <a:p>
            <a:r>
              <a:t>Verona, Ch 3, pp. 21-37 (PDF 40-56)</a:t>
            </a:r>
          </a:p>
          <a:p>
            <a:r>
              <a:t>../../Books/practical-devops%28verona%29.pdf#page=40</a:t>
            </a:r>
          </a:p>
          <a:p>
            <a:endParaRPr/>
          </a:p>
          <a:p>
            <a:r>
              <a:t>Verona, Ch 4, pp. 52-53 (PDF 71-72)</a:t>
            </a:r>
          </a:p>
          <a:p>
            <a:r>
              <a:t>../../Books/practical-devops%28verona%29.pdf#page=71</a:t>
            </a:r>
          </a:p>
          <a:p>
            <a:endParaRPr/>
          </a:p>
          <a:p>
            <a:r>
              <a:t>Verona, Ch 7, pp. 130 (PDF 149)</a:t>
            </a:r>
          </a:p>
          <a:p>
            <a:r>
              <a:t>../../Books/practical-devops%28verona%29.pdf#page=149</a:t>
            </a:r>
          </a:p>
          <a:p>
            <a:endParaRPr/>
          </a:p>
          <a:p>
            <a:r>
              <a:t>CSC418 syllabus V3.2, p. 2</a:t>
            </a:r>
          </a:p>
          <a:p>
            <a:r>
              <a:t>../../CSC418_DevOps_Syllabus_V3.2.pdf#page=2</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10 implements the syllabus topics Docker commands, introduction to Dockerfile, and creating custom images. It assumes lecture 9's distinction between image, container, and registry. Docker Compose configuration belongs to lecture 11 and appears here only as the next step.</a:t>
            </a:r>
          </a:p>
          <a:p>
            <a:endParaRPr/>
          </a:p>
          <a:p>
            <a:r>
              <a:t>Suggested core route: command use for about 15 minutes, the complete Python image example for about 30 minutes, and explanation of the resulting build and runtime behavior for about 10 minutes. The sections marked Further reading contain additional study material on cache design, health checks, limits, secrets, and multi-stage builds. They can support a longer lab or a second pass without making a single class cover every detail at equal speed.</a:t>
            </a:r>
          </a:p>
          <a:p>
            <a:endParaRPr/>
          </a:p>
          <a:p>
            <a:r>
              <a:t>Original slide: lecture 10, slide 01.</a:t>
            </a:r>
          </a:p>
          <a:p>
            <a:endParaRPr/>
          </a:p>
          <a:p>
            <a:r>
              <a:t>Sources</a:t>
            </a:r>
          </a:p>
          <a:p>
            <a:r>
              <a:t>CSC418 syllabus V3.2, p. 2</a:t>
            </a:r>
          </a:p>
          <a:p>
            <a:r>
              <a:t>../../CSC418_DevOps_Syllabus_V3.2.pdf#page=2</a:t>
            </a:r>
          </a:p>
          <a:p>
            <a:endParaRPr/>
          </a:p>
          <a:p>
            <a:r>
              <a:t>Docker overview</a:t>
            </a:r>
          </a:p>
          <a:p>
            <a:r>
              <a:t>https://docs.docker.com/get-started/docker-overview/</a:t>
            </a:r>
          </a:p>
          <a:p>
            <a:endParaRPr/>
          </a:p>
          <a:p>
            <a:r>
              <a:t>Dockerfile overview</a:t>
            </a:r>
          </a:p>
          <a:p>
            <a:r>
              <a:t>https://docs.docker.com/build/concepts/dockerfile/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Installation is a prerequisite rather than a sequence to reproduce from the older book. Follow the linked Docker Desktop or Ubuntu Engine instructions appropriate to the classroom machines. docker --version checks only the client binary. docker version should also show a reachable server. docker context ls helps identify which configured engine is active.</a:t>
            </a:r>
          </a:p>
          <a:p>
            <a:endParaRPr/>
          </a:p>
          <a:p>
            <a:r>
              <a:t>Most displayed Docker commands are one line and work in both Bash and PowerShell. Commands after sh -c run inside a Linux container, where the shell syntax is Linux syntax. Bind-mount examples explicitly label their host shell. The examples assume the CLI uses a local engine and ports 8080, 8000, and 8001 are available. Classroom output varies by installed Docker version.</a:t>
            </a:r>
          </a:p>
          <a:p>
            <a:endParaRPr/>
          </a:p>
          <a:p>
            <a:r>
              <a:t>Original slide: lecture 10, slide 03.</a:t>
            </a:r>
          </a:p>
          <a:p>
            <a:endParaRPr/>
          </a:p>
          <a:p>
            <a:r>
              <a:t>Sources</a:t>
            </a:r>
          </a:p>
          <a:p>
            <a:r>
              <a:t>Docker Desktop on Windows</a:t>
            </a:r>
          </a:p>
          <a:p>
            <a:r>
              <a:t>https://docs.docker.com/desktop/setup/install/windows-install/</a:t>
            </a:r>
          </a:p>
          <a:p>
            <a:endParaRPr/>
          </a:p>
          <a:p>
            <a:r>
              <a:t>Docker Engine on Ubuntu</a:t>
            </a:r>
          </a:p>
          <a:p>
            <a:r>
              <a:t>https://docs.docker.com/engine/install/ubuntu/</a:t>
            </a:r>
          </a:p>
          <a:p>
            <a:endParaRPr/>
          </a:p>
          <a:p>
            <a:r>
              <a:t>Docker overview</a:t>
            </a:r>
          </a:p>
          <a:p>
            <a:r>
              <a:t>https://docs.docker.com/get-started/docker-overview/</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the general grammar docker run [OPTIONS] IMAGE [COMMAND] [ARG...]. Docker options appear before the image reference. Words after the image become a command or arguments interpreted according to that image's entrypoint and command configuration. Placing Docker flags after the image can therefore change the application invocation instead of configuring Docker.</a:t>
            </a:r>
          </a:p>
          <a:p>
            <a:endParaRPr/>
          </a:p>
          <a:p>
            <a:r>
              <a:t>The shorter docker run and the object-oriented docker container run forms both exist. Use the familiar shorter form consistently in the lecture, and recognize the longer form in reference documentation. Do not type terminal prompt symbols from a screenshot. Code blocks in these decks deliberately omit prompts so students can copy the actual commands.</a:t>
            </a:r>
          </a:p>
          <a:p>
            <a:endParaRPr/>
          </a:p>
          <a:p>
            <a:r>
              <a:t>Original slide: lecture 10, slide 04.</a:t>
            </a:r>
          </a:p>
          <a:p>
            <a:endParaRPr/>
          </a:p>
          <a:p>
            <a:r>
              <a:t>Terminal</a:t>
            </a:r>
          </a:p>
          <a:p>
            <a:r>
              <a:t>docker run --name l10-web -d -p 127.0.0.1:8080:80 nginx:stable-alpine</a:t>
            </a:r>
          </a:p>
          <a:p>
            <a:endParaRPr/>
          </a:p>
          <a:p>
            <a:r>
              <a:t>Sources</a:t>
            </a: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docker version reports client and server information. If server information fails, investigate whether Docker Desktop or the Linux daemon is running and whether the active context points to the expected engine. docker info provides a broader view of the engine environment.</a:t>
            </a:r>
          </a:p>
          <a:p>
            <a:endParaRPr/>
          </a:p>
          <a:p>
            <a:r>
              <a:t>docker pull downloads a referenced image into the engine's image store. docker image ls lists locally available image references. A successful pull does not start a web server. It makes the image available for a later create or run operation. Pull failures can reflect connectivity, authentication, registry limits, a misspelled repository, or a tag that does not exist. These are different from failures inside a running application.</a:t>
            </a:r>
          </a:p>
          <a:p>
            <a:endParaRPr/>
          </a:p>
          <a:p>
            <a:r>
              <a:t>Original slide: lecture 10, slide 05.</a:t>
            </a:r>
          </a:p>
          <a:p>
            <a:endParaRPr/>
          </a:p>
          <a:p>
            <a:r>
              <a:t>Terminal</a:t>
            </a:r>
          </a:p>
          <a:p>
            <a:r>
              <a:t>docker version</a:t>
            </a:r>
          </a:p>
          <a:p>
            <a:r>
              <a:t>docker context ls</a:t>
            </a:r>
          </a:p>
          <a:p>
            <a:r>
              <a:t>docker info</a:t>
            </a:r>
          </a:p>
          <a:p>
            <a:r>
              <a:t>docker pull nginx:stable-alpine</a:t>
            </a:r>
          </a:p>
          <a:p>
            <a:r>
              <a:t>docker image ls</a:t>
            </a:r>
          </a:p>
          <a:p>
            <a:endParaRPr/>
          </a:p>
          <a:p>
            <a:r>
              <a:t>Sources</a:t>
            </a:r>
          </a:p>
          <a:p>
            <a:r>
              <a:t>Docker overview</a:t>
            </a:r>
          </a:p>
          <a:p>
            <a:r>
              <a:t>https://docs.docker.com/get-started/docker-overview/</a:t>
            </a:r>
          </a:p>
          <a:p>
            <a:endParaRPr/>
          </a:p>
          <a:p>
            <a:r>
              <a:t>docker image pull</a:t>
            </a:r>
          </a:p>
          <a:p>
            <a:r>
              <a:t>https://docs.docker.com/reference/cli/docker/image/pull/</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container runs its configured process. When that process completes, the container stops. hello-world is a one-shot program, so exiting is expected. A web server is designed to keep accepting requests, and unexpected exit there deserves investigation. The exit code and logs provide evidence of the distinction.</a:t>
            </a:r>
          </a:p>
          <a:p>
            <a:endParaRPr/>
          </a:p>
          <a:p>
            <a:r>
              <a:t>docker ps displays running containers by default. docker ps -a adds stopped containers, which is why it reveals the completed hello-world instance. Removing that instance does not require deleting the image. The --rm option can automatically remove an instance when it exits, but leaving this first container briefly in place makes its lifecycle easier to inspect.</a:t>
            </a:r>
          </a:p>
          <a:p>
            <a:endParaRPr/>
          </a:p>
          <a:p>
            <a:r>
              <a:t>Original slide: lecture 10, slide 06.</a:t>
            </a:r>
          </a:p>
          <a:p>
            <a:endParaRPr/>
          </a:p>
          <a:p>
            <a:r>
              <a:t>Terminal</a:t>
            </a:r>
          </a:p>
          <a:p>
            <a:r>
              <a:t>docker run --name l10-hello hello-world</a:t>
            </a:r>
          </a:p>
          <a:p>
            <a:r>
              <a:t>docker ps</a:t>
            </a:r>
          </a:p>
          <a:p>
            <a:r>
              <a:t>docker ps -a</a:t>
            </a:r>
          </a:p>
          <a:p>
            <a:r>
              <a:t>docker rm l10-hello</a:t>
            </a:r>
          </a:p>
          <a:p>
            <a:endParaRPr/>
          </a:p>
          <a:p>
            <a:r>
              <a:t>Sources</a:t>
            </a: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run command starts the server in detached mode. The terminal receives a container ID and becomes available for more commands. The process inside the container still runs normally in the foreground. The image's startup configuration manages NGINX's process behavior.</a:t>
            </a:r>
          </a:p>
          <a:p>
            <a:endParaRPr/>
          </a:p>
          <a:p>
            <a:r>
              <a:t>docker port reports configured port mappings for the named container. This helps separate the host address students type in a browser from the port the application listens on inside the container. If the browser cannot connect, first confirm that the container is still running. Then check the mapping and logs. A reachable welcome page verifies this small HTTP path, not every possible application function.</a:t>
            </a:r>
          </a:p>
          <a:p>
            <a:endParaRPr/>
          </a:p>
          <a:p>
            <a:r>
              <a:t>Original slide: lecture 10, slide 07.</a:t>
            </a:r>
          </a:p>
          <a:p>
            <a:endParaRPr/>
          </a:p>
          <a:p>
            <a:r>
              <a:t>Terminal</a:t>
            </a:r>
          </a:p>
          <a:p>
            <a:r>
              <a:t>docker run --name l10-web -d -p 127.0.0.1:8080:80 nginx:stable-alpine</a:t>
            </a:r>
          </a:p>
          <a:p>
            <a:r>
              <a:t>docker ps</a:t>
            </a:r>
          </a:p>
          <a:p>
            <a:r>
              <a:t>docker port l10-web</a:t>
            </a:r>
          </a:p>
          <a:p>
            <a:endParaRPr/>
          </a:p>
          <a:p>
            <a:r>
              <a:t>Sources</a:t>
            </a:r>
          </a:p>
          <a:p>
            <a:r>
              <a:t>Official NGINX image</a:t>
            </a:r>
          </a:p>
          <a:p>
            <a:r>
              <a:t>https://hub.docker.com/_/nginx</a:t>
            </a:r>
          </a:p>
          <a:p>
            <a:endParaRPr/>
          </a:p>
          <a:p>
            <a:r>
              <a:t>Port publishing and mapping</a:t>
            </a:r>
          </a:p>
          <a:p>
            <a:r>
              <a:t>https://docs.docker.com/engine/network/port-publishing/</a:t>
            </a:r>
          </a:p>
          <a:p>
            <a:endParaRP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smallest useful observation. Recent logs are often a better first step than reading a large inspection document. docker inspect returns structured configuration and state, including network and mount information. It does not establish that the application is functionally correct. docker stats provides current usage and should not be mistaken for a long-term performance history.</a:t>
            </a:r>
          </a:p>
          <a:p>
            <a:endParaRPr/>
          </a:p>
          <a:p>
            <a:r>
              <a:t>Docker's log command normally reflects output collected through the configured logging system. An application that writes only to an internal file may not place those messages in docker logs. Good containerized application behavior includes intentional logging to stdout or stderr and an external retention strategy. Never assume a container will retain an unlimited safe history of logs.</a:t>
            </a:r>
          </a:p>
          <a:p>
            <a:endParaRPr/>
          </a:p>
          <a:p>
            <a:r>
              <a:t>Original slide: lecture 10, slide 08.</a:t>
            </a:r>
          </a:p>
          <a:p>
            <a:endParaRPr/>
          </a:p>
          <a:p>
            <a:r>
              <a:t>Terminal</a:t>
            </a:r>
          </a:p>
          <a:p>
            <a:r>
              <a:t>docker ps -a</a:t>
            </a:r>
          </a:p>
          <a:p>
            <a:r>
              <a:t>docker logs --tail 30 l10-web</a:t>
            </a:r>
          </a:p>
          <a:p>
            <a:r>
              <a:t>docker inspect l10-web</a:t>
            </a:r>
          </a:p>
          <a:p>
            <a:r>
              <a:t>docker stats --no-stream l10-web</a:t>
            </a:r>
          </a:p>
          <a:p>
            <a:endParaRPr/>
          </a:p>
          <a:p>
            <a:r>
              <a:t>Sources</a:t>
            </a:r>
          </a:p>
          <a:p>
            <a:r>
              <a:t>docker container logs</a:t>
            </a:r>
          </a:p>
          <a:p>
            <a:r>
              <a:t>https://docs.docker.com/reference/cli/docker/container/logs/</a:t>
            </a:r>
          </a:p>
          <a:p>
            <a:endParaRPr/>
          </a:p>
          <a:p>
            <a:r>
              <a:t>docker inspect</a:t>
            </a:r>
          </a:p>
          <a:p>
            <a:r>
              <a:t>https://docs.docker.com/reference/cli/docker/inspect/</a:t>
            </a:r>
          </a:p>
          <a:p>
            <a:endParaRPr/>
          </a:p>
          <a:p>
            <a:r>
              <a:t>Resource constraints</a:t>
            </a:r>
          </a:p>
          <a:p>
            <a:r>
              <a:t>https://docs.docker.com/engine/containers/resource_constraints/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exec command runs the NGINX configuration check within the existing container. The second starts an interactive shell. The -i option keeps standard input open, and -t allocates a pseudo-terminal. Some minimal images do not contain a shell, so sh is not universally available.</a:t>
            </a:r>
          </a:p>
          <a:p>
            <a:endParaRPr/>
          </a:p>
          <a:p>
            <a:r>
              <a:t>Distinguish exiting this additional shell from terminating the container's main process. The web server continues after the exec shell exits. attach has different implications because it connects to the existing main process and can forward signals. For introductory diagnosis, exec is often easier to reason about. Any files edited through exec remain container-local changes unless they are on a mount.</a:t>
            </a:r>
          </a:p>
          <a:p>
            <a:endParaRPr/>
          </a:p>
          <a:p>
            <a:r>
              <a:t>Original slide: lecture 10, slide 09.</a:t>
            </a:r>
          </a:p>
          <a:p>
            <a:endParaRPr/>
          </a:p>
          <a:p>
            <a:r>
              <a:t>Inspect the existing container</a:t>
            </a:r>
          </a:p>
          <a:p>
            <a:r>
              <a:t>docker exec l10-web nginx -t</a:t>
            </a:r>
          </a:p>
          <a:p>
            <a:r>
              <a:t>docker exec -it l10-web sh</a:t>
            </a:r>
          </a:p>
          <a:p>
            <a:endParaRPr/>
          </a:p>
          <a:p>
            <a:r>
              <a:t>Sources</a:t>
            </a:r>
          </a:p>
          <a:p>
            <a:r>
              <a:t>docker container exec</a:t>
            </a:r>
          </a:p>
          <a:p>
            <a:r>
              <a:t>https://docs.docker.com/reference/cli/docker/container/exec/</a:t>
            </a:r>
          </a:p>
          <a:p>
            <a:endParaRP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stop, the container object and its writable layer remain. start invokes that same container's configured startup process again. Its name, image association, port mapping, and mounts remain part of its configuration. restart combines stopping and starting that instance.</a:t>
            </a:r>
          </a:p>
          <a:p>
            <a:endParaRPr/>
          </a:p>
          <a:p>
            <a:r>
              <a:t>Removing a stopped container discards its writable layer. If the image has been rebuilt since the container was originally created, docker start does not switch that container to the new image. Create a new container to use the new artifact. Explain this before demonstrating an application update, because reusing start is a common reason students keep seeing an old version after a successful build.</a:t>
            </a:r>
          </a:p>
          <a:p>
            <a:endParaRPr/>
          </a:p>
          <a:p>
            <a:r>
              <a:t>Original slide: lecture 10, slide 10.</a:t>
            </a:r>
          </a:p>
          <a:p>
            <a:endParaRPr/>
          </a:p>
          <a:p>
            <a:r>
              <a:t>Terminal</a:t>
            </a:r>
          </a:p>
          <a:p>
            <a:r>
              <a:t>docker stop l10-web</a:t>
            </a:r>
          </a:p>
          <a:p>
            <a:r>
              <a:t>docker ps -a</a:t>
            </a:r>
          </a:p>
          <a:p>
            <a:r>
              <a:t>docker start l10-web</a:t>
            </a:r>
          </a:p>
          <a:p>
            <a:r>
              <a:t>docker restart l10-web</a:t>
            </a:r>
          </a:p>
          <a:p>
            <a:r>
              <a:t>docker stop l10-web</a:t>
            </a:r>
          </a:p>
          <a:p>
            <a:r>
              <a:t>docker rm l10-web</a:t>
            </a:r>
          </a:p>
          <a:p>
            <a:endParaRPr/>
          </a:p>
          <a:p>
            <a:r>
              <a:t>Sources</a:t>
            </a:r>
          </a:p>
          <a:p>
            <a:r>
              <a:t>docker container stop</a:t>
            </a:r>
          </a:p>
          <a:p>
            <a:r>
              <a:t>https://docs.docker.com/reference/cli/docker/container/stop/</a:t>
            </a:r>
          </a:p>
          <a:p>
            <a:endParaRP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tag is a pointer with a human-readable name, such as csc418/course-api:1.0. Creating a second tag can give the same local image another name without copying its layers. A registry digest identifies the content of a manifest or index. The local image ID usually identifies image configuration, which is a different object.</a:t>
            </a:r>
          </a:p>
          <a:p>
            <a:endParaRPr/>
          </a:p>
          <a:p>
            <a:r>
              <a:t>Image immutability refers to the content, not a promise that every tag is permanently fixed. For controlled deployment, record the immutable reference that was tested. For introductory builds, a versioned local tag helps students keep artifacts distinct, but the process must still avoid silently reusing it for unrelated releases.</a:t>
            </a:r>
          </a:p>
          <a:p>
            <a:endParaRPr/>
          </a:p>
          <a:p>
            <a:r>
              <a:t>Original slide: lecture 10, slide 11.</a:t>
            </a:r>
          </a:p>
          <a:p>
            <a:endParaRPr/>
          </a:p>
          <a:p>
            <a:r>
              <a:t>Sources</a:t>
            </a:r>
          </a:p>
          <a:p>
            <a:r>
              <a:t>docker image tag</a:t>
            </a:r>
          </a:p>
          <a:p>
            <a:r>
              <a:t>https://docs.docker.com/reference/cli/docker/image/tag/</a:t>
            </a:r>
          </a:p>
          <a:p>
            <a:endParaRPr/>
          </a:p>
          <a:p>
            <a:r>
              <a:t>docker image pull</a:t>
            </a:r>
          </a:p>
          <a:p>
            <a:r>
              <a:t>https://docs.docker.com/reference/cli/docker/image/pull/</a:t>
            </a:r>
          </a:p>
          <a:p>
            <a:endParaRPr/>
          </a:p>
          <a:p>
            <a:r>
              <a:t>What is an image?</a:t>
            </a:r>
          </a:p>
          <a:p>
            <a:r>
              <a:t>https://docs.docker.com/get-started/docker-concepts/the-basics/what-is-an-image/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distinct issues can produce the same symptom, connection refused. The application may not be listening. Docker may publish the wrong target port. The client may contact the wrong host. Check them in that order using container status, logs, inspection, and the expected URL.</a:t>
            </a:r>
          </a:p>
          <a:p>
            <a:endParaRPr/>
          </a:p>
          <a:p>
            <a:r>
              <a:t>Inside a container, localhost refers to that container's network environment. A server bound only to 127.0.0.1 inside the container normally cannot receive forwarded traffic arriving on its other interface. The course API therefore binds to 0.0.0.0 inside the container, while the host publication uses 127.0.0.1 to restrict the classroom endpoint to local access. These two addresses have different purposes.</a:t>
            </a:r>
          </a:p>
          <a:p>
            <a:endParaRPr/>
          </a:p>
          <a:p>
            <a:r>
              <a:t>Original slide: lecture 10, slide 12.</a:t>
            </a:r>
          </a:p>
          <a:p>
            <a:endParaRPr/>
          </a:p>
          <a:p>
            <a:r>
              <a:t>Terminal</a:t>
            </a:r>
          </a:p>
          <a:p>
            <a:r>
              <a:t>docker run --name l10-web -d -p 127.0.0.1:8080:80 nginx:stable-alpine</a:t>
            </a:r>
          </a:p>
          <a:p>
            <a:endParaRPr/>
          </a:p>
          <a:p>
            <a:r>
              <a:t>Sources</a:t>
            </a:r>
          </a:p>
          <a:p>
            <a:r>
              <a:t>Port publishing and mapping</a:t>
            </a:r>
          </a:p>
          <a:p>
            <a:r>
              <a:t>https://docs.docker.com/engine/network/port-publishing/</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User-defined bridge networks provide name resolution between attached containers. The temporary Alpine container can therefore request http://l10-web using the server's name. Its request uses the internal container port. Published ports solve a different problem: reaching a container from outside the relevant Docker network.</a:t>
            </a:r>
          </a:p>
          <a:p>
            <a:endParaRPr/>
          </a:p>
          <a:p>
            <a:r>
              <a:t>This example previews the service communication that Compose will coordinate in lecture 11. It avoids the older --link mechanism used in some historical examples. Run the earlier cleanup before reusing l10-web as a name. Network creation and removal are deliberate and scoped to l10-net. A network cannot be removed while containers still depend on it.</a:t>
            </a:r>
          </a:p>
          <a:p>
            <a:endParaRPr/>
          </a:p>
          <a:p>
            <a:r>
              <a:t>Original slide: lecture 10, slide 13.</a:t>
            </a:r>
          </a:p>
          <a:p>
            <a:endParaRPr/>
          </a:p>
          <a:p>
            <a:r>
              <a:t>Terminal</a:t>
            </a:r>
          </a:p>
          <a:p>
            <a:r>
              <a:t>docker network create l10-net</a:t>
            </a:r>
          </a:p>
          <a:p>
            <a:r>
              <a:t>docker run -d --name l10-web --network l10-net nginx:stable-alpine</a:t>
            </a:r>
          </a:p>
          <a:p>
            <a:r>
              <a:t>docker run --rm --network l10-net alpine:3.23 wget -qO- http://l10-web</a:t>
            </a:r>
          </a:p>
          <a:p>
            <a:r>
              <a:t>docker stop l10-web</a:t>
            </a:r>
          </a:p>
          <a:p>
            <a:r>
              <a:t>docker rm l10-web</a:t>
            </a:r>
          </a:p>
          <a:p>
            <a:r>
              <a:t>docker network rm l10-net</a:t>
            </a:r>
          </a:p>
          <a:p>
            <a:endParaRPr/>
          </a:p>
          <a:p>
            <a:r>
              <a:t>Sources</a:t>
            </a:r>
          </a:p>
          <a:p>
            <a:r>
              <a:t>Bridge network driver</a:t>
            </a:r>
          </a:p>
          <a:p>
            <a:r>
              <a:t>https://docs.docker.com/engine/network/drivers/bridge/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temporary container writes a text file to the mount. The --rm option removes that container when its shell command finishes. The second temporary container attaches the same named volume and reads the retained file. This demonstrates the separate lifetimes of a container and a named volume without a database.</a:t>
            </a:r>
          </a:p>
          <a:p>
            <a:endParaRPr/>
          </a:p>
          <a:p>
            <a:r>
              <a:t>The quoted shell command works from Bash and PowerShell because it contains no host-shell variable expansion. Redirection occurs inside the Linux container. Removing l10-data later deliberately deletes the demonstration file, so do that only once its contents are no longer needed. The example does not establish a database backup or a strategy for sharing one writable database directory between simultaneous database processes.</a:t>
            </a:r>
          </a:p>
          <a:p>
            <a:endParaRPr/>
          </a:p>
          <a:p>
            <a:r>
              <a:t>Original slide: lecture 10, slide 14.</a:t>
            </a:r>
          </a:p>
          <a:p>
            <a:endParaRPr/>
          </a:p>
          <a:p>
            <a:r>
              <a:t>Terminal</a:t>
            </a:r>
          </a:p>
          <a:p>
            <a:r>
              <a:t>docker volume create l10-data</a:t>
            </a:r>
          </a:p>
          <a:p>
            <a:r>
              <a:t>docker run --rm --mount type=volume,src=l10-data,dst=/data alpine:3.23 sh -c "echo CSC418 &gt; /data/course.txt"</a:t>
            </a:r>
          </a:p>
          <a:p>
            <a:r>
              <a:t>docker run --rm --mount type=volume,src=l10-data,dst=/data alpine:3.23 cat /data/course.txt</a:t>
            </a:r>
          </a:p>
          <a:p>
            <a:endParaRPr/>
          </a:p>
          <a:p>
            <a:r>
              <a:t>Sources</a:t>
            </a:r>
          </a:p>
          <a:p>
            <a:r>
              <a:t>Volumes</a:t>
            </a:r>
          </a:p>
          <a:p>
            <a:r>
              <a:t>https://docs.docker.com/engine/storage/volumes/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alternatives for the same demonstration, not commands to run simultaneously. The host shell expands the current directory into an absolute source path. Docker mounts the site directory over the web server's content directory as read-only. That overlays the image's original content at the mount point.</a:t>
            </a:r>
          </a:p>
          <a:p>
            <a:endParaRPr/>
          </a:p>
          <a:p>
            <a:r>
              <a:t>On a remote engine, bind-mount source paths refer to the daemon's host, which may not be the machine running the CLI. Docker Desktop mediates access to host files and may need the directory to be accessible to its Linux environment. Bind mounts are useful for development and demonstrations. Copying reviewed content into an image is usually easier to distribute consistently to other machines.</a:t>
            </a:r>
          </a:p>
          <a:p>
            <a:endParaRPr/>
          </a:p>
          <a:p>
            <a:r>
              <a:t>Original slide: lecture 10, slide 15.</a:t>
            </a:r>
          </a:p>
          <a:p>
            <a:endParaRPr/>
          </a:p>
          <a:p>
            <a:r>
              <a:t>Bash, from examples/static-site</a:t>
            </a:r>
          </a:p>
          <a:p>
            <a:r>
              <a:t>docker run --rm -p 127.0.0.1:8080:80 --mount "type=bind,src=$PWD/site,dst=/usr/share/nginx/html,readonly" nginx:stable-alpine</a:t>
            </a:r>
          </a:p>
          <a:p>
            <a:endParaRPr/>
          </a:p>
          <a:p>
            <a:r>
              <a:t>PowerShell, from examples/static-site</a:t>
            </a:r>
          </a:p>
          <a:p>
            <a:r>
              <a:t>docker run --rm -p 127.0.0.1:8080:80 --mount "type=bind,src=$((Get-Location).Path)/site,dst=/usr/share/nginx/html,readonly" nginx:stable-alpine</a:t>
            </a:r>
          </a:p>
          <a:p>
            <a:endParaRPr/>
          </a:p>
          <a:p>
            <a:r>
              <a:t>Sources</a:t>
            </a:r>
          </a:p>
          <a:p>
            <a:r>
              <a:t>Bind mounts</a:t>
            </a:r>
          </a:p>
          <a:p>
            <a:r>
              <a:t>https://docs.docker.com/engine/storage/bind-mounts/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cleanup removes the named data volume created by the preceding demonstration. The two temporary containers already used --rm, so they do not need separate removal. Inspecting before deletion gives students a chance to connect the cleanup action to a known resource.</a:t>
            </a:r>
          </a:p>
          <a:p>
            <a:endParaRPr/>
          </a:p>
          <a:p>
            <a:r>
              <a:t>Avoid turning cleanup into an unqualified recommendation to run docker system prune -a or to remove every volume. Those commands can discard useful resources from unrelated work. Deleting an image also does not clean every other resource type. The objective is a clear inventory and deliberate lifecycle management. Image removal is optional at the end of class when keeping a cached image would speed the next session.</a:t>
            </a:r>
          </a:p>
          <a:p>
            <a:endParaRPr/>
          </a:p>
          <a:p>
            <a:r>
              <a:t>Original slide: lecture 10, slide 16.</a:t>
            </a:r>
          </a:p>
          <a:p>
            <a:endParaRPr/>
          </a:p>
          <a:p>
            <a:r>
              <a:t>Terminal</a:t>
            </a:r>
          </a:p>
          <a:p>
            <a:r>
              <a:t>docker ps -a</a:t>
            </a:r>
          </a:p>
          <a:p>
            <a:r>
              <a:t>docker volume inspect l10-data</a:t>
            </a:r>
          </a:p>
          <a:p>
            <a:r>
              <a:t>docker volume rm l10-data</a:t>
            </a:r>
          </a:p>
          <a:p>
            <a:r>
              <a:t>docker image ls</a:t>
            </a:r>
          </a:p>
          <a:p>
            <a:endParaRPr/>
          </a:p>
          <a:p>
            <a:r>
              <a:t>Sources</a:t>
            </a:r>
          </a:p>
          <a:p>
            <a:r>
              <a:t>Pruning unused objects</a:t>
            </a:r>
          </a:p>
          <a:p>
            <a:r>
              <a:t>https://docs.docker.com/engine/manage-resources/pruning/</a:t>
            </a:r>
          </a:p>
          <a:p>
            <a:endParaRPr/>
          </a:p>
          <a:p>
            <a:r>
              <a:t>Volumes</a:t>
            </a:r>
          </a:p>
          <a:p>
            <a:r>
              <a:t>https://docs.docker.com/engine/storage/volumes/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the build stage from execution before introducing instructions. Building reads source and other permitted inputs and produces an artifact. Running creates an instance with settings such as networks and volumes. Neither operation implies the other: docker build does not leave the finished application running as a deployment.</a:t>
            </a:r>
          </a:p>
          <a:p>
            <a:endParaRPr/>
          </a:p>
          <a:p>
            <a:r>
              <a:t>The image includes defaults such as the command and exposed-port metadata. The operator can override some defaults when creating a container. A clean workflow builds once, tests the resulting artifact, and reuses that artifact in later environments with appropriate runtime configuration. Rebuilding separately in each environment can produce different dependencies even when the source code is unchanged.</a:t>
            </a:r>
          </a:p>
          <a:p>
            <a:endParaRPr/>
          </a:p>
          <a:p>
            <a:r>
              <a:t>Original slide: lecture 10, slide 17.</a:t>
            </a:r>
          </a:p>
          <a:p>
            <a:endParaRPr/>
          </a:p>
          <a:p>
            <a:r>
              <a:t>Sources</a:t>
            </a:r>
          </a:p>
          <a:p>
            <a:r>
              <a:t>Dockerfile overview</a:t>
            </a:r>
          </a:p>
          <a:p>
            <a:r>
              <a:t>https://docs.docker.com/build/concepts/dockerfile/</a:t>
            </a:r>
          </a:p>
          <a:p>
            <a:endParaRPr/>
          </a:p>
          <a:p>
            <a:r>
              <a:t>docker buildx build</a:t>
            </a:r>
          </a:p>
          <a:p>
            <a:r>
              <a:t>https://docs.docker.com/reference/cli/docker/buildx/build/</a:t>
            </a:r>
          </a:p>
          <a:p>
            <a:endParaRP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examples accompany the HTML decks and can be opened in any text editor. No application dependencies need to be installed directly on the host for the Docker builds. Docker obtains the relevant runtime or compiler from the base image. The image downloads still need network access unless cached.</a:t>
            </a:r>
          </a:p>
          <a:p>
            <a:endParaRPr/>
          </a:p>
          <a:p>
            <a:r>
              <a:t>The API responds to / with JSON, responds to /health with a simple status, and returns 404 for unknown paths. It uses Python's standard-library HTTP server to keep the lesson small. That server is suitable for this local teaching example and is not a production web-server recommendation. The separate multi-stage example isolates the compiler-versus-runtime concept.</a:t>
            </a:r>
          </a:p>
          <a:p>
            <a:endParaRPr/>
          </a:p>
          <a:p>
            <a:r>
              <a:t>Original slide: lecture 10, slide 18.</a:t>
            </a:r>
          </a:p>
          <a:p>
            <a:endParaRPr/>
          </a:p>
          <a:p>
            <a:r>
              <a:t>Sources</a:t>
            </a:r>
          </a:p>
          <a:p>
            <a:r>
              <a:t>Python http.server documentation</a:t>
            </a:r>
          </a:p>
          <a:p>
            <a:r>
              <a:t>https://docs.python.org/3.13/library/http.server.html</a:t>
            </a:r>
          </a:p>
          <a:p>
            <a:endParaRPr/>
          </a:p>
          <a:p>
            <a:r>
              <a:t>Official Python image</a:t>
            </a:r>
          </a:p>
          <a:p>
            <a:r>
              <a:t>https://hub.docker.com/_/python</a:t>
            </a:r>
          </a:p>
          <a:p>
            <a:endParaRPr/>
          </a:p>
          <a:p>
            <a:r>
              <a:t>Official NGINX image</a:t>
            </a:r>
          </a:p>
          <a:p>
            <a:r>
              <a:t>https://hub.docker.com/_/nginx</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first Dockerfile changes only content. NGINX's base image already includes an entrypoint and default command, so the example does not need to redefine them. The final dot in docker build identifies the current directory as the build context. COPY paths are interpreted from that context.</a:t>
            </a:r>
          </a:p>
          <a:p>
            <a:endParaRPr/>
          </a:p>
          <a:p>
            <a:r>
              <a:t>Open http://localhost:8080 to see the supplied course page. Stop the foreground server with Ctrl+C when finished. A successful build creates csc418/site:1.0 in the local engine's image store; it does not upload that image to Docker Hub. The csc418 prefix here is a local teaching name and is not a claim that students control a registry organization with that name.</a:t>
            </a:r>
          </a:p>
          <a:p>
            <a:endParaRPr/>
          </a:p>
          <a:p>
            <a:r>
              <a:t>Original slide: lecture 10, slide 19.</a:t>
            </a:r>
          </a:p>
          <a:p>
            <a:endParaRPr/>
          </a:p>
          <a:p>
            <a:r>
              <a:t>examples/static-site/Dockerfile</a:t>
            </a:r>
          </a:p>
          <a:p>
            <a:r>
              <a:t># syntax=docker/dockerfile:1</a:t>
            </a:r>
          </a:p>
          <a:p>
            <a:r>
              <a:t>FROM nginx:stable-alpine</a:t>
            </a:r>
          </a:p>
          <a:p>
            <a:r>
              <a:t>COPY site/index.html /usr/share/nginx/html/index.html</a:t>
            </a:r>
          </a:p>
          <a:p>
            <a:endParaRPr/>
          </a:p>
          <a:p>
            <a:r>
              <a:t>Run from examples/static-site</a:t>
            </a:r>
          </a:p>
          <a:p>
            <a:r>
              <a:t>docker build -t csc418/site:1.0 .</a:t>
            </a:r>
          </a:p>
          <a:p>
            <a:r>
              <a:t>docker run --rm -p 127.0.0.1:8080:80 csc418/site:1.0</a:t>
            </a:r>
          </a:p>
          <a:p>
            <a:endParaRPr/>
          </a:p>
          <a:p>
            <a:r>
              <a:t>Sources</a:t>
            </a:r>
          </a:p>
          <a:p>
            <a:r>
              <a:t>Dockerfile overview</a:t>
            </a:r>
          </a:p>
          <a:p>
            <a:r>
              <a:t>https://docs.docker.com/build/concepts/dockerfile/</a:t>
            </a:r>
          </a:p>
          <a:p>
            <a:endParaRPr/>
          </a:p>
          <a:p>
            <a:r>
              <a:t>Official NGINX image</a:t>
            </a:r>
          </a:p>
          <a:p>
            <a:r>
              <a:t>https://hub.docker.com/_/nginx</a:t>
            </a:r>
          </a:p>
          <a:p>
            <a:endParaRPr/>
          </a:p>
          <a:p>
            <a:r>
              <a:t>Build context</a:t>
            </a:r>
          </a:p>
          <a:p>
            <a:r>
              <a:t>https://docs.docker.com/build/concepts/context/</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first part of the complete file supplied with the slides. The handler chooses an HTTP status and a Python dictionary based on the request path. The environment provides the course and version values, with defaults suitable for the demonstration. The second part encodes the response and starts the server.</a:t>
            </a:r>
          </a:p>
          <a:p>
            <a:endParaRPr/>
          </a:p>
          <a:p>
            <a:r>
              <a:t>No framework installation or requirements file is needed because the imports are from Python's standard library. This keeps Dockerfile behavior separate from package-manager behavior. The /health endpoint proves that this simple process can serve a request. A real application with a database would need health semantics chosen for its operational role rather than blindly using a constant ok result.</a:t>
            </a:r>
          </a:p>
          <a:p>
            <a:endParaRPr/>
          </a:p>
          <a:p>
            <a:r>
              <a:t>Original slide: lecture 10, slide 20.</a:t>
            </a:r>
          </a:p>
          <a:p>
            <a:endParaRPr/>
          </a:p>
          <a:p>
            <a:r>
              <a:t>examples/course-api/app.py · first part</a:t>
            </a:r>
          </a:p>
          <a:p>
            <a:r>
              <a:t>import json, os, signal, sys</a:t>
            </a:r>
          </a:p>
          <a:p>
            <a:r>
              <a:t>from http.server import BaseHTTPRequestHandler, ThreadingHTTPServer</a:t>
            </a:r>
          </a:p>
          <a:p>
            <a:endParaRPr/>
          </a:p>
          <a:p>
            <a:r>
              <a:t>class Handler(BaseHTTPRequestHandler):</a:t>
            </a:r>
          </a:p>
          <a:p>
            <a:r>
              <a:t>    def do_GET(self):</a:t>
            </a:r>
          </a:p>
          <a:p>
            <a:r>
              <a:t>        if self.path == "/health":</a:t>
            </a:r>
          </a:p>
          <a:p>
            <a:r>
              <a:t>            status, data = 200, {"status": "ok"}</a:t>
            </a:r>
          </a:p>
          <a:p>
            <a:r>
              <a:t>        elif self.path == "/":</a:t>
            </a:r>
          </a:p>
          <a:p>
            <a:r>
              <a:t>            status, data = 200, {</a:t>
            </a:r>
          </a:p>
          <a:p>
            <a:r>
              <a:t>                "course": os.getenv("COURSE", "CSC418"),</a:t>
            </a:r>
          </a:p>
          <a:p>
            <a:r>
              <a:t>                "version": os.getenv("APP_VERSION", "1.0"),</a:t>
            </a:r>
          </a:p>
          <a:p>
            <a:r>
              <a:t>                "message": "Hello from a container"</a:t>
            </a:r>
          </a:p>
          <a:p>
            <a:r>
              <a:t>            }</a:t>
            </a:r>
          </a:p>
          <a:p>
            <a:endParaRPr/>
          </a:p>
          <a:p>
            <a:r>
              <a:t>Sources</a:t>
            </a:r>
          </a:p>
          <a:p>
            <a:r>
              <a:t>Python http.server documentation</a:t>
            </a:r>
          </a:p>
          <a:p>
            <a:r>
              <a:t>https://docs.python.org/3.13/library/http.server.html</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response body is encoded as UTF-8 bytes. Content-Length describes the number of bytes sent, and the Content-Type identifies JSON. Unknown paths return HTTP 404 with an error object. The server reads PORT with a default of 8000 and listens on 0.0.0.0 inside the container.</a:t>
            </a:r>
          </a:p>
          <a:p>
            <a:endParaRPr/>
          </a:p>
          <a:p>
            <a:r>
              <a:t>The SIGTERM handler exits the process when Docker asks it to stop. The with statement closes the server when the main block exits. This is a small teaching implementation, not a complete production shutdown strategy for complex in-flight work. The complete file joins the two excerpts without additional missing declarations. In a normal production service, use an appropriate server stack, request controls, and application-level lifecycle handling.</a:t>
            </a:r>
          </a:p>
          <a:p>
            <a:endParaRPr/>
          </a:p>
          <a:p>
            <a:r>
              <a:t>Original slide: lecture 10, slide 21.</a:t>
            </a:r>
          </a:p>
          <a:p>
            <a:endParaRPr/>
          </a:p>
          <a:p>
            <a:r>
              <a:t>examples/course-api/app.py · second part</a:t>
            </a:r>
          </a:p>
          <a:p>
            <a:r>
              <a:t>        else:</a:t>
            </a:r>
          </a:p>
          <a:p>
            <a:r>
              <a:t>            status, data = 404, {"error": "not found"}</a:t>
            </a:r>
          </a:p>
          <a:p>
            <a:r>
              <a:t>        body = json.dumps(data).encode("utf-8")</a:t>
            </a:r>
          </a:p>
          <a:p>
            <a:r>
              <a:t>        self.send_response(status)</a:t>
            </a:r>
          </a:p>
          <a:p>
            <a:r>
              <a:t>        self.send_header("Content-Type", "application/json")</a:t>
            </a:r>
          </a:p>
          <a:p>
            <a:r>
              <a:t>        self.send_header("Content-Length", str(len(body)))</a:t>
            </a:r>
          </a:p>
          <a:p>
            <a:r>
              <a:t>        self.end_headers()</a:t>
            </a:r>
          </a:p>
          <a:p>
            <a:r>
              <a:t>        self.wfile.write(body)</a:t>
            </a:r>
          </a:p>
          <a:p>
            <a:endParaRPr/>
          </a:p>
          <a:p>
            <a:r>
              <a:t>if __name__ == "__main__":</a:t>
            </a:r>
          </a:p>
          <a:p>
            <a:r>
              <a:t>    signal.signal(signal.SIGTERM, lambda *_: sys.exit(0))</a:t>
            </a:r>
          </a:p>
          <a:p>
            <a:r>
              <a:t>    port = int(os.getenv("PORT", "8000"))</a:t>
            </a:r>
          </a:p>
          <a:p>
            <a:r>
              <a:t>    with ThreadingHTTPServer(("0.0.0.0", port), Handler) as server:</a:t>
            </a:r>
          </a:p>
          <a:p>
            <a:r>
              <a:t>        server.serve_forever()</a:t>
            </a:r>
          </a:p>
          <a:p>
            <a:endParaRPr/>
          </a:p>
          <a:p>
            <a:r>
              <a:t>Sources</a:t>
            </a:r>
          </a:p>
          <a:p>
            <a:r>
              <a:t>Python http.server documentation</a:t>
            </a:r>
          </a:p>
          <a:p>
            <a:r>
              <a:t>https://docs.python.org/3.13/library/http.server.html</a:t>
            </a:r>
          </a:p>
          <a:p>
            <a:endParaRPr/>
          </a:p>
          <a:p>
            <a:r>
              <a:t>docker container stop</a:t>
            </a:r>
          </a:p>
          <a:p>
            <a:r>
              <a:t>https://docs.docker.com/reference/cli/docker/container/stop/</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this file from top to bottom. The syntax directive selects the Dockerfile frontend. The base image provides Python and Debian user-space components. WORKDIR establishes /app. ENV supplies image defaults. RUN creates a group and user during the build. COPY brings in the application file with explicit ownership. USER changes the default execution identity. EXPOSE documents the listening port, and CMD provides the default startup command.</a:t>
            </a:r>
          </a:p>
          <a:p>
            <a:endParaRPr/>
          </a:p>
          <a:p>
            <a:r>
              <a:t>The host does not need Python, groupadd, or useradd for this build. Those commands execute in the Linux base-image environment. The backslashes shown here belong to Dockerfile line continuation, not the host shell. No secrets or environment-specific credentials belong in this file.</a:t>
            </a:r>
          </a:p>
          <a:p>
            <a:endParaRPr/>
          </a:p>
          <a:p>
            <a:r>
              <a:t>Original slide: lecture 10, slide 22.</a:t>
            </a:r>
          </a:p>
          <a:p>
            <a:endParaRPr/>
          </a:p>
          <a:p>
            <a:r>
              <a:t>examples/course-api/Dockerfile</a:t>
            </a:r>
          </a:p>
          <a:p>
            <a:r>
              <a:t># syntax=docker/dockerfile:1</a:t>
            </a:r>
          </a:p>
          <a:p>
            <a:r>
              <a:t>FROM python:3.13-slim-bookworm</a:t>
            </a:r>
          </a:p>
          <a:p>
            <a:r>
              <a:t>WORKDIR /app</a:t>
            </a:r>
          </a:p>
          <a:p>
            <a:r>
              <a:t>ENV PYTHONUNBUFFERED=1 \</a:t>
            </a:r>
          </a:p>
          <a:p>
            <a:r>
              <a:t>    PYTHONDONTWRITEBYTECODE=1 \</a:t>
            </a:r>
          </a:p>
          <a:p>
            <a:r>
              <a:t>    APP_VERSION=1.0</a:t>
            </a:r>
          </a:p>
          <a:p>
            <a:r>
              <a:t>RUN groupadd --gid 10001 app \</a:t>
            </a:r>
          </a:p>
          <a:p>
            <a:r>
              <a:t>    &amp;&amp; useradd --uid 10001 --gid app --no-create-home app</a:t>
            </a:r>
          </a:p>
          <a:p>
            <a:r>
              <a:t>COPY --chown=app:app app.py ./app.py</a:t>
            </a:r>
          </a:p>
          <a:p>
            <a:r>
              <a:t>USER app</a:t>
            </a:r>
          </a:p>
          <a:p>
            <a:r>
              <a:t>EXPOSE 8000</a:t>
            </a:r>
          </a:p>
          <a:p>
            <a:r>
              <a:t>CMD ["python", "app.py"]</a:t>
            </a:r>
          </a:p>
          <a:p>
            <a:endParaRPr/>
          </a:p>
          <a:p>
            <a:r>
              <a:t>Sources</a:t>
            </a:r>
          </a:p>
          <a:p>
            <a:r>
              <a:t>Dockerfile reference</a:t>
            </a:r>
          </a:p>
          <a:p>
            <a:r>
              <a:t>https://docs.docker.com/reference/dockerfile/</a:t>
            </a:r>
          </a:p>
          <a:p>
            <a:endParaRPr/>
          </a:p>
          <a:p>
            <a:r>
              <a:t>Official Python image</a:t>
            </a:r>
          </a:p>
          <a:p>
            <a:r>
              <a:t>https://hub.docker.com/_/python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chosen tag exists in the official Python image catalog consulted for these slides. It is a concrete classroom choice, not a recommendation to keep that version forever. The slim variant omits some tools and development packages. That is helpful when they are unnecessary, but may require explicit additions for applications with native dependencies.</a:t>
            </a:r>
          </a:p>
          <a:p>
            <a:endParaRPr/>
          </a:p>
          <a:p>
            <a:r>
              <a:t>Tag pinning improves clarity compared with an unqualified latest reference, yet it does not pin immutable content. A digest gives a stronger content identity. Pinning also creates an update obligation: teams must deliberately refresh vulnerable or obsolete dependencies, rebuild, and test. A digest identifies what was chosen, not whether that choice is safe.</a:t>
            </a:r>
          </a:p>
          <a:p>
            <a:endParaRPr/>
          </a:p>
          <a:p>
            <a:r>
              <a:t>Original slide: lecture 10, slide 23.</a:t>
            </a:r>
          </a:p>
          <a:p>
            <a:endParaRPr/>
          </a:p>
          <a:p>
            <a:r>
              <a:t>Base image</a:t>
            </a:r>
          </a:p>
          <a:p>
            <a:r>
              <a:t>FROM python:3.13-slim-bookworm</a:t>
            </a:r>
          </a:p>
          <a:p>
            <a:endParaRPr/>
          </a:p>
          <a:p>
            <a:r>
              <a:t>Sources</a:t>
            </a:r>
          </a:p>
          <a:p>
            <a:r>
              <a:t>Official Python image</a:t>
            </a:r>
          </a:p>
          <a:p>
            <a:r>
              <a:t>https://hub.docker.com/_/python</a:t>
            </a:r>
          </a:p>
          <a:p>
            <a:endParaRPr/>
          </a:p>
          <a:p>
            <a:r>
              <a:t>Building best practices</a:t>
            </a:r>
          </a:p>
          <a:p>
            <a:r>
              <a:t>https://docs.docker.com/build/building/best-practices/</a:t>
            </a:r>
          </a:p>
          <a:p>
            <a:endParaRPr/>
          </a:p>
          <a:p>
            <a:r>
              <a:t>Multi-platform builds</a:t>
            </a:r>
          </a:p>
          <a:p>
            <a:r>
              <a:t>https://docs.docker.com/build/building/multi-platform/</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context is the set of source files available to the builder. It is not automatically the directory containing any Dockerfile specified with -f. For example, a command run from a parent directory can name a Dockerfile in one path while giving a different directory as its context. COPY must be written to match that context.</a:t>
            </a:r>
          </a:p>
          <a:p>
            <a:endParaRPr/>
          </a:p>
          <a:p>
            <a:r>
              <a:t>.dockerignore excludes files before they participate as ordinary context inputs. This reduces irrelevant transfer and helps prevent accidental inclusion of local secrets or virtual environments. It is a useful safeguard, but it does not replace secret handling. A file explicitly copied into a different context or embedded through another build input still requires care.</a:t>
            </a:r>
          </a:p>
          <a:p>
            <a:endParaRPr/>
          </a:p>
          <a:p>
            <a:r>
              <a:t>Original slide: lecture 10, slide 24.</a:t>
            </a:r>
          </a:p>
          <a:p>
            <a:endParaRPr/>
          </a:p>
          <a:p>
            <a:r>
              <a:t>Run from examples/course-api</a:t>
            </a:r>
          </a:p>
          <a:p>
            <a:r>
              <a:t>docker build -t csc418/course-api:1.0 .</a:t>
            </a:r>
          </a:p>
          <a:p>
            <a:endParaRPr/>
          </a:p>
          <a:p>
            <a:r>
              <a:t>examples/course-api/.dockerignore</a:t>
            </a:r>
          </a:p>
          <a:p>
            <a:r>
              <a:t>.git</a:t>
            </a:r>
          </a:p>
          <a:p>
            <a:r>
              <a:t>.env</a:t>
            </a:r>
          </a:p>
          <a:p>
            <a:r>
              <a:t>.env.*</a:t>
            </a:r>
          </a:p>
          <a:p>
            <a:r>
              <a:t>__pycache__/</a:t>
            </a:r>
          </a:p>
          <a:p>
            <a:r>
              <a:t>*.pyc</a:t>
            </a:r>
          </a:p>
          <a:p>
            <a:r>
              <a:t>.venv/</a:t>
            </a:r>
          </a:p>
          <a:p>
            <a:r>
              <a:t>*.log</a:t>
            </a:r>
          </a:p>
          <a:p>
            <a:endParaRPr/>
          </a:p>
          <a:p>
            <a:r>
              <a:t>Sources</a:t>
            </a:r>
          </a:p>
          <a:p>
            <a:r>
              <a:t>Build context</a:t>
            </a:r>
          </a:p>
          <a:p>
            <a:r>
              <a:t>https://docs.docker.com/build/concepts/context/</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WORKDIR makes the subsequent Dockerfile easier to read and avoids repeating absolute destinations. COPY's source remains relative to the context, while a relative destination is resolved against the working directory. The app user and group already exist because the preceding RUN instruction created them.</a:t>
            </a:r>
          </a:p>
          <a:p>
            <a:endParaRPr/>
          </a:p>
          <a:p>
            <a:r>
              <a:t>Use COPY for ordinary local files. ADD has additional semantics, such as handling some archives and remote sources, so it should be chosen deliberately rather than treated as interchangeable punctuation. Explicit paths also make troubleshooting clearer: a missing source file may reflect an incorrect context, an incorrect path, or an exclusion in .dockerignore. These cases can produce similar build errors.</a:t>
            </a:r>
          </a:p>
          <a:p>
            <a:endParaRPr/>
          </a:p>
          <a:p>
            <a:r>
              <a:t>Original slide: lecture 10, slide 25.</a:t>
            </a:r>
          </a:p>
          <a:p>
            <a:endParaRPr/>
          </a:p>
          <a:p>
            <a:r>
              <a:t>Relevant excerpt</a:t>
            </a:r>
          </a:p>
          <a:p>
            <a:r>
              <a:t>WORKDIR /app</a:t>
            </a:r>
          </a:p>
          <a:p>
            <a:r>
              <a:t>COPY --chown=app:app app.py ./app.py</a:t>
            </a:r>
          </a:p>
          <a:p>
            <a:endParaRPr/>
          </a:p>
          <a:p>
            <a:r>
              <a:t>Sources</a:t>
            </a:r>
          </a:p>
          <a:p>
            <a:r>
              <a:t>Dockerfile reference</a:t>
            </a:r>
          </a:p>
          <a:p>
            <a:r>
              <a:t>https://docs.docker.com/reference/dockerfile/</a:t>
            </a:r>
          </a:p>
          <a:p>
            <a:endParaRPr/>
          </a:p>
          <a:p>
            <a:r>
              <a:t>Build context</a:t>
            </a:r>
          </a:p>
          <a:p>
            <a:r>
              <a:t>https://docs.docker.com/build/concepts/context/</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executes a build step and can change the image filesystem. CMD records the default command in image configuration. It does not run the API while the image is being built. A Dockerfile can contain several CMD instructions, but only the final one takes effect.</a:t>
            </a:r>
          </a:p>
          <a:p>
            <a:endParaRPr/>
          </a:p>
          <a:p>
            <a:r>
              <a:t>The excerpt's RUN line illustrates timing and is not a replacement for the complete user-creation sequence. That complete sequence also creates a matching user. Avoid RUN python app.py in this example: a server is designed to continue waiting for requests, so that would attempt to run the server as a build step. The desired deployment process begins when a container starts.</a:t>
            </a:r>
          </a:p>
          <a:p>
            <a:endParaRPr/>
          </a:p>
          <a:p>
            <a:r>
              <a:t>Original slide: lecture 10, slide 26.</a:t>
            </a:r>
          </a:p>
          <a:p>
            <a:endParaRPr/>
          </a:p>
          <a:p>
            <a:r>
              <a:t>Two different lifecycle stages</a:t>
            </a:r>
          </a:p>
          <a:p>
            <a:r>
              <a:t>RUN groupadd --gid 10001 app</a:t>
            </a:r>
          </a:p>
          <a:p>
            <a:r>
              <a:t>CMD ["python", "app.py"]</a:t>
            </a:r>
          </a:p>
          <a:p>
            <a:endParaRPr/>
          </a:p>
          <a:p>
            <a:r>
              <a:t>Sources</a:t>
            </a:r>
          </a:p>
          <a:p>
            <a:r>
              <a:t>Dockerfile overview</a:t>
            </a:r>
          </a:p>
          <a:p>
            <a:r>
              <a:t>https://docs.docker.com/build/concepts/dockerfile/</a:t>
            </a:r>
          </a:p>
          <a:p>
            <a:endParaRPr/>
          </a:p>
          <a:p>
            <a:r>
              <a:t>Dockerfile reference</a:t>
            </a:r>
          </a:p>
          <a:p>
            <a:r>
              <a:t>https://docs.docker.com/reference/dockerfile/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CMD supplies a default command or default arguments, depending on whether ENTRYPOINT is present. An exec-form ENTRYPOINT supplies the executable that stays in place when arguments are provided after the image reference. These examples distinguish the cases to avoid the misleading rule that text after an image always replaces everything.</a:t>
            </a:r>
          </a:p>
          <a:p>
            <a:endParaRPr/>
          </a:p>
          <a:p>
            <a:r>
              <a:t>The JSON array form avoids an implicit shell and makes process and signal behavior easier to reason about. It also means shell expressions do not expand automatically. For example, an argument containing $PORT remains literal unless a shell or the application interprets it. The provided Python application reads its environment directly, so it does not need shell substitution in CMD.</a:t>
            </a:r>
          </a:p>
          <a:p>
            <a:endParaRPr/>
          </a:p>
          <a:p>
            <a:r>
              <a:t>Original slide: lecture 10, slide 27.</a:t>
            </a:r>
          </a:p>
          <a:p>
            <a:endParaRPr/>
          </a:p>
          <a:p>
            <a:r>
              <a:t>Sources</a:t>
            </a:r>
          </a:p>
          <a:p>
            <a:r>
              <a:t>Dockerfile reference</a:t>
            </a:r>
          </a:p>
          <a:p>
            <a:r>
              <a:t>https://docs.docker.com/reference/dockerfile/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command overrides the API image's default command with a short Python expression and supplies a different course value. It creates a temporary container that prints DevOps and exits. This demonstrates runtime configuration without starting the web server.</a:t>
            </a:r>
          </a:p>
          <a:p>
            <a:endParaRPr/>
          </a:p>
          <a:p>
            <a:r>
              <a:t>ARG values do not automatically become runtime environment variables, but they are not a safe channel for secrets. Depending on how they are used, values can appear in image history, provenance, or produced files. ENV stores configuration defaults and is equally unsuitable for embedding credentials. Use a purpose-built secret mechanism for credentials needed during builds or execution.</a:t>
            </a:r>
          </a:p>
          <a:p>
            <a:endParaRPr/>
          </a:p>
          <a:p>
            <a:r>
              <a:t>Original slide: lecture 10, slide 28.</a:t>
            </a:r>
          </a:p>
          <a:p>
            <a:endParaRPr/>
          </a:p>
          <a:p>
            <a:r>
              <a:t>After building the API image</a:t>
            </a:r>
          </a:p>
          <a:p>
            <a:r>
              <a:t>docker run --rm -e COURSE=DevOps csc418/course-api:1.0 python -c "import os; print(os.environ.get('COURSE'))"</a:t>
            </a:r>
          </a:p>
          <a:p>
            <a:endParaRPr/>
          </a:p>
          <a:p>
            <a:r>
              <a:t>Sources</a:t>
            </a:r>
          </a:p>
          <a:p>
            <a:r>
              <a:t>Dockerfile reference</a:t>
            </a:r>
          </a:p>
          <a:p>
            <a:r>
              <a:t>https://docs.docker.com/reference/dockerfile/</a:t>
            </a:r>
          </a:p>
          <a:p>
            <a:endParaRPr/>
          </a:p>
          <a:p>
            <a:r>
              <a:t>Build secrets</a:t>
            </a:r>
          </a:p>
          <a:p>
            <a:r>
              <a:t>https://docs.docker.com/build/building/secrets/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build step uses root in the base image to create a dedicated account. USER changes the default identity for later build instructions and the eventual container process. COPY --chown makes ownership explicit. The file can remain readable even when the containing working directory is owned by root, as long as directory traversal permissions permit it.</a:t>
            </a:r>
          </a:p>
          <a:p>
            <a:endParaRPr/>
          </a:p>
          <a:p>
            <a:r>
              <a:t>A non-root user reduces ordinary privileges but does not create a separate security boundary from the host kernel. The operator can also override the user, so deployment configuration matters. Bind mounts often expose UID and GID mismatches between host and container. Diagnose permissions directly rather than responding to every error by running the whole application as root.</a:t>
            </a:r>
          </a:p>
          <a:p>
            <a:endParaRPr/>
          </a:p>
          <a:p>
            <a:r>
              <a:t>Original slide: lecture 10, slide 29.</a:t>
            </a:r>
          </a:p>
          <a:p>
            <a:endParaRPr/>
          </a:p>
          <a:p>
            <a:r>
              <a:t>Least-privilege application identity</a:t>
            </a:r>
          </a:p>
          <a:p>
            <a:r>
              <a:t>RUN groupadd --gid 10001 app \</a:t>
            </a:r>
          </a:p>
          <a:p>
            <a:r>
              <a:t>    &amp;&amp; useradd --uid 10001 --gid app --no-create-home app</a:t>
            </a:r>
          </a:p>
          <a:p>
            <a:r>
              <a:t>COPY --chown=app:app app.py ./app.py</a:t>
            </a:r>
          </a:p>
          <a:p>
            <a:r>
              <a:t>USER app</a:t>
            </a:r>
          </a:p>
          <a:p>
            <a:endParaRPr/>
          </a:p>
          <a:p>
            <a:r>
              <a:t>Sources</a:t>
            </a:r>
          </a:p>
          <a:p>
            <a:r>
              <a:t>Building best practices</a:t>
            </a:r>
          </a:p>
          <a:p>
            <a:r>
              <a:t>https://docs.docker.com/build/building/best-practices/</a:t>
            </a:r>
          </a:p>
          <a:p>
            <a:endParaRPr/>
          </a:p>
          <a:p>
            <a:r>
              <a:t>Docker Engine security</a:t>
            </a:r>
          </a:p>
          <a:p>
            <a:r>
              <a:t>https://docs.docker.com/engine/security/</a:t>
            </a:r>
          </a:p>
          <a:p>
            <a:endParaRPr/>
          </a:p>
          <a:p>
            <a:r>
              <a:t>Dockerfile reference</a:t>
            </a:r>
          </a:p>
          <a:p>
            <a:r>
              <a:t>https://docs.docker.com/reference/dockerfile/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independent elements must agree: the application's actual listener, the operator's container-port target, and the address the client uses. EXPOSE documents the intended port and can inform tooling. It does not modify the application and does not publish a port on the host by itself.</a:t>
            </a:r>
          </a:p>
          <a:p>
            <a:endParaRPr/>
          </a:p>
          <a:p>
            <a:r>
              <a:t>If PORT is changed to 9000 at runtime, the Python process listens on 9000, so the mapping's container side must also use 9000. EXPOSE 8000 remains image metadata unless the image is changed, but it does not prevent the application from using another port. The run command shown is explained here and executed after the build in the next worked sequence.</a:t>
            </a:r>
          </a:p>
          <a:p>
            <a:endParaRPr/>
          </a:p>
          <a:p>
            <a:r>
              <a:t>Original slide: lecture 10, slide 30.</a:t>
            </a:r>
          </a:p>
          <a:p>
            <a:endParaRPr/>
          </a:p>
          <a:p>
            <a:r>
              <a:t>Dockerfile metadata</a:t>
            </a:r>
          </a:p>
          <a:p>
            <a:r>
              <a:t>EXPOSE 8000</a:t>
            </a:r>
          </a:p>
          <a:p>
            <a:endParaRPr/>
          </a:p>
          <a:p>
            <a:r>
              <a:t>Runtime configuration</a:t>
            </a:r>
          </a:p>
          <a:p>
            <a:r>
              <a:t>docker run -d --name l10-api -p 127.0.0.1:8000:8000 csc418/course-api:1.0</a:t>
            </a:r>
          </a:p>
          <a:p>
            <a:endParaRPr/>
          </a:p>
          <a:p>
            <a:r>
              <a:t>Sources</a:t>
            </a:r>
          </a:p>
          <a:p>
            <a:r>
              <a:t>Port publishing and mapping</a:t>
            </a:r>
          </a:p>
          <a:p>
            <a:r>
              <a:t>https://docs.docker.com/engine/network/port-publishing/</a:t>
            </a:r>
          </a:p>
          <a:p>
            <a:endParaRPr/>
          </a:p>
          <a:p>
            <a:r>
              <a:t>Dockerfile reference</a:t>
            </a:r>
          </a:p>
          <a:p>
            <a:r>
              <a:t>https://docs.docker.com/reference/dockerfile/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these commands from the directory containing app.py, Dockerfile, and .dockerignore. The build output shows stages, cached results, transfers, and errors as appropriate to the installed builder. The exact output format and duration are not fixed. A successful build should make the requested tag visible in the local image listing.</a:t>
            </a:r>
          </a:p>
          <a:p>
            <a:endParaRPr/>
          </a:p>
          <a:p>
            <a:r>
              <a:t>Inspect the image's configured user, working directory, and default command to connect the Dockerfile to artifact metadata. No application container remains running as a deployment simply because the build succeeded. If a remote or custom Buildx driver is used, output handling may require an explicit --load or --push choice. The ordinary local docker build workflow is the classroom default.</a:t>
            </a:r>
          </a:p>
          <a:p>
            <a:endParaRPr/>
          </a:p>
          <a:p>
            <a:r>
              <a:t>Original slide: lecture 10, slide 31.</a:t>
            </a:r>
          </a:p>
          <a:p>
            <a:endParaRPr/>
          </a:p>
          <a:p>
            <a:r>
              <a:t>Run from examples/course-api</a:t>
            </a:r>
          </a:p>
          <a:p>
            <a:r>
              <a:t>docker build -t csc418/course-api:1.0 .</a:t>
            </a:r>
          </a:p>
          <a:p>
            <a:r>
              <a:t>docker image ls csc418/course-api</a:t>
            </a:r>
          </a:p>
          <a:p>
            <a:r>
              <a:t>docker image inspect csc418/course-api:1.0</a:t>
            </a:r>
          </a:p>
          <a:p>
            <a:endParaRPr/>
          </a:p>
          <a:p>
            <a:r>
              <a:t>Sources</a:t>
            </a:r>
          </a:p>
          <a:p>
            <a:r>
              <a:t>docker buildx build</a:t>
            </a:r>
          </a:p>
          <a:p>
            <a:r>
              <a:t>https://docs.docker.com/reference/cli/docker/buildx/build/</a:t>
            </a:r>
          </a:p>
          <a:p>
            <a:endParaRPr/>
          </a:p>
          <a:p>
            <a:r>
              <a:t>docker inspect</a:t>
            </a:r>
          </a:p>
          <a:p>
            <a:r>
              <a:t>https://docs.docker.com/reference/cli/docker/inspect/</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first complete API deployment. The local tag resolves to the image built on the preceding slide. The container starts Python with app.py, uses the non-root account, and publishes its listening port on the local host. A GET request to an unknown path should return HTTP 404 with an error object.</a:t>
            </a:r>
          </a:p>
          <a:p>
            <a:endParaRPr/>
          </a:p>
          <a:p>
            <a:r>
              <a:t>The response bodies are specified by the supplied application. Container IDs and logs vary, and the image must actually build and run on the classroom machine to verify the Docker path. curl can be used from Bash, or curl.exe from Windows if available. PowerShell's Invoke-RestMethod is an alternative when the curl name refers to a shell alias. The browser avoids that shell difference.</a:t>
            </a:r>
          </a:p>
          <a:p>
            <a:endParaRPr/>
          </a:p>
          <a:p>
            <a:r>
              <a:t>Original slide: lecture 10, slide 32.</a:t>
            </a:r>
          </a:p>
          <a:p>
            <a:endParaRPr/>
          </a:p>
          <a:p>
            <a:r>
              <a:t>Terminal</a:t>
            </a:r>
          </a:p>
          <a:p>
            <a:r>
              <a:t>docker run -d --name l10-api -p 127.0.0.1:8000:8000 csc418/course-api:1.0</a:t>
            </a:r>
          </a:p>
          <a:p>
            <a:r>
              <a:t>docker ps</a:t>
            </a:r>
          </a:p>
          <a:p>
            <a:r>
              <a:t>docker logs l10-api</a:t>
            </a:r>
          </a:p>
          <a:p>
            <a:endParaRPr/>
          </a:p>
          <a:p>
            <a:r>
              <a:t>Expected response bodies; whitespace can differ</a:t>
            </a:r>
          </a:p>
          <a:p>
            <a:r>
              <a:t>{"course": "CSC418", "version": "1.0",</a:t>
            </a:r>
          </a:p>
          <a:p>
            <a:r>
              <a:t> "message": "Hello from a container"}</a:t>
            </a:r>
          </a:p>
          <a:p>
            <a:endParaRPr/>
          </a:p>
          <a:p>
            <a:r>
              <a:t>{"status": "ok"}</a:t>
            </a:r>
          </a:p>
          <a:p>
            <a:endParaRPr/>
          </a:p>
          <a:p>
            <a:r>
              <a:t>Sources</a:t>
            </a:r>
          </a:p>
          <a:p>
            <a:r>
              <a:t>Running containers</a:t>
            </a:r>
          </a:p>
          <a:p>
            <a:r>
              <a:t>https://docs.docker.com/engine/containers/run/</a:t>
            </a:r>
          </a:p>
          <a:p>
            <a:endParaRPr/>
          </a:p>
          <a:p>
            <a:r>
              <a:t>Python http.server documentation</a:t>
            </a:r>
          </a:p>
          <a:p>
            <a:r>
              <a:t>https://docs.python.org/3.13/library/http.server.html</a:t>
            </a:r>
          </a:p>
          <a:p>
            <a:endParaRPr/>
          </a:p>
          <a:p>
            <a:r>
              <a:t>Port publishing and mapping</a:t>
            </a:r>
          </a:p>
          <a:p>
            <a:r>
              <a:t>https://docs.docker.com/engine/network/port-publishing/</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makes the difference between image content and instance configuration observable. The second container does not require a second Dockerfile or a second build. Its internal server still listens on port 8000. Only the host-side port changes to 8001, so the two instances can run simultaneously.</a:t>
            </a:r>
          </a:p>
          <a:p>
            <a:endParaRPr/>
          </a:p>
          <a:p>
            <a:r>
              <a:t>Changing COURSE changes a response value, not the image content. Changing the Python source is different because that file was copied into the image. The next slide rebuilds after a source edit. Stop and remove l10-api-b after the comparison, or leave it briefly to demonstrate that replacing l10-api does not replace every container created from the old image.</a:t>
            </a:r>
          </a:p>
          <a:p>
            <a:endParaRPr/>
          </a:p>
          <a:p>
            <a:r>
              <a:t>Original slide: lecture 10, slide 33.</a:t>
            </a:r>
          </a:p>
          <a:p>
            <a:endParaRPr/>
          </a:p>
          <a:p>
            <a:r>
              <a:t>Terminal</a:t>
            </a:r>
          </a:p>
          <a:p>
            <a:r>
              <a:t>docker run -d --name l10-api-b -e COURSE=CloudDevOps -p 127.0.0.1:8001:8000 csc418/course-api:1.0</a:t>
            </a:r>
          </a:p>
          <a:p>
            <a:r>
              <a:t>docker ps</a:t>
            </a:r>
          </a:p>
          <a:p>
            <a:r>
              <a:t>docker logs l10-api-b</a:t>
            </a:r>
          </a:p>
          <a:p>
            <a:endParaRPr/>
          </a:p>
          <a:p>
            <a:r>
              <a:t>Sources</a:t>
            </a:r>
          </a:p>
          <a:p>
            <a:r>
              <a:t>Running containers</a:t>
            </a:r>
          </a:p>
          <a:p>
            <a:r>
              <a:t>https://docs.docker.com/engine/containers/run/</a:t>
            </a:r>
          </a:p>
          <a:p>
            <a:endParaRPr/>
          </a:p>
          <a:p>
            <a:r>
              <a:t>What is an image?</a:t>
            </a:r>
          </a:p>
          <a:p>
            <a:r>
              <a:t>https://docs.docker.com/get-started/docker-concepts/the-basics/what-is-an-image/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host-source change does not alter a running container whose code was copied into an image. Rebuilding creates a new artifact, and replacing the container makes the new artifact active. Reusing docker start on the old container would continue using its original filesystem and configuration.</a:t>
            </a:r>
          </a:p>
          <a:p>
            <a:endParaRPr/>
          </a:p>
          <a:p>
            <a:r>
              <a:t>The example also sets APP_VERSION to 1.1 at runtime so the displayed version matches the new demonstration tag. Editing that variable alone would not change the application message or prove that new source had been deployed. This local stop-and-replace sequence has a downtime window. It teaches artifact replacement rather than a zero-downtime production release. Retaining the old tag makes a later application rollback possible, subject to data compatibility.</a:t>
            </a:r>
          </a:p>
          <a:p>
            <a:endParaRPr/>
          </a:p>
          <a:p>
            <a:r>
              <a:t>Original slide: lecture 10, slide 34.</a:t>
            </a:r>
          </a:p>
          <a:p>
            <a:endParaRPr/>
          </a:p>
          <a:p>
            <a:r>
              <a:t>Terminal</a:t>
            </a:r>
          </a:p>
          <a:p>
            <a:r>
              <a:t>docker build -t csc418/course-api:1.1 .</a:t>
            </a:r>
          </a:p>
          <a:p>
            <a:r>
              <a:t>docker stop l10-api</a:t>
            </a:r>
          </a:p>
          <a:p>
            <a:r>
              <a:t>docker rm l10-api</a:t>
            </a:r>
          </a:p>
          <a:p>
            <a:r>
              <a:t>docker run -d --name l10-api -e APP_VERSION=1.1 -p 127.0.0.1:8000:8000 csc418/course-api:1.1</a:t>
            </a:r>
          </a:p>
          <a:p>
            <a:endParaRPr/>
          </a:p>
          <a:p>
            <a:r>
              <a:t>Sources</a:t>
            </a:r>
          </a:p>
          <a:p>
            <a:r>
              <a:t>docker buildx build</a:t>
            </a:r>
          </a:p>
          <a:p>
            <a:r>
              <a:t>https://docs.docker.com/reference/cli/docker/buildx/build/</a:t>
            </a:r>
          </a:p>
          <a:p>
            <a:endParaRPr/>
          </a:p>
          <a:p>
            <a:r>
              <a:t>Running containers</a:t>
            </a:r>
          </a:p>
          <a:p>
            <a:r>
              <a:t>https://docs.docker.com/engine/containers/run/</a:t>
            </a:r>
          </a:p>
          <a:p>
            <a:endParaRPr/>
          </a:p>
          <a:p>
            <a:r>
              <a:t>Verona, Ch 3, pp. 28-29 (PDF 47-48)</a:t>
            </a:r>
          </a:p>
          <a:p>
            <a:r>
              <a:t>../../Books/practical-devops%28verona%29.pdf#page=47</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Sharing immutable layers can reduce repeated transfer and storage. An application-specific top layer can differ while lower base-image layers remain reusable. Container writable layers are separate from that image-layer reuse. Distinguish those two ideas when interpreting storage usage.</a:t>
            </a:r>
          </a:p>
          <a:p>
            <a:endParaRPr/>
          </a:p>
          <a:p>
            <a:r>
              <a:t>Image history is helpful but should not be treated as a complete trustworthy reconstruction of every original source input. It can also reveal command details that should never have contained credentials. Some Dockerfile instructions primarily set metadata rather than adding filesystem content. The relationship between history entries and filesystem layers is therefore not a simple one-line, one-layer rule.</a:t>
            </a:r>
          </a:p>
          <a:p>
            <a:endParaRPr/>
          </a:p>
          <a:p>
            <a:r>
              <a:t>Original slide: lecture 10, slide 35.</a:t>
            </a:r>
          </a:p>
          <a:p>
            <a:endParaRPr/>
          </a:p>
          <a:p>
            <a:r>
              <a:t>Inspect the built artifact</a:t>
            </a:r>
          </a:p>
          <a:p>
            <a:r>
              <a:t>docker image history csc418/course-api:1.1</a:t>
            </a:r>
          </a:p>
          <a:p>
            <a:r>
              <a:t>docker image inspect csc418/course-api:1.1</a:t>
            </a:r>
          </a:p>
          <a:p>
            <a:endParaRPr/>
          </a:p>
          <a:p>
            <a:r>
              <a:t>Sources</a:t>
            </a:r>
          </a:p>
          <a:p>
            <a:r>
              <a:t>Understanding image layers</a:t>
            </a:r>
          </a:p>
          <a:p>
            <a:r>
              <a:t>https://docs.docker.com/get-started/docker-concepts/building-images/understanding-image-layers/</a:t>
            </a:r>
          </a:p>
          <a:p>
            <a:endParaRPr/>
          </a:p>
          <a:p>
            <a:r>
              <a:t>docker image history</a:t>
            </a:r>
          </a:p>
          <a:p>
            <a:r>
              <a:t>https://docs.docker.com/reference/cli/docker/image/history/</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Cache reuse is a correctness and efficiency mechanism based on build inputs, not a promise that a remote package manager is queried on every build. If the instruction and relevant cache inputs are unchanged, a package-install step can remain cached even when newer packages exist upstream.</a:t>
            </a:r>
          </a:p>
          <a:p>
            <a:endParaRPr/>
          </a:p>
          <a:p>
            <a:r>
              <a:t>Use deliberate dependency updates and rebuilds. --no-cache and --pull solve different problems, and using one does not imply the other. A changed secret might affect downloaded private content, but the secret value itself does not become a cache key. Workflows needing a refreshed result should supply a suitable non-secret cache-busting input or otherwise control the relevant build step.</a:t>
            </a:r>
          </a:p>
          <a:p>
            <a:endParaRPr/>
          </a:p>
          <a:p>
            <a:r>
              <a:t>Original slide: lecture 10, slide 36.</a:t>
            </a:r>
          </a:p>
          <a:p>
            <a:endParaRPr/>
          </a:p>
          <a:p>
            <a:r>
              <a:t>Sources</a:t>
            </a:r>
          </a:p>
          <a:p>
            <a:r>
              <a:t>Build cache invalidation</a:t>
            </a:r>
          </a:p>
          <a:p>
            <a:r>
              <a:t>https://docs.docker.com/build/cache/invalidation/</a:t>
            </a:r>
          </a:p>
          <a:p>
            <a:endParaRPr/>
          </a:p>
          <a:p>
            <a:r>
              <a:t>docker buildx build</a:t>
            </a:r>
          </a:p>
          <a:p>
            <a:r>
              <a:t>https://docs.docker.com/reference/cli/docker/buildx/build/</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Python example has no third-party application dependencies, so adding an artificial package-install command would obscure its purpose. This separate Node-style example illustrates a general ordering technique. Dependency manifests change less often than ordinary source files, so copying and installing them first can make later source edits cheaper to rebuild.</a:t>
            </a:r>
          </a:p>
          <a:p>
            <a:endParaRPr/>
          </a:p>
          <a:p>
            <a:r>
              <a:t>The snippet assumes package.json, package-lock.json, and server.js exist in that other project. It is not a complete alternate version of the supplied course API. Its version is illustrative and should follow the project's support policy. The general principle is to keep stable expensive steps before inputs that change frequently, while preserving the true dependency relationships.</a:t>
            </a:r>
          </a:p>
          <a:p>
            <a:endParaRPr/>
          </a:p>
          <a:p>
            <a:r>
              <a:t>Original slide: lecture 10, slide 37.</a:t>
            </a:r>
          </a:p>
          <a:p>
            <a:endParaRPr/>
          </a:p>
          <a:p>
            <a:r>
              <a:t>Illustrative dependency-bearing project, not the supplied Python API</a:t>
            </a:r>
          </a:p>
          <a:p>
            <a:r>
              <a:t>FROM node:22-bookworm-slim</a:t>
            </a:r>
          </a:p>
          <a:p>
            <a:r>
              <a:t>WORKDIR /app</a:t>
            </a:r>
          </a:p>
          <a:p>
            <a:r>
              <a:t>COPY package.json package-lock.json ./</a:t>
            </a:r>
          </a:p>
          <a:p>
            <a:r>
              <a:t>RUN npm ci --omit=dev</a:t>
            </a:r>
          </a:p>
          <a:p>
            <a:r>
              <a:t>COPY . .</a:t>
            </a:r>
          </a:p>
          <a:p>
            <a:r>
              <a:t>CMD ["node", "server.js"]</a:t>
            </a:r>
          </a:p>
          <a:p>
            <a:endParaRPr/>
          </a:p>
          <a:p>
            <a:r>
              <a:t>Sources</a:t>
            </a:r>
          </a:p>
          <a:p>
            <a:r>
              <a:t>Optimize cache usage</a:t>
            </a:r>
          </a:p>
          <a:p>
            <a:r>
              <a:t>https://docs.docker.com/build/cache/optimize/</a:t>
            </a:r>
          </a:p>
          <a:p>
            <a:endParaRPr/>
          </a:p>
          <a:p>
            <a:r>
              <a:t>Building best practices</a:t>
            </a:r>
          </a:p>
          <a:p>
            <a:r>
              <a:t>https://docs.docker.com/build/building/best-practices/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documents publishing without performing it. YOUR_NAMESPACE is a placeholder for an account or organization controlled by the user, not a literal string to keep. Choose the intended repository visibility and ensure the application and image contents are appropriate for that destination before pushing.</a:t>
            </a:r>
          </a:p>
          <a:p>
            <a:endParaRPr/>
          </a:p>
          <a:p>
            <a:r>
              <a:t>Authentication methods depend on the registry and environment. Do not place passwords in a Dockerfile, command history, or slide. A local tag such as csc418/course-api:1.1 does not establish ownership of the csc418 namespace on Docker Hub. The push output can provide the digest used to identify the distributed artifact, and downstream deployments should record what they actually pulled.</a:t>
            </a:r>
          </a:p>
          <a:p>
            <a:endParaRPr/>
          </a:p>
          <a:p>
            <a:r>
              <a:t>Original slide: lecture 10, slide 38.</a:t>
            </a:r>
          </a:p>
          <a:p>
            <a:endParaRPr/>
          </a:p>
          <a:p>
            <a:r>
              <a:t>Illustrative publishing sequence; replace YOUR_NAMESPACE</a:t>
            </a:r>
          </a:p>
          <a:p>
            <a:r>
              <a:t>docker tag csc418/course-api:1.1 YOUR_NAMESPACE/course-api:1.1</a:t>
            </a:r>
          </a:p>
          <a:p>
            <a:r>
              <a:t>docker login</a:t>
            </a:r>
          </a:p>
          <a:p>
            <a:r>
              <a:t>docker push YOUR_NAMESPACE/course-api:1.1</a:t>
            </a:r>
          </a:p>
          <a:p>
            <a:endParaRPr/>
          </a:p>
          <a:p>
            <a:r>
              <a:t>Sources</a:t>
            </a:r>
          </a:p>
          <a:p>
            <a:r>
              <a:t>docker image tag</a:t>
            </a:r>
          </a:p>
          <a:p>
            <a:r>
              <a:t>https://docs.docker.com/reference/cli/docker/image/tag/</a:t>
            </a:r>
          </a:p>
          <a:p>
            <a:endParaRPr/>
          </a:p>
          <a:p>
            <a:r>
              <a:t>docker image push</a:t>
            </a:r>
          </a:p>
          <a:p>
            <a:r>
              <a:t>https://docs.docker.com/reference/cli/docker/image/push/</a:t>
            </a:r>
          </a:p>
          <a:p>
            <a:endParaRPr/>
          </a:p>
          <a:p>
            <a:r>
              <a:t>docker image pull</a:t>
            </a:r>
          </a:p>
          <a:p>
            <a:r>
              <a:t>https://docs.docker.com/reference/cli/docker/image/pull/</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derived image inherits the API file, user, and startup command from the local 1.0 image. The health command runs inside the container, so its localhost refers to that container and no host port needs to be published. Success produces exit code zero. Connection failures or unsuccessful HTTP responses raise an exception and lead to a failing health check.</a:t>
            </a:r>
          </a:p>
          <a:p>
            <a:endParaRPr/>
          </a:p>
          <a:p>
            <a:r>
              <a:t>Inspect State.Health after enough time for checks to run. Docker records health information, while an external controller or operator decides what to do with it. Ordinary restart policies react to process exit behavior, not simply to a health flag. The fixed health URL assumes the default port, so changing PORT would require a corresponding change in the health command.</a:t>
            </a:r>
          </a:p>
          <a:p>
            <a:endParaRPr/>
          </a:p>
          <a:p>
            <a:r>
              <a:t>Original slide: lecture 10, slide 39.</a:t>
            </a:r>
          </a:p>
          <a:p>
            <a:endParaRPr/>
          </a:p>
          <a:p>
            <a:r>
              <a:t>examples/course-api/Dockerfile.health</a:t>
            </a:r>
          </a:p>
          <a:p>
            <a:r>
              <a:t>FROM csc418/course-api:1.0</a:t>
            </a:r>
          </a:p>
          <a:p>
            <a:r>
              <a:t>HEALTHCHECK --interval=10s --timeout=3s --start-period=5s --retries=3 \</a:t>
            </a:r>
          </a:p>
          <a:p>
            <a:r>
              <a:t>  CMD python -c "import urllib.request; urllib.request.urlopen('http://127.0.0.1:8000/health', timeout=2)"</a:t>
            </a:r>
          </a:p>
          <a:p>
            <a:endParaRPr/>
          </a:p>
          <a:p>
            <a:r>
              <a:t>Build after course-api:1.0 exists</a:t>
            </a:r>
          </a:p>
          <a:p>
            <a:r>
              <a:t>docker build -f Dockerfile.health -t csc418/course-api:health .</a:t>
            </a:r>
          </a:p>
          <a:p>
            <a:r>
              <a:t>docker run -d --name l10-health csc418/course-api:health</a:t>
            </a:r>
          </a:p>
          <a:p>
            <a:r>
              <a:t>docker inspect l10-health</a:t>
            </a:r>
          </a:p>
          <a:p>
            <a:endParaRPr/>
          </a:p>
          <a:p>
            <a:r>
              <a:t>Sources</a:t>
            </a:r>
          </a:p>
          <a:p>
            <a:r>
              <a:t>Dockerfile reference</a:t>
            </a:r>
          </a:p>
          <a:p>
            <a:r>
              <a:t>https://docs.docker.com/reference/dockerfile/</a:t>
            </a:r>
          </a:p>
          <a:p>
            <a:endParaRPr/>
          </a:p>
          <a:p>
            <a:r>
              <a:t>Start containers automatically</a:t>
            </a:r>
          </a:p>
          <a:p>
            <a:r>
              <a:t>https://docs.docker.com/engine/containers/start-containers-automatically/</a:t>
            </a:r>
          </a:p>
          <a:p>
            <a:endParaRPr/>
          </a:p>
          <a:p>
            <a:r>
              <a:t>docker inspect</a:t>
            </a:r>
          </a:p>
          <a:p>
            <a:r>
              <a:t>https://docs.docker.com/reference/cli/docker/inspect/</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server should not fork into the background and allow the main container process to exit. Use the image's supported foreground mode. The supplied API starts Python directly with exec-form CMD and registers a SIGTERM handler. Complex services need more complete handling of in-flight requests and child processes.</a:t>
            </a:r>
          </a:p>
          <a:p>
            <a:endParaRPr/>
          </a:p>
          <a:p>
            <a:r>
              <a:t>Do not infer from the ten-second timeout that Docker always waits ten seconds. It returns sooner when the process exits promptly. Conversely, a process that ignores or cannot act on the termination request may require forced termination. The appropriate timeout depends on real work such as draining requests and flushing state, and should fit the surrounding deployment system.</a:t>
            </a:r>
          </a:p>
          <a:p>
            <a:endParaRPr/>
          </a:p>
          <a:p>
            <a:r>
              <a:t>Original slide: lecture 10, slide 40.</a:t>
            </a:r>
          </a:p>
          <a:p>
            <a:endParaRPr/>
          </a:p>
          <a:p>
            <a:r>
              <a:t>Demonstration of a bounded stop request</a:t>
            </a:r>
          </a:p>
          <a:p>
            <a:r>
              <a:t>docker stop --timeout 10 l10-api</a:t>
            </a:r>
          </a:p>
          <a:p>
            <a:endParaRPr/>
          </a:p>
          <a:p>
            <a:r>
              <a:t>Sources</a:t>
            </a:r>
          </a:p>
          <a:p>
            <a:r>
              <a:t>docker container stop</a:t>
            </a:r>
          </a:p>
          <a:p>
            <a:r>
              <a:t>https://docs.docker.com/reference/cli/docker/container/stop/</a:t>
            </a:r>
          </a:p>
          <a:p>
            <a:endParaRPr/>
          </a:p>
          <a:p>
            <a:r>
              <a:t>Dockerfile reference</a:t>
            </a:r>
          </a:p>
          <a:p>
            <a:r>
              <a:t>https://docs.docker.com/reference/dockerfile/</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values are illustrative classroom choices, not measured production sizing. A container can start successfully and still fail under load if its limits are too small. Memory pressure can result in termination, so inspect the state and application behavior rather than assuming every exit is a source-code error.</a:t>
            </a:r>
          </a:p>
          <a:p>
            <a:endParaRPr/>
          </a:p>
          <a:p>
            <a:r>
              <a:t>The API disables Python bytecode writes and does not intentionally modify its source directory, so it suits a read-only root filesystem. tmpfs supplies a temporary writable directory if needed. Resource controls and filesystem restrictions are defense-in-depth measures and should be tested against actual application requirements. No host port is published here because this example demonstrates runtime constraints rather than browser access.</a:t>
            </a:r>
          </a:p>
          <a:p>
            <a:endParaRPr/>
          </a:p>
          <a:p>
            <a:r>
              <a:t>Original slide: lecture 10, slide 41.</a:t>
            </a:r>
          </a:p>
          <a:p>
            <a:endParaRPr/>
          </a:p>
          <a:p>
            <a:r>
              <a:t>A constrained demonstration instance</a:t>
            </a:r>
          </a:p>
          <a:p>
            <a:r>
              <a:t>docker run -d --name l10-limited --memory 128m --cpus 0.5 --read-only --tmpfs /tmp csc418/course-api:1.0</a:t>
            </a:r>
          </a:p>
          <a:p>
            <a:r>
              <a:t>docker stats --no-stream l10-limited</a:t>
            </a:r>
          </a:p>
          <a:p>
            <a:endParaRPr/>
          </a:p>
          <a:p>
            <a:r>
              <a:t>Sources</a:t>
            </a:r>
          </a:p>
          <a:p>
            <a:r>
              <a:t>Resource constraints</a:t>
            </a:r>
          </a:p>
          <a:p>
            <a:r>
              <a:t>https://docs.docker.com/engine/containers/resource_constraints/</a:t>
            </a:r>
          </a:p>
          <a:p>
            <a:endParaRPr/>
          </a:p>
          <a:p>
            <a:r>
              <a:t>Docker storage</a:t>
            </a:r>
          </a:p>
          <a:p>
            <a:r>
              <a:t>https://docs.docker.com/engine/storage/</a:t>
            </a:r>
          </a:p>
          <a:p>
            <a:endParaRPr/>
          </a:p>
          <a:p>
            <a:r>
              <a:t>Running containers</a:t>
            </a:r>
          </a:p>
          <a:p>
            <a:r>
              <a:t>https://docs.docker.com/engine/containers/run/</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Docker build-secrets documentation describes temporary mounts that make a credential available only to the build instruction that needs it. That avoids embedding a secret as an ordinary build argument or copied file. The process consuming the secret must also avoid writing it into a resulting artifact or log.</a:t>
            </a:r>
          </a:p>
          <a:p>
            <a:endParaRPr/>
          </a:p>
          <a:p>
            <a:r>
              <a:t>Runtime credentials are a separate problem and should use the deployment platform's supported mechanism with appropriate access controls. Environment variables are convenient configuration but can be visible to privileged inspection and are not automatically a secret store. The course API requires no credentials, so its runnable example deliberately needs no secret-management setup.</a:t>
            </a:r>
          </a:p>
          <a:p>
            <a:endParaRPr/>
          </a:p>
          <a:p>
            <a:r>
              <a:t>Original slide: lecture 10, slide 42.</a:t>
            </a:r>
          </a:p>
          <a:p>
            <a:endParaRPr/>
          </a:p>
          <a:p>
            <a:r>
              <a:t>Sources</a:t>
            </a:r>
          </a:p>
          <a:p>
            <a:r>
              <a:t>Build secrets</a:t>
            </a:r>
          </a:p>
          <a:p>
            <a:r>
              <a:t>https://docs.docker.com/build/building/secrets/</a:t>
            </a:r>
          </a:p>
          <a:p>
            <a:endParaRPr/>
          </a:p>
          <a:p>
            <a:r>
              <a:t>Building best practices</a:t>
            </a:r>
          </a:p>
          <a:p>
            <a:r>
              <a:t>https://docs.docker.com/build/building/best-practices/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optional example uses a tiny Go program included in the examples directory. The first stage contains the Go compiler and builds a simple executable with CGO disabled. The final stage starts from scratch, copies only that executable, and runs it as a numeric non-root user. It needs no shell or application configuration.</a:t>
            </a:r>
          </a:p>
          <a:p>
            <a:endParaRPr/>
          </a:p>
          <a:p>
            <a:r>
              <a:t>scratch is an empty starting point, not a general substitute for every runtime base. This particular program prints text and does not need certificates, dynamic libraries, or other runtime files. More complex applications may need those files explicitly. The benefit is a separation of build requirements and runtime requirements. Smaller final content can reduce unnecessary components, but image size alone does not prove security.</a:t>
            </a:r>
          </a:p>
          <a:p>
            <a:endParaRPr/>
          </a:p>
          <a:p>
            <a:r>
              <a:t>Original slide: lecture 10, slide 43.</a:t>
            </a:r>
          </a:p>
          <a:p>
            <a:endParaRPr/>
          </a:p>
          <a:p>
            <a:r>
              <a:t>examples/multistage/Dockerfile</a:t>
            </a:r>
          </a:p>
          <a:p>
            <a:r>
              <a:t># syntax=docker/dockerfile:1</a:t>
            </a:r>
          </a:p>
          <a:p>
            <a:r>
              <a:t>FROM golang:1.26-alpine AS build</a:t>
            </a:r>
          </a:p>
          <a:p>
            <a:r>
              <a:t>WORKDIR /src</a:t>
            </a:r>
          </a:p>
          <a:p>
            <a:r>
              <a:t>COPY main.go .</a:t>
            </a:r>
          </a:p>
          <a:p>
            <a:r>
              <a:t>RUN CGO_ENABLED=0 go build -o /out/hello main.go</a:t>
            </a:r>
          </a:p>
          <a:p>
            <a:endParaRPr/>
          </a:p>
          <a:p>
            <a:r>
              <a:t>FROM scratch</a:t>
            </a:r>
          </a:p>
          <a:p>
            <a:r>
              <a:t>COPY --from=build /out/hello /hello</a:t>
            </a:r>
          </a:p>
          <a:p>
            <a:r>
              <a:t>USER 10001:10001</a:t>
            </a:r>
          </a:p>
          <a:p>
            <a:r>
              <a:t>ENTRYPOINT ["/hello"]</a:t>
            </a:r>
          </a:p>
          <a:p>
            <a:endParaRPr/>
          </a:p>
          <a:p>
            <a:r>
              <a:t>Sources</a:t>
            </a:r>
          </a:p>
          <a:p>
            <a:r>
              <a:t>Multi-stage builds</a:t>
            </a:r>
          </a:p>
          <a:p>
            <a:r>
              <a:t>https://docs.docker.com/build/building/multi-stage/</a:t>
            </a:r>
          </a:p>
          <a:p>
            <a:endParaRPr/>
          </a:p>
          <a:p>
            <a:r>
              <a:t>Official Go image</a:t>
            </a:r>
          </a:p>
          <a:p>
            <a:r>
              <a:t>https://hub.docker.com/_/golang</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diagnosis as gathering evidence for a hypothesis. Avoid using removal, privilege escalation, or repeated restarts as universal remedies. A name collision can be solved by choosing a distinct name or deliberately removing a known stopped example. A port collision can be solved by using a free host port without changing the application's internal listener.</a:t>
            </a:r>
          </a:p>
          <a:p>
            <a:endParaRPr/>
          </a:p>
          <a:p>
            <a:r>
              <a:t>For an immediate exit, code zero often means a one-shot command completed, while a nonzero exit suggests an error. Neither rule replaces logs. For stale content, compare the image used when the container was created with the image just built. A bind mount can also intentionally overlay the image's content, so replacing the image alone may not change the visible files.</a:t>
            </a:r>
          </a:p>
          <a:p>
            <a:endParaRPr/>
          </a:p>
          <a:p>
            <a:r>
              <a:t>Original slide: lecture 10, slide 44.</a:t>
            </a:r>
          </a:p>
          <a:p>
            <a:endParaRPr/>
          </a:p>
          <a:p>
            <a:r>
              <a:t>Sources</a:t>
            </a:r>
          </a:p>
          <a:p>
            <a:r>
              <a:t>Running containers</a:t>
            </a:r>
          </a:p>
          <a:p>
            <a:r>
              <a:t>https://docs.docker.com/engine/containers/run/</a:t>
            </a:r>
          </a:p>
          <a:p>
            <a:endParaRPr/>
          </a:p>
          <a:p>
            <a:r>
              <a:t>docker container logs</a:t>
            </a:r>
          </a:p>
          <a:p>
            <a:r>
              <a:t>https://docs.docker.com/reference/cli/docker/container/logs/</a:t>
            </a:r>
          </a:p>
          <a:p>
            <a:endParaRPr/>
          </a:p>
          <a:p>
            <a:r>
              <a:t>docker inspect</a:t>
            </a:r>
          </a:p>
          <a:p>
            <a:r>
              <a:t>https://docs.docker.com/reference/cli/docker/inspect/</a:t>
            </a:r>
          </a:p>
          <a:p>
            <a:endParaRPr/>
          </a:p>
          <a:p>
            <a:r>
              <a:t>Build context</a:t>
            </a:r>
          </a:p>
          <a:p>
            <a:r>
              <a:t>https://docs.docker.com/build/concepts/context/</a:t>
            </a:r>
          </a:p>
          <a:p>
            <a:endParaRPr/>
          </a:p>
          <a:p>
            <a:r>
              <a:t>Bind mounts</a:t>
            </a:r>
          </a:p>
          <a:p>
            <a:r>
              <a:t>https://docs.docker.com/engine/storage/bind-mounts/</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condensed sequence can serve as the final live demonstration or a reference for students revisiting the lecture. It uses a distinct container name and host port to reduce collisions with earlier examples. If the source was edited in the earlier update demonstration, the response will reflect that current source. Version tags should not be reused this way in a controlled release process; the walkthrough is local teaching work.</a:t>
            </a:r>
          </a:p>
          <a:p>
            <a:endParaRPr/>
          </a:p>
          <a:p>
            <a:r>
              <a:t>The detailed README includes scoped cleanup for all optional examples. A Docker build and run must be checked on the actual machine, because architecture, networking, permissions, and available resources are environmental inputs. The examples and notes separate expected output from measured output.</a:t>
            </a:r>
          </a:p>
          <a:p>
            <a:endParaRPr/>
          </a:p>
          <a:p>
            <a:r>
              <a:t>Original slide: lecture 10, slide 45.</a:t>
            </a:r>
          </a:p>
          <a:p>
            <a:endParaRPr/>
          </a:p>
          <a:p>
            <a:r>
              <a:t>Run from examples/course-api</a:t>
            </a:r>
          </a:p>
          <a:p>
            <a:r>
              <a:t>docker version</a:t>
            </a:r>
          </a:p>
          <a:p>
            <a:r>
              <a:t>docker build -t csc418/course-api:1.0 .</a:t>
            </a:r>
          </a:p>
          <a:p>
            <a:r>
              <a:t>docker run -d --name l10-api-final -p 127.0.0.1:8010:8000 csc418/course-api:1.0</a:t>
            </a:r>
          </a:p>
          <a:p>
            <a:r>
              <a:t>docker ps</a:t>
            </a:r>
          </a:p>
          <a:p>
            <a:r>
              <a:t>docker logs l10-api-final</a:t>
            </a:r>
          </a:p>
          <a:p>
            <a:r>
              <a:t>docker stop l10-api-final</a:t>
            </a:r>
          </a:p>
          <a:p>
            <a:r>
              <a:t>docker rm l10-api-final</a:t>
            </a:r>
          </a:p>
          <a:p>
            <a:endParaRPr/>
          </a:p>
          <a:p>
            <a:r>
              <a:t>Sources</a:t>
            </a:r>
          </a:p>
          <a:p>
            <a:r>
              <a:t>docker buildx build</a:t>
            </a:r>
          </a:p>
          <a:p>
            <a:r>
              <a:t>https://docs.docker.com/reference/cli/docker/buildx/build/</a:t>
            </a:r>
          </a:p>
          <a:p>
            <a:endParaRPr/>
          </a:p>
          <a:p>
            <a:r>
              <a:t>Running containers</a:t>
            </a:r>
          </a:p>
          <a:p>
            <a:r>
              <a:t>https://docs.docker.com/engine/containers/run/</a:t>
            </a:r>
          </a:p>
          <a:p>
            <a:endParaRPr/>
          </a:p>
          <a:p>
            <a:r>
              <a:t>docker container logs</a:t>
            </a:r>
          </a:p>
          <a:p>
            <a:r>
              <a:t>https://docs.docker.com/reference/cli/docker/container/logs/</a:t>
            </a:r>
          </a:p>
          <a:p>
            <a:endParaRPr/>
          </a:p>
          <a:p>
            <a:r>
              <a:t>docker container stop</a:t>
            </a:r>
          </a:p>
          <a:p>
            <a:r>
              <a:t>https://docs.docker.com/reference/cli/docker/container/stop/</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the final example to the next syllabus row. Students now understand the vocabulary that a Compose file will encode: image or build settings, command and environment, ports, networks, and volumes. Compose does not replace the Dockerfile. It can reference an existing image or ask Docker to build one.</a:t>
            </a:r>
          </a:p>
          <a:p>
            <a:endParaRPr/>
          </a:p>
          <a:p>
            <a:r>
              <a:t>Do not add a full Compose lab to this lecture simply because the book includes a historical Compose example. The lecture sequence intentionally preserves lecture 11 for that topic. Modern documentation uses the docker compose command, while older materials often show docker-compose. Detailed orchestration, service readiness, and multi-service lifecycle behavior will be addressed there.</a:t>
            </a:r>
          </a:p>
          <a:p>
            <a:endParaRPr/>
          </a:p>
          <a:p>
            <a:r>
              <a:t>Original slide: lecture 10, slide 46.</a:t>
            </a:r>
          </a:p>
          <a:p>
            <a:endParaRPr/>
          </a:p>
          <a:p>
            <a:r>
              <a:t>Sources</a:t>
            </a:r>
          </a:p>
          <a:p>
            <a:r>
              <a:t>CSC418 syllabus V3.2, p. 2</a:t>
            </a:r>
          </a:p>
          <a:p>
            <a:r>
              <a:t>../../CSC418_DevOps_Syllabus_V3.2.pdf#page=2</a:t>
            </a:r>
          </a:p>
          <a:p>
            <a:endParaRPr/>
          </a:p>
          <a:p>
            <a:r>
              <a:t>Docker overview</a:t>
            </a:r>
          </a:p>
          <a:p>
            <a:r>
              <a:t>https://docs.docker.com/get-started/docker-overview/</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slide links its relevant official pages in the notes and footer. The documentation was consulted on 26 September 2026. The runnable files use the explicit image tags stated in the examples, which remain mutable references. Record digests when preparing a reproducible teaching environment.</a:t>
            </a:r>
          </a:p>
          <a:p>
            <a:endParaRPr/>
          </a:p>
          <a:p>
            <a:r>
              <a:t>The Python application uses the standard-library server for clarity and local demonstration. It should not be presented as a production web-service deployment. The examples deliberately omit credentials and external database dependencies. Their purpose is to explain Docker's build and execution model before adding a more complex application environment in lecture 11.</a:t>
            </a:r>
          </a:p>
          <a:p>
            <a:endParaRPr/>
          </a:p>
          <a:p>
            <a:r>
              <a:t>Original slide: lecture 10, slide 47.</a:t>
            </a:r>
          </a:p>
          <a:p>
            <a:endParaRPr/>
          </a:p>
          <a:p>
            <a:r>
              <a:t>Sources</a:t>
            </a:r>
          </a:p>
          <a:p>
            <a:r>
              <a:t>Running containers</a:t>
            </a:r>
          </a:p>
          <a:p>
            <a:r>
              <a:t>https://docs.docker.com/engine/containers/run/</a:t>
            </a:r>
          </a:p>
          <a:p>
            <a:endParaRPr/>
          </a:p>
          <a:p>
            <a:r>
              <a:t>Dockerfile reference</a:t>
            </a:r>
          </a:p>
          <a:p>
            <a:r>
              <a:t>https://docs.docker.com/reference/dockerfile/</a:t>
            </a:r>
          </a:p>
          <a:p>
            <a:endParaRPr/>
          </a:p>
          <a:p>
            <a:r>
              <a:t>Build context</a:t>
            </a:r>
          </a:p>
          <a:p>
            <a:r>
              <a:t>https://docs.docker.com/build/concepts/context/</a:t>
            </a:r>
          </a:p>
          <a:p>
            <a:endParaRPr/>
          </a:p>
          <a:p>
            <a:r>
              <a:t>Building best practices</a:t>
            </a:r>
          </a:p>
          <a:p>
            <a:r>
              <a:t>https://docs.docker.com/build/building/best-practices/</a:t>
            </a:r>
          </a:p>
          <a:p>
            <a:endParaRPr/>
          </a:p>
          <a:p>
            <a:r>
              <a:t>Build cache invalidation</a:t>
            </a:r>
          </a:p>
          <a:p>
            <a:r>
              <a:t>https://docs.docker.com/build/cache/invalidation/</a:t>
            </a:r>
          </a:p>
          <a:p>
            <a:endParaRPr/>
          </a:p>
          <a:p>
            <a:r>
              <a:t>Multi-stage builds</a:t>
            </a:r>
          </a:p>
          <a:p>
            <a:r>
              <a:t>https://docs.docker.com/build/building/multi-stage/</a:t>
            </a:r>
          </a:p>
          <a:p>
            <a:endParaRPr/>
          </a:p>
          <a:p>
            <a:r>
              <a:t>Build secrets</a:t>
            </a:r>
          </a:p>
          <a:p>
            <a:r>
              <a:t>https://docs.docker.com/build/building/secrets/</a:t>
            </a:r>
          </a:p>
          <a:p>
            <a:endParaRPr/>
          </a:p>
          <a:p>
            <a:r>
              <a:t>Python http.server documentation</a:t>
            </a:r>
          </a:p>
          <a:p>
            <a:r>
              <a:t>https://docs.python.org/3.13/library/http.server.html</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edition predates many current Docker workflows. Its value here is the argument for repeatable environments and reusable deployment artifacts. It is not the source of current Windows installation steps, Dockerfile best practices, BuildKit behavior, or modern image tags.</a:t>
            </a:r>
          </a:p>
          <a:p>
            <a:endParaRPr/>
          </a:p>
          <a:p>
            <a:r>
              <a:t>The syllabus directly assigns official Docker resources to lecture 10 and Verona Chapter 3 to lecture 9. This deck respects that division while connecting the command work to the same book's later Docker sections. Printed page numbers and PDF positions are included in the source links so students can find the exact supporting passages in the supplied file.</a:t>
            </a:r>
          </a:p>
          <a:p>
            <a:endParaRPr/>
          </a:p>
          <a:p>
            <a:r>
              <a:t>Original slide: lecture 10, slide 48.</a:t>
            </a:r>
          </a:p>
          <a:p>
            <a:endParaRPr/>
          </a:p>
          <a:p>
            <a:r>
              <a:t>Sources</a:t>
            </a:r>
          </a:p>
          <a:p>
            <a:r>
              <a:t>Verona, Ch 4, pp. 52-53 (PDF 71-72)</a:t>
            </a:r>
          </a:p>
          <a:p>
            <a:r>
              <a:t>../../Books/practical-devops%28verona%29.pdf#page=71</a:t>
            </a:r>
          </a:p>
          <a:p>
            <a:endParaRPr/>
          </a:p>
          <a:p>
            <a:r>
              <a:t>Verona, Ch 7, pp. 130 (PDF 149)</a:t>
            </a:r>
          </a:p>
          <a:p>
            <a:r>
              <a:t>../../Books/practical-devops%28verona%29.pdf#page=149</a:t>
            </a:r>
          </a:p>
          <a:p>
            <a:endParaRPr/>
          </a:p>
          <a:p>
            <a:r>
              <a:t>Verona, Ch 3, pp. 21-37 (PDF 40-56)</a:t>
            </a:r>
          </a:p>
          <a:p>
            <a:r>
              <a:t>../../Books/practical-devops%28verona%29.pdf#page=40</a:t>
            </a:r>
          </a:p>
          <a:p>
            <a:endParaRPr/>
          </a:p>
          <a:p>
            <a:r>
              <a:t>CSC418 syllabus V3.2, p. 2</a:t>
            </a:r>
          </a:p>
          <a:p>
            <a:r>
              <a:t>../../CSC418_DevOps_Syllabus_V3.2.pdf#page=2</a:t>
            </a:r>
          </a:p>
          <a:p>
            <a:endParaRPr/>
          </a:p>
          <a:p>
            <a:r>
              <a:t>Online references accessed 26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725"/>
        </a:solidFill>
        <a:effectLst/>
      </p:bgPr>
    </p:bg>
    <p:spTree>
      <p:nvGrpSpPr>
        <p:cNvPr id="1" name=""/>
        <p:cNvGrpSpPr/>
        <p:nvPr/>
      </p:nvGrpSpPr>
      <p:grpSpPr>
        <a:xfrm>
          <a:off x="0" y="0"/>
          <a:ext cx="0" cy="0"/>
          <a:chOff x="0" y="0"/>
          <a:chExt cx="0" cy="0"/>
        </a:xfrm>
      </p:grpSpPr>
      <p:sp>
        <p:nvSpPr>
          <p:cNvPr id="5" name="course">
            <a:extLst>
              <a:ext uri="{FF2B5EF4-FFF2-40B4-BE49-F238E27FC236}">
                <a16:creationId xmlns:a16="http://schemas.microsoft.com/office/drawing/2014/main" id="{E1B1B3FE-0313-455D-A061-D3B4EA9AACE0}"/>
              </a:ext>
            </a:extLst>
          </p:cNvPr>
          <p:cNvSpPr>
            <a:spLocks noGrp="1"/>
          </p:cNvSpPr>
          <p:nvPr/>
        </p:nvSpPr>
        <p:spPr>
          <a:xfrm>
            <a:off x="704850" y="866775"/>
            <a:ext cx="10668000" cy="381000"/>
          </a:xfrm>
          <a:prstGeom prst="rect">
            <a:avLst/>
          </a:prstGeom>
          <a:noFill/>
          <a:ln w="0">
            <a:noFill/>
          </a:ln>
        </p:spPr>
        <p:txBody>
          <a:bodyPr wrap="square" lIns="0" tIns="0" rIns="0" bIns="0" anchor="t">
            <a:noAutofit/>
          </a:bodyPr>
          <a:lstStyle/>
          <a:p>
            <a:pPr>
              <a:defRPr sz="1875" b="1">
                <a:solidFill>
                  <a:srgbClr val="7DD3CB"/>
                </a:solidFill>
                <a:latin typeface="Segoe UI"/>
                <a:ea typeface="Segoe UI"/>
                <a:cs typeface="Segoe UI"/>
              </a:defRPr>
            </a:pPr>
            <a:r>
              <a:rPr dirty="0"/>
              <a:t>CSC418 / Combined lecture 09 + 10</a:t>
            </a:r>
          </a:p>
        </p:txBody>
      </p:sp>
      <p:sp>
        <p:nvSpPr>
          <p:cNvPr id="2" name="cover-title">
            <a:extLst>
              <a:ext uri="{FF2B5EF4-FFF2-40B4-BE49-F238E27FC236}">
                <a16:creationId xmlns:a16="http://schemas.microsoft.com/office/drawing/2014/main" id="{F0AB1307-4229-4A7D-BA2B-48C2B1318222}"/>
              </a:ext>
            </a:extLst>
          </p:cNvPr>
          <p:cNvSpPr>
            <a:spLocks noGrp="1"/>
          </p:cNvSpPr>
          <p:nvPr/>
        </p:nvSpPr>
        <p:spPr>
          <a:xfrm>
            <a:off x="685800" y="1924050"/>
            <a:ext cx="10668000" cy="2000250"/>
          </a:xfrm>
          <a:prstGeom prst="rect">
            <a:avLst/>
          </a:prstGeom>
          <a:noFill/>
          <a:ln w="0">
            <a:noFill/>
          </a:ln>
        </p:spPr>
        <p:txBody>
          <a:bodyPr wrap="square" lIns="0" tIns="0" rIns="0" bIns="0" anchor="t">
            <a:noAutofit/>
          </a:bodyPr>
          <a:lstStyle/>
          <a:p>
            <a:pPr>
              <a:defRPr sz="4950" b="1">
                <a:solidFill>
                  <a:srgbClr val="FFFFFF"/>
                </a:solidFill>
                <a:latin typeface="Segoe UI"/>
                <a:ea typeface="Segoe UI"/>
                <a:cs typeface="Segoe UI"/>
              </a:defRPr>
            </a:pPr>
            <a:r>
              <a:t>Architecture, containers &amp; Docker</a:t>
            </a:r>
          </a:p>
        </p:txBody>
      </p:sp>
      <p:sp>
        <p:nvSpPr>
          <p:cNvPr id="3" name="cover-description">
            <a:extLst>
              <a:ext uri="{FF2B5EF4-FFF2-40B4-BE49-F238E27FC236}">
                <a16:creationId xmlns:a16="http://schemas.microsoft.com/office/drawing/2014/main" id="{21BAD172-6C44-4A6E-9649-BC4B960B437A}"/>
              </a:ext>
            </a:extLst>
          </p:cNvPr>
          <p:cNvSpPr>
            <a:spLocks noGrp="1"/>
          </p:cNvSpPr>
          <p:nvPr/>
        </p:nvSpPr>
        <p:spPr>
          <a:xfrm>
            <a:off x="723900" y="4591050"/>
            <a:ext cx="10382250" cy="962025"/>
          </a:xfrm>
          <a:prstGeom prst="rect">
            <a:avLst/>
          </a:prstGeom>
          <a:noFill/>
          <a:ln w="0">
            <a:noFill/>
          </a:ln>
        </p:spPr>
        <p:txBody>
          <a:bodyPr wrap="square" lIns="0" tIns="0" rIns="0" bIns="0" anchor="t">
            <a:noAutofit/>
          </a:bodyPr>
          <a:lstStyle/>
          <a:p>
            <a:pPr>
              <a:defRPr sz="2400" b="0">
                <a:solidFill>
                  <a:srgbClr val="DAE5EC"/>
                </a:solidFill>
                <a:latin typeface="Segoe UI"/>
                <a:ea typeface="Segoe UI"/>
                <a:cs typeface="Segoe UI"/>
              </a:defRPr>
            </a:pPr>
            <a:r>
              <a:t>Monoliths, microservices, Docker commands, and custom images</a:t>
            </a:r>
          </a:p>
        </p:txBody>
      </p:sp>
      <p:sp>
        <p:nvSpPr>
          <p:cNvPr id="4" name="cover-footer">
            <a:extLst>
              <a:ext uri="{FF2B5EF4-FFF2-40B4-BE49-F238E27FC236}">
                <a16:creationId xmlns:a16="http://schemas.microsoft.com/office/drawing/2014/main" id="{30D03616-C8B5-4A55-AF10-36FDA72E0EEE}"/>
              </a:ext>
            </a:extLst>
          </p:cNvPr>
          <p:cNvSpPr>
            <a:spLocks noGrp="1"/>
          </p:cNvSpPr>
          <p:nvPr/>
        </p:nvSpPr>
        <p:spPr>
          <a:xfrm>
            <a:off x="723900" y="6105525"/>
            <a:ext cx="10477500" cy="285750"/>
          </a:xfrm>
          <a:prstGeom prst="rect">
            <a:avLst/>
          </a:prstGeom>
          <a:noFill/>
          <a:ln w="0">
            <a:noFill/>
          </a:ln>
        </p:spPr>
        <p:txBody>
          <a:bodyPr wrap="square" lIns="0" tIns="0" rIns="0" bIns="0" anchor="t">
            <a:noAutofit/>
          </a:bodyPr>
          <a:lstStyle/>
          <a:p>
            <a:pPr>
              <a:defRPr sz="1500" b="0">
                <a:solidFill>
                  <a:srgbClr val="AABBC7"/>
                </a:solidFill>
                <a:latin typeface="Segoe UI"/>
                <a:ea typeface="Segoe UI"/>
                <a:cs typeface="Segoe UI"/>
              </a:defRPr>
            </a:pPr>
            <a:r>
              <a:t>Architecture, container concepts, and hands-on Docker</a:t>
            </a:r>
          </a:p>
        </p:txBody>
      </p:sp>
    </p:spTree>
    <p:extLst>
      <p:ext uri="{BB962C8B-B14F-4D97-AF65-F5344CB8AC3E}">
        <p14:creationId xmlns:p14="http://schemas.microsoft.com/office/powerpoint/2010/main" val="1492045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740DF63C-85EC-4F65-9344-00C55FF2E12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0FDAF90D-3ACD-40C3-B749-BBC906CAA006}"/>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Architecture shapes delivery</a:t>
            </a:r>
          </a:p>
        </p:txBody>
      </p:sp>
      <p:sp>
        <p:nvSpPr>
          <p:cNvPr id="3" name="editable-bullet-list">
            <a:extLst>
              <a:ext uri="{FF2B5EF4-FFF2-40B4-BE49-F238E27FC236}">
                <a16:creationId xmlns:a16="http://schemas.microsoft.com/office/drawing/2014/main" id="{E06E9271-64CA-49CA-B289-A4F7CCF8B162}"/>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Functional requirements</a:t>
            </a:r>
          </a:p>
          <a:p>
            <a:pPr marL="279400" indent="0">
              <a:spcAft>
                <a:spcPts val="1425"/>
              </a:spcAft>
              <a:defRPr sz="2325" b="0">
                <a:solidFill>
                  <a:srgbClr val="12283C"/>
                </a:solidFill>
                <a:latin typeface="Segoe UI"/>
                <a:ea typeface="Segoe UI"/>
                <a:cs typeface="Segoe UI"/>
              </a:defRPr>
            </a:pPr>
            <a:r>
              <a:rPr sz="2100">
                <a:solidFill>
                  <a:srgbClr val="4E6271"/>
                </a:solidFill>
              </a:rPr>
              <a:t>Describe what the application does, such as accepting a course registration or displaying a customer record.</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Quality requirements</a:t>
            </a:r>
          </a:p>
          <a:p>
            <a:pPr marL="279400" indent="0">
              <a:spcAft>
                <a:spcPts val="0"/>
              </a:spcAft>
              <a:defRPr sz="2325" b="0">
                <a:solidFill>
                  <a:srgbClr val="12283C"/>
                </a:solidFill>
                <a:latin typeface="Segoe UI"/>
                <a:ea typeface="Segoe UI"/>
                <a:cs typeface="Segoe UI"/>
              </a:defRPr>
            </a:pPr>
            <a:r>
              <a:rPr sz="2100">
                <a:solidFill>
                  <a:srgbClr val="4E6271"/>
                </a:solidFill>
              </a:rPr>
              <a:t>Describe how the system behaves and changes, such as remaining available during a release and supporting frequent, small deployments.</a:t>
            </a:r>
          </a:p>
        </p:txBody>
      </p:sp>
      <p:sp>
        <p:nvSpPr>
          <p:cNvPr id="4" name="key-point">
            <a:extLst>
              <a:ext uri="{FF2B5EF4-FFF2-40B4-BE49-F238E27FC236}">
                <a16:creationId xmlns:a16="http://schemas.microsoft.com/office/drawing/2014/main" id="{A3B71520-4288-4BF3-84E4-8F3BC47A362C}"/>
              </a:ext>
            </a:extLst>
          </p:cNvPr>
          <p:cNvSpPr>
            <a:spLocks noGrp="1"/>
          </p:cNvSpPr>
          <p:nvPr/>
        </p:nvSpPr>
        <p:spPr>
          <a:xfrm>
            <a:off x="628650" y="5819775"/>
            <a:ext cx="10896600" cy="42862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A small source-code change can still trigger a large deployment.</a:t>
            </a:r>
          </a:p>
        </p:txBody>
      </p:sp>
    </p:spTree>
    <p:extLst>
      <p:ext uri="{BB962C8B-B14F-4D97-AF65-F5344CB8AC3E}">
        <p14:creationId xmlns:p14="http://schemas.microsoft.com/office/powerpoint/2010/main" val="1319984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D1C75FCE-0EA2-49B9-9ADB-03A9BB345D3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176E4D34-711A-4038-B737-6E92C6E04A9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Verona’s spelling-correction example</a:t>
            </a:r>
          </a:p>
        </p:txBody>
      </p:sp>
      <p:sp>
        <p:nvSpPr>
          <p:cNvPr id="3" name="editable-bullet-list">
            <a:extLst>
              <a:ext uri="{FF2B5EF4-FFF2-40B4-BE49-F238E27FC236}">
                <a16:creationId xmlns:a16="http://schemas.microsoft.com/office/drawing/2014/main" id="{F4A3947F-5C96-4B5A-94D5-2F0815AC930E}"/>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large Java EE application archive contains business logic and a static website.</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developer corrects one spelling mistake in the website.</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team rebuilds and versions the entire application archive.</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Deploying the correction now exposes the whole application to release risk.</a:t>
            </a:r>
          </a:p>
        </p:txBody>
      </p:sp>
    </p:spTree>
    <p:extLst>
      <p:ext uri="{BB962C8B-B14F-4D97-AF65-F5344CB8AC3E}">
        <p14:creationId xmlns:p14="http://schemas.microsoft.com/office/powerpoint/2010/main" val="894412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8FE31935-84DB-4DB9-8961-B2E63DACEE9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0292E81F-AF81-4F2A-ABB5-0D9DC44455C1}"/>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monolithic application</a:t>
            </a:r>
          </a:p>
        </p:txBody>
      </p:sp>
      <p:sp>
        <p:nvSpPr>
          <p:cNvPr id="3" name="editable-bullet-list">
            <a:extLst>
              <a:ext uri="{FF2B5EF4-FFF2-40B4-BE49-F238E27FC236}">
                <a16:creationId xmlns:a16="http://schemas.microsoft.com/office/drawing/2014/main" id="{B66E1323-7F1E-42F7-9948-E937ED33740B}"/>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One deployment unit</a:t>
            </a:r>
          </a:p>
          <a:p>
            <a:pPr marL="279400" indent="0">
              <a:spcAft>
                <a:spcPts val="1125"/>
              </a:spcAft>
              <a:defRPr sz="2250" b="0">
                <a:solidFill>
                  <a:srgbClr val="12283C"/>
                </a:solidFill>
                <a:latin typeface="Segoe UI"/>
                <a:ea typeface="Segoe UI"/>
                <a:cs typeface="Segoe UI"/>
              </a:defRPr>
            </a:pPr>
            <a:r>
              <a:rPr sz="2025">
                <a:solidFill>
                  <a:srgbClr val="4E6271"/>
                </a:solidFill>
              </a:rPr>
              <a:t>The application’s modules ship together as one release.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Mostly local interaction</a:t>
            </a:r>
          </a:p>
          <a:p>
            <a:pPr marL="279400" indent="0">
              <a:spcAft>
                <a:spcPts val="1125"/>
              </a:spcAft>
              <a:defRPr sz="2250" b="0">
                <a:solidFill>
                  <a:srgbClr val="12283C"/>
                </a:solidFill>
                <a:latin typeface="Segoe UI"/>
                <a:ea typeface="Segoe UI"/>
                <a:cs typeface="Segoe UI"/>
              </a:defRPr>
            </a:pPr>
            <a:r>
              <a:rPr sz="2025">
                <a:solidFill>
                  <a:srgbClr val="4E6271"/>
                </a:solidFill>
              </a:rPr>
              <a:t>Modules commonly call each other inside the same process.</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Simpler development and delivery</a:t>
            </a:r>
          </a:p>
          <a:p>
            <a:pPr marL="279400" indent="0">
              <a:spcAft>
                <a:spcPts val="1125"/>
              </a:spcAft>
              <a:defRPr sz="2250" b="0">
                <a:solidFill>
                  <a:srgbClr val="12283C"/>
                </a:solidFill>
                <a:latin typeface="Segoe UI"/>
                <a:ea typeface="Segoe UI"/>
                <a:cs typeface="Segoe UI"/>
              </a:defRPr>
            </a:pPr>
            <a:r>
              <a:rPr sz="2025">
                <a:solidFill>
                  <a:srgbClr val="4E6271"/>
                </a:solidFill>
              </a:rPr>
              <a:t>Local development, debugging, and release coordination involve fewer moving parts.</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Broader release and scaling scope</a:t>
            </a:r>
          </a:p>
          <a:p>
            <a:pPr marL="279400" indent="0">
              <a:spcAft>
                <a:spcPts val="0"/>
              </a:spcAft>
              <a:defRPr sz="2250" b="0">
                <a:solidFill>
                  <a:srgbClr val="12283C"/>
                </a:solidFill>
                <a:latin typeface="Segoe UI"/>
                <a:ea typeface="Segoe UI"/>
                <a:cs typeface="Segoe UI"/>
              </a:defRPr>
            </a:pPr>
            <a:r>
              <a:rPr sz="2025">
                <a:solidFill>
                  <a:srgbClr val="4E6271"/>
                </a:solidFill>
              </a:rPr>
              <a:t>A change may affect many features, and each replica usually contains the whole application.</a:t>
            </a:r>
          </a:p>
        </p:txBody>
      </p:sp>
    </p:spTree>
    <p:extLst>
      <p:ext uri="{BB962C8B-B14F-4D97-AF65-F5344CB8AC3E}">
        <p14:creationId xmlns:p14="http://schemas.microsoft.com/office/powerpoint/2010/main" val="678487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8512186E-F4F6-4B19-B324-3624D1FF367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42BF14D8-1EAE-4E5A-88C2-29FD8AA9054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Separation of concerns, cohesion, and coupling</a:t>
            </a:r>
          </a:p>
        </p:txBody>
      </p:sp>
      <p:sp>
        <p:nvSpPr>
          <p:cNvPr id="3" name="editable-bullet-list">
            <a:extLst>
              <a:ext uri="{FF2B5EF4-FFF2-40B4-BE49-F238E27FC236}">
                <a16:creationId xmlns:a16="http://schemas.microsoft.com/office/drawing/2014/main" id="{256EE55C-0782-4D73-AF35-13C84483F81C}"/>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Separation of concerns</a:t>
            </a:r>
          </a:p>
          <a:p>
            <a:pPr marL="279400" indent="0">
              <a:spcAft>
                <a:spcPts val="1425"/>
              </a:spcAft>
              <a:defRPr sz="2325" b="0">
                <a:solidFill>
                  <a:srgbClr val="12283C"/>
                </a:solidFill>
                <a:latin typeface="Segoe UI"/>
                <a:ea typeface="Segoe UI"/>
                <a:cs typeface="Segoe UI"/>
              </a:defRPr>
            </a:pPr>
            <a:r>
              <a:rPr sz="2100">
                <a:solidFill>
                  <a:srgbClr val="4E6271"/>
                </a:solidFill>
              </a:rPr>
              <a:t>Give responsibilities clear boundaries. For example, keep payment rules separate from page styling.</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High cohesion</a:t>
            </a:r>
          </a:p>
          <a:p>
            <a:pPr marL="279400" indent="0">
              <a:spcAft>
                <a:spcPts val="1425"/>
              </a:spcAft>
              <a:defRPr sz="2325" b="0">
                <a:solidFill>
                  <a:srgbClr val="12283C"/>
                </a:solidFill>
                <a:latin typeface="Segoe UI"/>
                <a:ea typeface="Segoe UI"/>
                <a:cs typeface="Segoe UI"/>
              </a:defRPr>
            </a:pPr>
            <a:r>
              <a:rPr sz="2100">
                <a:solidFill>
                  <a:srgbClr val="4E6271"/>
                </a:solidFill>
              </a:rPr>
              <a:t>Keep related behavior together, such as registration validation and registration rules.</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Low coupling</a:t>
            </a:r>
          </a:p>
          <a:p>
            <a:pPr marL="279400" indent="0">
              <a:spcAft>
                <a:spcPts val="0"/>
              </a:spcAft>
              <a:defRPr sz="2325" b="0">
                <a:solidFill>
                  <a:srgbClr val="12283C"/>
                </a:solidFill>
                <a:latin typeface="Segoe UI"/>
                <a:ea typeface="Segoe UI"/>
                <a:cs typeface="Segoe UI"/>
              </a:defRPr>
            </a:pPr>
            <a:r>
              <a:rPr sz="2100">
                <a:solidFill>
                  <a:srgbClr val="4E6271"/>
                </a:solidFill>
              </a:rPr>
              <a:t>Limit dependencies on another module’s internals. Use its interface instead of directly accessing its tables.</a:t>
            </a:r>
          </a:p>
        </p:txBody>
      </p:sp>
    </p:spTree>
    <p:extLst>
      <p:ext uri="{BB962C8B-B14F-4D97-AF65-F5344CB8AC3E}">
        <p14:creationId xmlns:p14="http://schemas.microsoft.com/office/powerpoint/2010/main" val="2073819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58D4205A-953A-43C3-8A41-31ADE8DEA27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45B99A2B-75D2-4B78-B19F-2D8C1AA1EB5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rPr dirty="0" err="1"/>
              <a:t>Matangle’s</a:t>
            </a:r>
            <a:r>
              <a:rPr dirty="0"/>
              <a:t> three-tier application</a:t>
            </a:r>
          </a:p>
        </p:txBody>
      </p:sp>
      <p:pic>
        <p:nvPicPr>
          <p:cNvPr id="10" name="Picture 9"/>
          <p:cNvPicPr>
            <a:picLocks noChangeAspect="1"/>
          </p:cNvPicPr>
          <p:nvPr/>
        </p:nvPicPr>
        <p:blipFill>
          <a:blip r:embed="rId3"/>
          <a:stretch/>
        </p:blipFill>
        <p:spPr>
          <a:xfrm>
            <a:off x="1654367" y="1743075"/>
            <a:ext cx="2387216" cy="4086225"/>
          </a:xfrm>
          <a:prstGeom prst="rect">
            <a:avLst/>
          </a:prstGeom>
        </p:spPr>
      </p:pic>
      <p:sp>
        <p:nvSpPr>
          <p:cNvPr id="4" name="image-attribution">
            <a:extLst>
              <a:ext uri="{FF2B5EF4-FFF2-40B4-BE49-F238E27FC236}">
                <a16:creationId xmlns:a16="http://schemas.microsoft.com/office/drawing/2014/main" id="{35378AB9-3CE6-4CE9-9181-F7A96B359929}"/>
              </a:ext>
            </a:extLst>
          </p:cNvPr>
          <p:cNvSpPr>
            <a:spLocks noGrp="1"/>
          </p:cNvSpPr>
          <p:nvPr/>
        </p:nvSpPr>
        <p:spPr>
          <a:xfrm>
            <a:off x="609600" y="5886450"/>
            <a:ext cx="4476750"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Verona, p. 25: three-tier structure.</a:t>
            </a:r>
          </a:p>
        </p:txBody>
      </p:sp>
      <p:sp>
        <p:nvSpPr>
          <p:cNvPr id="5" name="editable-bullet-list">
            <a:extLst>
              <a:ext uri="{FF2B5EF4-FFF2-40B4-BE49-F238E27FC236}">
                <a16:creationId xmlns:a16="http://schemas.microsoft.com/office/drawing/2014/main" id="{83712D7A-0724-4CB3-8564-A4EBD20B3EFC}"/>
              </a:ext>
            </a:extLst>
          </p:cNvPr>
          <p:cNvSpPr>
            <a:spLocks noGrp="1"/>
          </p:cNvSpPr>
          <p:nvPr/>
        </p:nvSpPr>
        <p:spPr>
          <a:xfrm>
            <a:off x="5524500" y="1847850"/>
            <a:ext cx="6000750" cy="4286250"/>
          </a:xfrm>
          <a:prstGeom prst="rect">
            <a:avLst/>
          </a:prstGeom>
          <a:noFill/>
          <a:ln w="0">
            <a:noFill/>
          </a:ln>
        </p:spPr>
        <p:txBody>
          <a:bodyPr wrap="square" lIns="0" tIns="0" rIns="0" bIns="0" anchor="t">
            <a:noAutofit/>
          </a:bodyPr>
          <a:lstStyle/>
          <a:p>
            <a:pPr marL="279400" indent="-165100">
              <a:spcAft>
                <a:spcPts val="200"/>
              </a:spcAft>
              <a:buChar char="•"/>
              <a:defRPr sz="2175" b="0">
                <a:solidFill>
                  <a:srgbClr val="12283C"/>
                </a:solidFill>
                <a:latin typeface="Segoe UI"/>
                <a:ea typeface="Segoe UI"/>
                <a:cs typeface="Segoe UI"/>
              </a:defRPr>
            </a:pPr>
            <a:r>
              <a:rPr sz="2175" b="1">
                <a:solidFill>
                  <a:srgbClr val="12283C"/>
                </a:solidFill>
              </a:rPr>
              <a:t>Presentation tier</a:t>
            </a:r>
          </a:p>
          <a:p>
            <a:pPr marL="279400" indent="0">
              <a:spcAft>
                <a:spcPts val="1500"/>
              </a:spcAft>
              <a:defRPr sz="2175" b="0">
                <a:solidFill>
                  <a:srgbClr val="12283C"/>
                </a:solidFill>
                <a:latin typeface="Segoe UI"/>
                <a:ea typeface="Segoe UI"/>
                <a:cs typeface="Segoe UI"/>
              </a:defRPr>
            </a:pPr>
            <a:r>
              <a:rPr sz="1950">
                <a:solidFill>
                  <a:srgbClr val="4E6271"/>
                </a:solidFill>
              </a:rPr>
              <a:t>React, JavaScript, and static HTML provide the user interface.</a:t>
            </a:r>
          </a:p>
          <a:p>
            <a:pPr marL="279400" indent="-165100">
              <a:spcAft>
                <a:spcPts val="200"/>
              </a:spcAft>
              <a:buChar char="•"/>
              <a:defRPr sz="2175" b="0">
                <a:solidFill>
                  <a:srgbClr val="12283C"/>
                </a:solidFill>
                <a:latin typeface="Segoe UI"/>
                <a:ea typeface="Segoe UI"/>
                <a:cs typeface="Segoe UI"/>
              </a:defRPr>
            </a:pPr>
            <a:r>
              <a:rPr sz="2175" b="1">
                <a:solidFill>
                  <a:srgbClr val="12283C"/>
                </a:solidFill>
              </a:rPr>
              <a:t>Application logic tier</a:t>
            </a:r>
          </a:p>
          <a:p>
            <a:pPr marL="279400" indent="0">
              <a:spcAft>
                <a:spcPts val="1500"/>
              </a:spcAft>
              <a:defRPr sz="2175" b="0">
                <a:solidFill>
                  <a:srgbClr val="12283C"/>
                </a:solidFill>
                <a:latin typeface="Segoe UI"/>
                <a:ea typeface="Segoe UI"/>
                <a:cs typeface="Segoe UI"/>
              </a:defRPr>
            </a:pPr>
            <a:r>
              <a:rPr sz="1950">
                <a:solidFill>
                  <a:srgbClr val="4E6271"/>
                </a:solidFill>
              </a:rPr>
              <a:t>Clojure on the Java platform implements the application’s behavior.</a:t>
            </a:r>
          </a:p>
          <a:p>
            <a:pPr marL="279400" indent="-165100">
              <a:spcAft>
                <a:spcPts val="200"/>
              </a:spcAft>
              <a:buChar char="•"/>
              <a:defRPr sz="2175" b="0">
                <a:solidFill>
                  <a:srgbClr val="12283C"/>
                </a:solidFill>
                <a:latin typeface="Segoe UI"/>
                <a:ea typeface="Segoe UI"/>
                <a:cs typeface="Segoe UI"/>
              </a:defRPr>
            </a:pPr>
            <a:r>
              <a:rPr sz="2175" b="1">
                <a:solidFill>
                  <a:srgbClr val="12283C"/>
                </a:solidFill>
              </a:rPr>
              <a:t>Data tier</a:t>
            </a:r>
          </a:p>
          <a:p>
            <a:pPr marL="279400" indent="0">
              <a:spcAft>
                <a:spcPts val="0"/>
              </a:spcAft>
              <a:defRPr sz="2175" b="0">
                <a:solidFill>
                  <a:srgbClr val="12283C"/>
                </a:solidFill>
                <a:latin typeface="Segoe UI"/>
                <a:ea typeface="Segoe UI"/>
                <a:cs typeface="Segoe UI"/>
              </a:defRPr>
            </a:pPr>
            <a:r>
              <a:rPr sz="1950">
                <a:solidFill>
                  <a:srgbClr val="4E6271"/>
                </a:solidFill>
              </a:rPr>
              <a:t>PostgreSQL stores the customer records.</a:t>
            </a:r>
          </a:p>
        </p:txBody>
      </p:sp>
    </p:spTree>
    <p:extLst>
      <p:ext uri="{BB962C8B-B14F-4D97-AF65-F5344CB8AC3E}">
        <p14:creationId xmlns:p14="http://schemas.microsoft.com/office/powerpoint/2010/main" val="95707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980D334F-40AF-4243-9F14-F5AFFC0DEA1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D46386C7-910E-4FA6-A968-31757D01DEC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Database state survives application releases</a:t>
            </a:r>
          </a:p>
        </p:txBody>
      </p:sp>
      <p:sp>
        <p:nvSpPr>
          <p:cNvPr id="3" name="editable-bullet-list">
            <a:extLst>
              <a:ext uri="{FF2B5EF4-FFF2-40B4-BE49-F238E27FC236}">
                <a16:creationId xmlns:a16="http://schemas.microsoft.com/office/drawing/2014/main" id="{262E161C-96EE-4BCA-9121-098296027AB5}"/>
              </a:ext>
            </a:extLst>
          </p:cNvPr>
          <p:cNvSpPr>
            <a:spLocks noGrp="1"/>
          </p:cNvSpPr>
          <p:nvPr/>
        </p:nvSpPr>
        <p:spPr>
          <a:xfrm>
            <a:off x="667512" y="1871662"/>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dirty="0">
                <a:solidFill>
                  <a:srgbClr val="12283C"/>
                </a:solidFill>
              </a:rPr>
              <a:t>An application binary can be replaced while its database retains existing records.</a:t>
            </a:r>
            <a:endParaRPr lang="en-US" sz="2250" b="0" dirty="0">
              <a:solidFill>
                <a:srgbClr val="12283C"/>
              </a:solidFill>
            </a:endParaRPr>
          </a:p>
          <a:p>
            <a:pPr marL="279400" indent="-165100">
              <a:spcAft>
                <a:spcPts val="1125"/>
              </a:spcAft>
              <a:buChar char="•"/>
              <a:defRPr sz="2250" b="0">
                <a:solidFill>
                  <a:srgbClr val="12283C"/>
                </a:solidFill>
                <a:latin typeface="Segoe UI"/>
                <a:ea typeface="Segoe UI"/>
                <a:cs typeface="Segoe UI"/>
              </a:defRPr>
            </a:pPr>
            <a:endParaRPr sz="2250" b="0" dirty="0">
              <a:solidFill>
                <a:srgbClr val="12283C"/>
              </a:solidFill>
            </a:endParaRPr>
          </a:p>
          <a:p>
            <a:pPr marL="279400" indent="-165100">
              <a:spcAft>
                <a:spcPts val="1125"/>
              </a:spcAft>
              <a:buChar char="•"/>
              <a:defRPr sz="2250" b="0">
                <a:solidFill>
                  <a:srgbClr val="12283C"/>
                </a:solidFill>
                <a:latin typeface="Segoe UI"/>
                <a:ea typeface="Segoe UI"/>
                <a:cs typeface="Segoe UI"/>
              </a:defRPr>
            </a:pPr>
            <a:r>
              <a:rPr sz="2250" b="0" dirty="0">
                <a:solidFill>
                  <a:srgbClr val="12283C"/>
                </a:solidFill>
              </a:rPr>
              <a:t>Migration tools track versioned changesets and record which changes have run.</a:t>
            </a:r>
            <a:endParaRPr lang="en-US" sz="2250" b="0" dirty="0">
              <a:solidFill>
                <a:srgbClr val="12283C"/>
              </a:solidFill>
            </a:endParaRPr>
          </a:p>
          <a:p>
            <a:pPr marL="279400" indent="-165100">
              <a:spcAft>
                <a:spcPts val="1125"/>
              </a:spcAft>
              <a:buChar char="•"/>
              <a:defRPr sz="2250" b="0">
                <a:solidFill>
                  <a:srgbClr val="12283C"/>
                </a:solidFill>
                <a:latin typeface="Segoe UI"/>
                <a:ea typeface="Segoe UI"/>
                <a:cs typeface="Segoe UI"/>
              </a:defRPr>
            </a:pPr>
            <a:endParaRPr sz="2250" b="0" dirty="0">
              <a:solidFill>
                <a:srgbClr val="12283C"/>
              </a:solidFill>
            </a:endParaRPr>
          </a:p>
          <a:p>
            <a:pPr marL="279400" indent="-165100">
              <a:spcAft>
                <a:spcPts val="0"/>
              </a:spcAft>
              <a:buChar char="•"/>
              <a:defRPr sz="2250" b="0">
                <a:solidFill>
                  <a:srgbClr val="12283C"/>
                </a:solidFill>
                <a:latin typeface="Segoe UI"/>
                <a:ea typeface="Segoe UI"/>
                <a:cs typeface="Segoe UI"/>
              </a:defRPr>
            </a:pPr>
            <a:r>
              <a:rPr sz="2250" b="0" dirty="0">
                <a:solidFill>
                  <a:srgbClr val="12283C"/>
                </a:solidFill>
              </a:rPr>
              <a:t>The book’s Liquibase example first creates customer, then adds address.</a:t>
            </a:r>
          </a:p>
        </p:txBody>
      </p:sp>
    </p:spTree>
    <p:extLst>
      <p:ext uri="{BB962C8B-B14F-4D97-AF65-F5344CB8AC3E}">
        <p14:creationId xmlns:p14="http://schemas.microsoft.com/office/powerpoint/2010/main" val="1264623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30AB34B3-68DE-4873-A750-EFDAA80F6DA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7897576D-83D0-44AD-924C-F8FBD0EAC79A}"/>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Compatible rolling upgrades</a:t>
            </a:r>
          </a:p>
        </p:txBody>
      </p:sp>
      <p:sp>
        <p:nvSpPr>
          <p:cNvPr id="3" name="editable-bullet-list">
            <a:extLst>
              <a:ext uri="{FF2B5EF4-FFF2-40B4-BE49-F238E27FC236}">
                <a16:creationId xmlns:a16="http://schemas.microsoft.com/office/drawing/2014/main" id="{67E97F64-4797-41EE-A031-3B647EACA50C}"/>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Expand</a:t>
            </a:r>
          </a:p>
          <a:p>
            <a:pPr marL="279400" indent="0">
              <a:spcAft>
                <a:spcPts val="1125"/>
              </a:spcAft>
              <a:defRPr sz="2250" b="0">
                <a:solidFill>
                  <a:srgbClr val="12283C"/>
                </a:solidFill>
                <a:latin typeface="Segoe UI"/>
                <a:ea typeface="Segoe UI"/>
                <a:cs typeface="Segoe UI"/>
              </a:defRPr>
            </a:pPr>
            <a:r>
              <a:rPr sz="2025">
                <a:solidFill>
                  <a:srgbClr val="4E6271"/>
                </a:solidFill>
              </a:rPr>
              <a:t>Add the new fields while retaining the old field, so existing application code keeps working.</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Migrate</a:t>
            </a:r>
          </a:p>
          <a:p>
            <a:pPr marL="279400" indent="0">
              <a:spcAft>
                <a:spcPts val="1125"/>
              </a:spcAft>
              <a:defRPr sz="2250" b="0">
                <a:solidFill>
                  <a:srgbClr val="12283C"/>
                </a:solidFill>
                <a:latin typeface="Segoe UI"/>
                <a:ea typeface="Segoe UI"/>
                <a:cs typeface="Segoe UI"/>
              </a:defRPr>
            </a:pPr>
            <a:r>
              <a:rPr sz="2025">
                <a:solidFill>
                  <a:srgbClr val="4E6271"/>
                </a:solidFill>
              </a:rPr>
              <a:t>Backfill the data and upgrade instances gradually. Old and new code may run at the same time.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Validate</a:t>
            </a:r>
          </a:p>
          <a:p>
            <a:pPr marL="279400" indent="0">
              <a:spcAft>
                <a:spcPts val="1125"/>
              </a:spcAft>
              <a:defRPr sz="2250" b="0">
                <a:solidFill>
                  <a:srgbClr val="12283C"/>
                </a:solidFill>
                <a:latin typeface="Segoe UI"/>
                <a:ea typeface="Segoe UI"/>
                <a:cs typeface="Segoe UI"/>
              </a:defRPr>
            </a:pPr>
            <a:r>
              <a:rPr sz="2025">
                <a:solidFill>
                  <a:srgbClr val="4E6271"/>
                </a:solidFill>
              </a:rPr>
              <a:t>Check data consistency and confirm that old code is no longer in use. Keep transition-period writes correct.</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Contract</a:t>
            </a:r>
          </a:p>
          <a:p>
            <a:pPr marL="279400" indent="0">
              <a:spcAft>
                <a:spcPts val="0"/>
              </a:spcAft>
              <a:defRPr sz="2250" b="0">
                <a:solidFill>
                  <a:srgbClr val="12283C"/>
                </a:solidFill>
                <a:latin typeface="Segoe UI"/>
                <a:ea typeface="Segoe UI"/>
                <a:cs typeface="Segoe UI"/>
              </a:defRPr>
            </a:pPr>
            <a:r>
              <a:rPr sz="2025">
                <a:solidFill>
                  <a:srgbClr val="4E6271"/>
                </a:solidFill>
              </a:rPr>
              <a:t>Remove the old field after the rollback window closes and no remaining consumer requires it.</a:t>
            </a:r>
          </a:p>
        </p:txBody>
      </p:sp>
    </p:spTree>
    <p:extLst>
      <p:ext uri="{BB962C8B-B14F-4D97-AF65-F5344CB8AC3E}">
        <p14:creationId xmlns:p14="http://schemas.microsoft.com/office/powerpoint/2010/main" val="779056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3A53E86A-B8CE-4EBC-A20D-8E1F4A828F4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53E295D5-5DB0-4245-ACF4-BEFB21E6471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Microservices</a:t>
            </a:r>
          </a:p>
        </p:txBody>
      </p:sp>
      <p:sp>
        <p:nvSpPr>
          <p:cNvPr id="3" name="editable-bullet-list">
            <a:extLst>
              <a:ext uri="{FF2B5EF4-FFF2-40B4-BE49-F238E27FC236}">
                <a16:creationId xmlns:a16="http://schemas.microsoft.com/office/drawing/2014/main" id="{E73D50AC-1263-4A5E-8085-D3DDD1538C3D}"/>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system consists of services centered on distinct business capabilities.</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Each service can have its own release cycle when its contracts permit independent change.</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Services communicate through network interfaces or messages.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Each service may use a different implementation technology, at an operational cost.</a:t>
            </a:r>
          </a:p>
        </p:txBody>
      </p:sp>
    </p:spTree>
    <p:extLst>
      <p:ext uri="{BB962C8B-B14F-4D97-AF65-F5344CB8AC3E}">
        <p14:creationId xmlns:p14="http://schemas.microsoft.com/office/powerpoint/2010/main" val="2013332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58922E13-C933-4187-AD50-130974BD6E6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C01EEC27-AAC3-4A51-9581-CF479D343F4F}"/>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Scaling the whole application or a service</a:t>
            </a:r>
          </a:p>
        </p:txBody>
      </p:sp>
      <p:pic>
        <p:nvPicPr>
          <p:cNvPr id="9" name="Picture 8"/>
          <p:cNvPicPr>
            <a:picLocks noChangeAspect="1"/>
          </p:cNvPicPr>
          <p:nvPr/>
        </p:nvPicPr>
        <p:blipFill>
          <a:blip r:embed="rId3"/>
          <a:stretch/>
        </p:blipFill>
        <p:spPr>
          <a:xfrm>
            <a:off x="2616169" y="1676400"/>
            <a:ext cx="6959661" cy="4257675"/>
          </a:xfrm>
          <a:prstGeom prst="rect">
            <a:avLst/>
          </a:prstGeom>
        </p:spPr>
      </p:pic>
      <p:sp>
        <p:nvSpPr>
          <p:cNvPr id="4" name="image-attribution">
            <a:extLst>
              <a:ext uri="{FF2B5EF4-FFF2-40B4-BE49-F238E27FC236}">
                <a16:creationId xmlns:a16="http://schemas.microsoft.com/office/drawing/2014/main" id="{775A46ED-0FD0-4557-9C64-79BB5FAE4848}"/>
              </a:ext>
            </a:extLst>
          </p:cNvPr>
          <p:cNvSpPr>
            <a:spLocks noGrp="1"/>
          </p:cNvSpPr>
          <p:nvPr/>
        </p:nvSpPr>
        <p:spPr>
          <a:xfrm>
            <a:off x="819150" y="5991225"/>
            <a:ext cx="10553700"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James Lewis and Martin Fowler, “Microservices” (2014): deployment and scaling comparison.</a:t>
            </a:r>
          </a:p>
        </p:txBody>
      </p:sp>
    </p:spTree>
    <p:extLst>
      <p:ext uri="{BB962C8B-B14F-4D97-AF65-F5344CB8AC3E}">
        <p14:creationId xmlns:p14="http://schemas.microsoft.com/office/powerpoint/2010/main" val="354771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A8308C80-FFB0-42CE-843E-15D1B06BF0C6}"/>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D05141DC-CCA0-411C-8492-78C6AE4AF10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Monoliths and microservices: trade-offs</a:t>
            </a:r>
          </a:p>
        </p:txBody>
      </p:sp>
      <p:sp>
        <p:nvSpPr>
          <p:cNvPr id="3" name="editable-bullet-list">
            <a:extLst>
              <a:ext uri="{FF2B5EF4-FFF2-40B4-BE49-F238E27FC236}">
                <a16:creationId xmlns:a16="http://schemas.microsoft.com/office/drawing/2014/main" id="{7B2C7230-5B5D-4B32-BB14-8D3E9CCA061B}"/>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Release</a:t>
            </a:r>
          </a:p>
          <a:p>
            <a:pPr marL="279400" indent="0">
              <a:spcAft>
                <a:spcPts val="750"/>
              </a:spcAft>
              <a:defRPr sz="2025" b="0">
                <a:solidFill>
                  <a:srgbClr val="12283C"/>
                </a:solidFill>
                <a:latin typeface="Segoe UI"/>
                <a:ea typeface="Segoe UI"/>
                <a:cs typeface="Segoe UI"/>
              </a:defRPr>
            </a:pPr>
            <a:r>
              <a:rPr sz="1800">
                <a:solidFill>
                  <a:srgbClr val="4E6271"/>
                </a:solidFill>
              </a:rPr>
              <a:t>A monolith ships as one application. Separate microservice releases need compatible contracts.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Scaling</a:t>
            </a:r>
          </a:p>
          <a:p>
            <a:pPr marL="279400" indent="0">
              <a:spcAft>
                <a:spcPts val="750"/>
              </a:spcAft>
              <a:defRPr sz="2025" b="0">
                <a:solidFill>
                  <a:srgbClr val="12283C"/>
                </a:solidFill>
                <a:latin typeface="Segoe UI"/>
                <a:ea typeface="Segoe UI"/>
                <a:cs typeface="Segoe UI"/>
              </a:defRPr>
            </a:pPr>
            <a:r>
              <a:rPr sz="1800">
                <a:solidFill>
                  <a:srgbClr val="4E6271"/>
                </a:solidFill>
              </a:rPr>
              <a:t>A monolith scales through application replicas. Microservices can replicate selected services.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Communication</a:t>
            </a:r>
          </a:p>
          <a:p>
            <a:pPr marL="279400" indent="0">
              <a:spcAft>
                <a:spcPts val="750"/>
              </a:spcAft>
              <a:defRPr sz="2025" b="0">
                <a:solidFill>
                  <a:srgbClr val="12283C"/>
                </a:solidFill>
                <a:latin typeface="Segoe UI"/>
                <a:ea typeface="Segoe UI"/>
                <a:cs typeface="Segoe UI"/>
              </a:defRPr>
            </a:pPr>
            <a:r>
              <a:rPr sz="1800">
                <a:solidFill>
                  <a:srgbClr val="4E6271"/>
                </a:solidFill>
              </a:rPr>
              <a:t>Monolith modules mostly use local calls. Microservices communicate through remote calls or messages.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Data changes</a:t>
            </a:r>
          </a:p>
          <a:p>
            <a:pPr marL="279400" indent="0">
              <a:spcAft>
                <a:spcPts val="750"/>
              </a:spcAft>
              <a:defRPr sz="2025" b="0">
                <a:solidFill>
                  <a:srgbClr val="12283C"/>
                </a:solidFill>
                <a:latin typeface="Segoe UI"/>
                <a:ea typeface="Segoe UI"/>
                <a:cs typeface="Segoe UI"/>
              </a:defRPr>
            </a:pPr>
            <a:r>
              <a:rPr sz="1800">
                <a:solidFill>
                  <a:srgbClr val="4E6271"/>
                </a:solidFill>
              </a:rPr>
              <a:t>A single transaction boundary can simplify a monolith. Cross-service consistency needs explicit design.</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Operations</a:t>
            </a:r>
          </a:p>
          <a:p>
            <a:pPr marL="279400" indent="0">
              <a:spcAft>
                <a:spcPts val="0"/>
              </a:spcAft>
              <a:defRPr sz="2025" b="0">
                <a:solidFill>
                  <a:srgbClr val="12283C"/>
                </a:solidFill>
                <a:latin typeface="Segoe UI"/>
                <a:ea typeface="Segoe UI"/>
                <a:cs typeface="Segoe UI"/>
              </a:defRPr>
            </a:pPr>
            <a:r>
              <a:rPr sz="1800">
                <a:solidFill>
                  <a:srgbClr val="4E6271"/>
                </a:solidFill>
              </a:rPr>
              <a:t>A monolith has fewer running units to observe. Microservices add deployment, network, and tracing work.</a:t>
            </a:r>
          </a:p>
        </p:txBody>
      </p:sp>
    </p:spTree>
    <p:extLst>
      <p:ext uri="{BB962C8B-B14F-4D97-AF65-F5344CB8AC3E}">
        <p14:creationId xmlns:p14="http://schemas.microsoft.com/office/powerpoint/2010/main" val="96269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BDE070CC-0D30-4588-A4B6-EB7E18FC493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9CB529F3-E447-4E30-AD01-775A1037E73E}"/>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Service boundaries and the data tier</a:t>
            </a:r>
          </a:p>
        </p:txBody>
      </p:sp>
      <p:pic>
        <p:nvPicPr>
          <p:cNvPr id="10" name="Picture 9"/>
          <p:cNvPicPr>
            <a:picLocks noChangeAspect="1"/>
          </p:cNvPicPr>
          <p:nvPr/>
        </p:nvPicPr>
        <p:blipFill>
          <a:blip r:embed="rId3"/>
          <a:stretch/>
        </p:blipFill>
        <p:spPr>
          <a:xfrm>
            <a:off x="609600" y="1788551"/>
            <a:ext cx="5715000" cy="3347573"/>
          </a:xfrm>
          <a:prstGeom prst="rect">
            <a:avLst/>
          </a:prstGeom>
        </p:spPr>
      </p:pic>
      <p:sp>
        <p:nvSpPr>
          <p:cNvPr id="4" name="image-attribution">
            <a:extLst>
              <a:ext uri="{FF2B5EF4-FFF2-40B4-BE49-F238E27FC236}">
                <a16:creationId xmlns:a16="http://schemas.microsoft.com/office/drawing/2014/main" id="{B7FD38AE-6B04-4F71-AD9D-DF41AF3B8787}"/>
              </a:ext>
            </a:extLst>
          </p:cNvPr>
          <p:cNvSpPr>
            <a:spLocks noGrp="1"/>
          </p:cNvSpPr>
          <p:nvPr/>
        </p:nvSpPr>
        <p:spPr>
          <a:xfrm>
            <a:off x="609600" y="5257800"/>
            <a:ext cx="5715000"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Lewis and Fowler: centralized and decentralized data ownership.</a:t>
            </a:r>
          </a:p>
        </p:txBody>
      </p:sp>
      <p:sp>
        <p:nvSpPr>
          <p:cNvPr id="5" name="editable-bullet-list">
            <a:extLst>
              <a:ext uri="{FF2B5EF4-FFF2-40B4-BE49-F238E27FC236}">
                <a16:creationId xmlns:a16="http://schemas.microsoft.com/office/drawing/2014/main" id="{98C8BB9F-0BFF-4512-B9D3-D2710D8D621B}"/>
              </a:ext>
            </a:extLst>
          </p:cNvPr>
          <p:cNvSpPr>
            <a:spLocks noGrp="1"/>
          </p:cNvSpPr>
          <p:nvPr/>
        </p:nvSpPr>
        <p:spPr>
          <a:xfrm>
            <a:off x="6762750" y="1781175"/>
            <a:ext cx="4762500" cy="4286250"/>
          </a:xfrm>
          <a:prstGeom prst="rect">
            <a:avLst/>
          </a:prstGeom>
          <a:noFill/>
          <a:ln w="0">
            <a:noFill/>
          </a:ln>
        </p:spPr>
        <p:txBody>
          <a:bodyPr wrap="square" lIns="0" tIns="0" rIns="0" bIns="0" anchor="t">
            <a:noAutofit/>
          </a:bodyPr>
          <a:lstStyle/>
          <a:p>
            <a:pPr marL="279400" indent="-165100">
              <a:spcAft>
                <a:spcPts val="1425"/>
              </a:spcAft>
              <a:buChar char="•"/>
              <a:defRPr sz="2100" b="0">
                <a:solidFill>
                  <a:srgbClr val="12283C"/>
                </a:solidFill>
                <a:latin typeface="Segoe UI"/>
                <a:ea typeface="Segoe UI"/>
                <a:cs typeface="Segoe UI"/>
              </a:defRPr>
            </a:pPr>
            <a:r>
              <a:rPr sz="2100" b="0">
                <a:solidFill>
                  <a:srgbClr val="12283C"/>
                </a:solidFill>
              </a:rPr>
              <a:t>A service should own a coherent capability and the rules around its data.</a:t>
            </a:r>
          </a:p>
          <a:p>
            <a:pPr marL="279400" indent="-165100">
              <a:spcAft>
                <a:spcPts val="1425"/>
              </a:spcAft>
              <a:buChar char="•"/>
              <a:defRPr sz="2100" b="0">
                <a:solidFill>
                  <a:srgbClr val="12283C"/>
                </a:solidFill>
                <a:latin typeface="Segoe UI"/>
                <a:ea typeface="Segoe UI"/>
                <a:cs typeface="Segoe UI"/>
              </a:defRPr>
            </a:pPr>
            <a:r>
              <a:rPr sz="2100" b="0">
                <a:solidFill>
                  <a:srgbClr val="12283C"/>
                </a:solidFill>
              </a:rPr>
              <a:t>Other services use its interface instead of modifying its private tables.</a:t>
            </a:r>
          </a:p>
          <a:p>
            <a:pPr marL="279400" indent="-165100">
              <a:spcAft>
                <a:spcPts val="0"/>
              </a:spcAft>
              <a:buChar char="•"/>
              <a:defRPr sz="2100" b="0">
                <a:solidFill>
                  <a:srgbClr val="12283C"/>
                </a:solidFill>
                <a:latin typeface="Segoe UI"/>
                <a:ea typeface="Segoe UI"/>
                <a:cs typeface="Segoe UI"/>
              </a:defRPr>
            </a:pPr>
            <a:r>
              <a:rPr sz="2100" b="0">
                <a:solidFill>
                  <a:srgbClr val="12283C"/>
                </a:solidFill>
              </a:rPr>
              <a:t>A shared physical database can still contain logically separated ownership.</a:t>
            </a:r>
          </a:p>
        </p:txBody>
      </p:sp>
    </p:spTree>
    <p:extLst>
      <p:ext uri="{BB962C8B-B14F-4D97-AF65-F5344CB8AC3E}">
        <p14:creationId xmlns:p14="http://schemas.microsoft.com/office/powerpoint/2010/main" val="989686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A6917685-C7E7-4E6F-B22D-2DA65CCBF32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AC643FF7-05B3-4EE7-9ABB-2C66CD68F7D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Compatible service interfaces</a:t>
            </a:r>
          </a:p>
        </p:txBody>
      </p:sp>
      <p:sp>
        <p:nvSpPr>
          <p:cNvPr id="3" name="code-label">
            <a:extLst>
              <a:ext uri="{FF2B5EF4-FFF2-40B4-BE49-F238E27FC236}">
                <a16:creationId xmlns:a16="http://schemas.microsoft.com/office/drawing/2014/main" id="{5B2D942B-165F-481C-82BB-5AA7A90F7BB4}"/>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Illustrative API responses</a:t>
            </a:r>
          </a:p>
        </p:txBody>
      </p:sp>
      <p:sp>
        <p:nvSpPr>
          <p:cNvPr id="4" name="editable-code">
            <a:extLst>
              <a:ext uri="{FF2B5EF4-FFF2-40B4-BE49-F238E27FC236}">
                <a16:creationId xmlns:a16="http://schemas.microsoft.com/office/drawing/2014/main" id="{DD4A8C50-82E3-45D5-80E5-BDA12F8F4FB2}"/>
              </a:ext>
            </a:extLst>
          </p:cNvPr>
          <p:cNvSpPr>
            <a:spLocks noGrp="1"/>
          </p:cNvSpPr>
          <p:nvPr/>
        </p:nvSpPr>
        <p:spPr>
          <a:xfrm>
            <a:off x="609600" y="2028825"/>
            <a:ext cx="10934700" cy="176326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Version 1</a:t>
            </a:r>
          </a:p>
          <a:p>
            <a:pPr>
              <a:defRPr sz="1800" b="0">
                <a:solidFill>
                  <a:srgbClr val="12283C"/>
                </a:solidFill>
                <a:latin typeface="Consolas"/>
                <a:ea typeface="Consolas"/>
                <a:cs typeface="Consolas"/>
              </a:defRPr>
            </a:pPr>
            <a:r>
              <a:t>{"id": 42, "name": "Amina"}</a:t>
            </a:r>
          </a:p>
          <a:p>
            <a:pPr>
              <a:defRPr sz="1800" b="0">
                <a:solidFill>
                  <a:srgbClr val="12283C"/>
                </a:solidFill>
                <a:latin typeface="Consolas"/>
                <a:ea typeface="Consolas"/>
                <a:cs typeface="Consolas"/>
              </a:defRPr>
            </a:pPr>
            <a:endParaRPr/>
          </a:p>
          <a:p>
            <a:pPr>
              <a:defRPr sz="1800" b="0">
                <a:solidFill>
                  <a:srgbClr val="12283C"/>
                </a:solidFill>
                <a:latin typeface="Consolas"/>
                <a:ea typeface="Consolas"/>
                <a:cs typeface="Consolas"/>
              </a:defRPr>
            </a:pPr>
            <a:r>
              <a:t>Version 2</a:t>
            </a:r>
          </a:p>
          <a:p>
            <a:pPr>
              <a:defRPr sz="1800" b="0">
                <a:solidFill>
                  <a:srgbClr val="12283C"/>
                </a:solidFill>
                <a:latin typeface="Consolas"/>
                <a:ea typeface="Consolas"/>
                <a:cs typeface="Consolas"/>
              </a:defRPr>
            </a:pPr>
            <a:r>
              <a:t>{"id": 42, "name": "Amina",</a:t>
            </a:r>
          </a:p>
          <a:p>
            <a:pPr>
              <a:defRPr sz="1800" b="0">
                <a:solidFill>
                  <a:srgbClr val="12283C"/>
                </a:solidFill>
                <a:latin typeface="Consolas"/>
                <a:ea typeface="Consolas"/>
                <a:cs typeface="Consolas"/>
              </a:defRPr>
            </a:pPr>
            <a:r>
              <a:t> "status": "active"}</a:t>
            </a:r>
          </a:p>
        </p:txBody>
      </p:sp>
      <p:sp>
        <p:nvSpPr>
          <p:cNvPr id="5" name="editable-bullet-list">
            <a:extLst>
              <a:ext uri="{FF2B5EF4-FFF2-40B4-BE49-F238E27FC236}">
                <a16:creationId xmlns:a16="http://schemas.microsoft.com/office/drawing/2014/main" id="{AC5DAFA2-F7B5-449C-8ABE-9499EA9F9DEC}"/>
              </a:ext>
            </a:extLst>
          </p:cNvPr>
          <p:cNvSpPr>
            <a:spLocks noGrp="1"/>
          </p:cNvSpPr>
          <p:nvPr/>
        </p:nvSpPr>
        <p:spPr>
          <a:xfrm>
            <a:off x="609600" y="3925443"/>
            <a:ext cx="10934700" cy="2342007"/>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tolerant reader uses the fields it understands.</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Adding an optional field can preserve existing consumers.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Removing a required field or changing its meaning can break them.</a:t>
            </a:r>
          </a:p>
        </p:txBody>
      </p:sp>
    </p:spTree>
    <p:extLst>
      <p:ext uri="{BB962C8B-B14F-4D97-AF65-F5344CB8AC3E}">
        <p14:creationId xmlns:p14="http://schemas.microsoft.com/office/powerpoint/2010/main" val="31618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5E3F1FD1-0CC2-484B-A918-1D4C6EC261E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Architecture</a:t>
            </a:r>
          </a:p>
        </p:txBody>
      </p:sp>
      <p:sp>
        <p:nvSpPr>
          <p:cNvPr id="2" name="slide-title">
            <a:extLst>
              <a:ext uri="{FF2B5EF4-FFF2-40B4-BE49-F238E27FC236}">
                <a16:creationId xmlns:a16="http://schemas.microsoft.com/office/drawing/2014/main" id="{6017278B-9973-4100-B0E1-28B03BBB1FF5}"/>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Conway’s Law and team ownership</a:t>
            </a:r>
          </a:p>
        </p:txBody>
      </p:sp>
      <p:sp>
        <p:nvSpPr>
          <p:cNvPr id="3" name="editable-bullet-list">
            <a:extLst>
              <a:ext uri="{FF2B5EF4-FFF2-40B4-BE49-F238E27FC236}">
                <a16:creationId xmlns:a16="http://schemas.microsoft.com/office/drawing/2014/main" id="{4A12406A-1176-45B5-B9F0-43E436E05D26}"/>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Teams divided by technical layer</a:t>
            </a:r>
          </a:p>
          <a:p>
            <a:pPr marL="279400" indent="0">
              <a:spcAft>
                <a:spcPts val="1425"/>
              </a:spcAft>
              <a:defRPr sz="2325" b="0">
                <a:solidFill>
                  <a:srgbClr val="12283C"/>
                </a:solidFill>
                <a:latin typeface="Segoe UI"/>
                <a:ea typeface="Segoe UI"/>
                <a:cs typeface="Segoe UI"/>
              </a:defRPr>
            </a:pPr>
            <a:r>
              <a:rPr sz="2100">
                <a:solidFill>
                  <a:srgbClr val="4E6271"/>
                </a:solidFill>
              </a:rPr>
              <a:t>Separate frontend, backend, database, and operations teams can create several handoffs for one customer feature.</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A cross-functional capability team</a:t>
            </a:r>
          </a:p>
          <a:p>
            <a:pPr marL="279400" indent="0">
              <a:spcAft>
                <a:spcPts val="1425"/>
              </a:spcAft>
              <a:defRPr sz="2325" b="0">
                <a:solidFill>
                  <a:srgbClr val="12283C"/>
                </a:solidFill>
                <a:latin typeface="Segoe UI"/>
                <a:ea typeface="Segoe UI"/>
                <a:cs typeface="Segoe UI"/>
              </a:defRPr>
            </a:pPr>
            <a:r>
              <a:rPr sz="2100">
                <a:solidFill>
                  <a:srgbClr val="4E6271"/>
                </a:solidFill>
              </a:rPr>
              <a:t>One team can coordinate its code, tests, deployment, and operational feedback.</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Several service teams</a:t>
            </a:r>
          </a:p>
          <a:p>
            <a:pPr marL="279400" indent="0">
              <a:spcAft>
                <a:spcPts val="0"/>
              </a:spcAft>
              <a:defRPr sz="2325" b="0">
                <a:solidFill>
                  <a:srgbClr val="12283C"/>
                </a:solidFill>
                <a:latin typeface="Segoe UI"/>
                <a:ea typeface="Segoe UI"/>
                <a:cs typeface="Segoe UI"/>
              </a:defRPr>
            </a:pPr>
            <a:r>
              <a:rPr sz="2100">
                <a:solidFill>
                  <a:srgbClr val="4E6271"/>
                </a:solidFill>
              </a:rPr>
              <a:t>Independent ownership still requires shared standards and agreement on service interfaces.</a:t>
            </a:r>
          </a:p>
        </p:txBody>
      </p:sp>
      <p:sp>
        <p:nvSpPr>
          <p:cNvPr id="4" name="key-point">
            <a:extLst>
              <a:ext uri="{FF2B5EF4-FFF2-40B4-BE49-F238E27FC236}">
                <a16:creationId xmlns:a16="http://schemas.microsoft.com/office/drawing/2014/main" id="{B825F3F9-8ECA-4B1E-B07B-9684B06EF90E}"/>
              </a:ext>
            </a:extLst>
          </p:cNvPr>
          <p:cNvSpPr>
            <a:spLocks noGrp="1"/>
          </p:cNvSpPr>
          <p:nvPr/>
        </p:nvSpPr>
        <p:spPr>
          <a:xfrm>
            <a:off x="628650" y="5819775"/>
            <a:ext cx="10896600" cy="42862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Team boundaries influence software boundaries, but they do not determine a single correct architecture.</a:t>
            </a:r>
          </a:p>
        </p:txBody>
      </p:sp>
    </p:spTree>
    <p:extLst>
      <p:ext uri="{BB962C8B-B14F-4D97-AF65-F5344CB8AC3E}">
        <p14:creationId xmlns:p14="http://schemas.microsoft.com/office/powerpoint/2010/main" val="10320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C0E190DD-A0C2-4B73-A01C-AB61D72962CB}"/>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DFB11750-2A3F-4CC1-B2DD-D7A7676935C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Packaging the execution environment</a:t>
            </a:r>
          </a:p>
        </p:txBody>
      </p:sp>
      <p:sp>
        <p:nvSpPr>
          <p:cNvPr id="3" name="editable-bullet-list">
            <a:extLst>
              <a:ext uri="{FF2B5EF4-FFF2-40B4-BE49-F238E27FC236}">
                <a16:creationId xmlns:a16="http://schemas.microsoft.com/office/drawing/2014/main" id="{C529A493-C9AE-4760-8164-18B19DFED514}"/>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425"/>
              </a:spcAft>
              <a:buChar char="•"/>
              <a:defRPr sz="2325" b="0">
                <a:solidFill>
                  <a:srgbClr val="12283C"/>
                </a:solidFill>
                <a:latin typeface="Segoe UI"/>
                <a:ea typeface="Segoe UI"/>
                <a:cs typeface="Segoe UI"/>
              </a:defRPr>
            </a:pPr>
            <a:r>
              <a:rPr sz="2325" b="0">
                <a:solidFill>
                  <a:srgbClr val="12283C"/>
                </a:solidFill>
              </a:rPr>
              <a:t>Containers address application packaging and process isolation.</a:t>
            </a:r>
          </a:p>
          <a:p>
            <a:pPr marL="279400" indent="-165100">
              <a:spcAft>
                <a:spcPts val="0"/>
              </a:spcAft>
              <a:buChar char="•"/>
              <a:defRPr sz="2325" b="0">
                <a:solidFill>
                  <a:srgbClr val="12283C"/>
                </a:solidFill>
                <a:latin typeface="Segoe UI"/>
                <a:ea typeface="Segoe UI"/>
                <a:cs typeface="Segoe UI"/>
              </a:defRPr>
            </a:pPr>
            <a:r>
              <a:rPr sz="2325" b="0">
                <a:solidFill>
                  <a:srgbClr val="12283C"/>
                </a:solidFill>
              </a:rPr>
              <a:t>The next question is what an application needs in order to run predictably on another machine.</a:t>
            </a:r>
          </a:p>
        </p:txBody>
      </p:sp>
    </p:spTree>
    <p:extLst>
      <p:ext uri="{BB962C8B-B14F-4D97-AF65-F5344CB8AC3E}">
        <p14:creationId xmlns:p14="http://schemas.microsoft.com/office/powerpoint/2010/main" val="207568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DE4B09D1-67F9-4AB9-AE8A-6440A58AF620}"/>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43D94F96-BEE3-476E-B811-8E2B2E297181}"/>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Dependency drift across environments</a:t>
            </a:r>
          </a:p>
        </p:txBody>
      </p:sp>
      <p:sp>
        <p:nvSpPr>
          <p:cNvPr id="3" name="editable-bullet-list">
            <a:extLst>
              <a:ext uri="{FF2B5EF4-FFF2-40B4-BE49-F238E27FC236}">
                <a16:creationId xmlns:a16="http://schemas.microsoft.com/office/drawing/2014/main" id="{CD25405D-73A1-4EA8-ABC4-2CEDDCBBF97E}"/>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Language runtime</a:t>
            </a:r>
          </a:p>
          <a:p>
            <a:pPr marL="279400" indent="0">
              <a:spcAft>
                <a:spcPts val="1125"/>
              </a:spcAft>
              <a:defRPr sz="2250" b="0">
                <a:solidFill>
                  <a:srgbClr val="12283C"/>
                </a:solidFill>
                <a:latin typeface="Segoe UI"/>
                <a:ea typeface="Segoe UI"/>
                <a:cs typeface="Segoe UI"/>
              </a:defRPr>
            </a:pPr>
            <a:r>
              <a:rPr sz="2025">
                <a:solidFill>
                  <a:srgbClr val="4E6271"/>
                </a:solidFill>
              </a:rPr>
              <a:t>Different Python or Java versions can change behavior. Choose a runtime base image.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System libraries</a:t>
            </a:r>
          </a:p>
          <a:p>
            <a:pPr marL="279400" indent="0">
              <a:spcAft>
                <a:spcPts val="1125"/>
              </a:spcAft>
              <a:defRPr sz="2250" b="0">
                <a:solidFill>
                  <a:srgbClr val="12283C"/>
                </a:solidFill>
                <a:latin typeface="Segoe UI"/>
                <a:ea typeface="Segoe UI"/>
                <a:cs typeface="Segoe UI"/>
              </a:defRPr>
            </a:pPr>
            <a:r>
              <a:rPr sz="2025">
                <a:solidFill>
                  <a:srgbClr val="4E6271"/>
                </a:solidFill>
              </a:rPr>
              <a:t>Different library versions can break compatibility. Include the required user-space packages.</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Application files</a:t>
            </a:r>
          </a:p>
          <a:p>
            <a:pPr marL="279400" indent="0">
              <a:spcAft>
                <a:spcPts val="1125"/>
              </a:spcAft>
              <a:defRPr sz="2250" b="0">
                <a:solidFill>
                  <a:srgbClr val="12283C"/>
                </a:solidFill>
                <a:latin typeface="Segoe UI"/>
                <a:ea typeface="Segoe UI"/>
                <a:cs typeface="Segoe UI"/>
              </a:defRPr>
            </a:pPr>
            <a:r>
              <a:rPr sz="2025">
                <a:solidFill>
                  <a:srgbClr val="4E6271"/>
                </a:solidFill>
              </a:rPr>
              <a:t>Manual copying can miss or alter files. Build a versioned image from reviewed source.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Configuration and data</a:t>
            </a:r>
          </a:p>
          <a:p>
            <a:pPr marL="279400" indent="0">
              <a:spcAft>
                <a:spcPts val="0"/>
              </a:spcAft>
              <a:defRPr sz="2250" b="0">
                <a:solidFill>
                  <a:srgbClr val="12283C"/>
                </a:solidFill>
                <a:latin typeface="Segoe UI"/>
                <a:ea typeface="Segoe UI"/>
                <a:cs typeface="Segoe UI"/>
              </a:defRPr>
            </a:pPr>
            <a:r>
              <a:rPr sz="2025">
                <a:solidFill>
                  <a:srgbClr val="4E6271"/>
                </a:solidFill>
              </a:rPr>
              <a:t>Credentials and records vary by environment. Supply configuration and storage at runtime.</a:t>
            </a:r>
          </a:p>
        </p:txBody>
      </p:sp>
    </p:spTree>
    <p:extLst>
      <p:ext uri="{BB962C8B-B14F-4D97-AF65-F5344CB8AC3E}">
        <p14:creationId xmlns:p14="http://schemas.microsoft.com/office/powerpoint/2010/main" val="208515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6AF698BC-1D28-4AE5-B44D-14D1566F8BA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345A07DA-6C54-48CC-AD53-11C4D62D5EB2}"/>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container is an isolated process environment</a:t>
            </a:r>
          </a:p>
        </p:txBody>
      </p:sp>
      <p:sp>
        <p:nvSpPr>
          <p:cNvPr id="3" name="editable-bullet-list">
            <a:extLst>
              <a:ext uri="{FF2B5EF4-FFF2-40B4-BE49-F238E27FC236}">
                <a16:creationId xmlns:a16="http://schemas.microsoft.com/office/drawing/2014/main" id="{463C293C-AC31-44DF-9D4C-E6CA269D5B71}"/>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dirty="0">
                <a:solidFill>
                  <a:srgbClr val="12283C"/>
                </a:solidFill>
              </a:rPr>
              <a:t>The container runs one or more application processes.</a:t>
            </a:r>
          </a:p>
          <a:p>
            <a:pPr marL="279400" indent="-165100">
              <a:spcAft>
                <a:spcPts val="1125"/>
              </a:spcAft>
              <a:buChar char="•"/>
              <a:defRPr sz="2250" b="0">
                <a:solidFill>
                  <a:srgbClr val="12283C"/>
                </a:solidFill>
                <a:latin typeface="Segoe UI"/>
                <a:ea typeface="Segoe UI"/>
                <a:cs typeface="Segoe UI"/>
              </a:defRPr>
            </a:pPr>
            <a:r>
              <a:rPr sz="2250" b="0" dirty="0">
                <a:solidFill>
                  <a:srgbClr val="12283C"/>
                </a:solidFill>
              </a:rPr>
              <a:t>Its image supplies application files, libraries, and user-space tools.</a:t>
            </a:r>
          </a:p>
          <a:p>
            <a:pPr marL="279400" indent="-165100">
              <a:spcAft>
                <a:spcPts val="1125"/>
              </a:spcAft>
              <a:buChar char="•"/>
              <a:defRPr sz="2250" b="0">
                <a:solidFill>
                  <a:srgbClr val="12283C"/>
                </a:solidFill>
                <a:latin typeface="Segoe UI"/>
                <a:ea typeface="Segoe UI"/>
                <a:cs typeface="Segoe UI"/>
              </a:defRPr>
            </a:pPr>
            <a:r>
              <a:rPr sz="2250" b="0" dirty="0">
                <a:solidFill>
                  <a:srgbClr val="12283C"/>
                </a:solidFill>
              </a:rPr>
              <a:t>Linux containers use the Linux kernel of the environment hosting them.</a:t>
            </a:r>
          </a:p>
          <a:p>
            <a:pPr marL="279400" indent="-165100">
              <a:spcAft>
                <a:spcPts val="0"/>
              </a:spcAft>
              <a:buChar char="•"/>
              <a:defRPr sz="2250" b="0">
                <a:solidFill>
                  <a:srgbClr val="12283C"/>
                </a:solidFill>
                <a:latin typeface="Segoe UI"/>
                <a:ea typeface="Segoe UI"/>
                <a:cs typeface="Segoe UI"/>
              </a:defRPr>
            </a:pPr>
            <a:r>
              <a:rPr sz="2250" b="0" dirty="0">
                <a:solidFill>
                  <a:srgbClr val="12283C"/>
                </a:solidFill>
              </a:rPr>
              <a:t>Isolation controls process views and access, while resource controls constrain usage.</a:t>
            </a:r>
          </a:p>
        </p:txBody>
      </p:sp>
    </p:spTree>
    <p:extLst>
      <p:ext uri="{BB962C8B-B14F-4D97-AF65-F5344CB8AC3E}">
        <p14:creationId xmlns:p14="http://schemas.microsoft.com/office/powerpoint/2010/main" val="706656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8112DFE9-4480-4656-8F70-976A84A54B6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66FE4B9B-EF80-4944-B185-C6CDEAD4AF7E}"/>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Virtual machines and containers</a:t>
            </a:r>
          </a:p>
        </p:txBody>
      </p:sp>
      <p:sp>
        <p:nvSpPr>
          <p:cNvPr id="3" name="editable-bullet-list">
            <a:extLst>
              <a:ext uri="{FF2B5EF4-FFF2-40B4-BE49-F238E27FC236}">
                <a16:creationId xmlns:a16="http://schemas.microsoft.com/office/drawing/2014/main" id="{251EF89E-27F3-4AAE-B605-5274288BFE0D}"/>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Isolation unit</a:t>
            </a:r>
          </a:p>
          <a:p>
            <a:pPr marL="279400" indent="0">
              <a:spcAft>
                <a:spcPts val="750"/>
              </a:spcAft>
              <a:defRPr sz="2025" b="0">
                <a:solidFill>
                  <a:srgbClr val="12283C"/>
                </a:solidFill>
                <a:latin typeface="Segoe UI"/>
                <a:ea typeface="Segoe UI"/>
                <a:cs typeface="Segoe UI"/>
              </a:defRPr>
            </a:pPr>
            <a:r>
              <a:rPr sz="1800">
                <a:solidFill>
                  <a:srgbClr val="4E6271"/>
                </a:solidFill>
              </a:rPr>
              <a:t>A VM provides virtual hardware and a guest OS. A Linux container provides an isolated process environment.</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Kernel</a:t>
            </a:r>
          </a:p>
          <a:p>
            <a:pPr marL="279400" indent="0">
              <a:spcAft>
                <a:spcPts val="750"/>
              </a:spcAft>
              <a:defRPr sz="2025" b="0">
                <a:solidFill>
                  <a:srgbClr val="12283C"/>
                </a:solidFill>
                <a:latin typeface="Segoe UI"/>
                <a:ea typeface="Segoe UI"/>
                <a:cs typeface="Segoe UI"/>
              </a:defRPr>
            </a:pPr>
            <a:r>
              <a:rPr sz="1800">
                <a:solidFill>
                  <a:srgbClr val="4E6271"/>
                </a:solidFill>
              </a:rPr>
              <a:t>Each VM supplies a guest kernel. Linux containers share the kernel of their hosting Linux environment.</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Packaging</a:t>
            </a:r>
          </a:p>
          <a:p>
            <a:pPr marL="279400" indent="0">
              <a:spcAft>
                <a:spcPts val="750"/>
              </a:spcAft>
              <a:defRPr sz="2025" b="0">
                <a:solidFill>
                  <a:srgbClr val="12283C"/>
                </a:solidFill>
                <a:latin typeface="Segoe UI"/>
                <a:ea typeface="Segoe UI"/>
                <a:cs typeface="Segoe UI"/>
              </a:defRPr>
            </a:pPr>
            <a:r>
              <a:rPr sz="1800">
                <a:solidFill>
                  <a:srgbClr val="4E6271"/>
                </a:solidFill>
              </a:rPr>
              <a:t>A VM includes a guest OS and applications. A container image packages the application and user-space dependencies.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Startup work</a:t>
            </a:r>
          </a:p>
          <a:p>
            <a:pPr marL="279400" indent="0">
              <a:spcAft>
                <a:spcPts val="750"/>
              </a:spcAft>
              <a:defRPr sz="2025" b="0">
                <a:solidFill>
                  <a:srgbClr val="12283C"/>
                </a:solidFill>
                <a:latin typeface="Segoe UI"/>
                <a:ea typeface="Segoe UI"/>
                <a:cs typeface="Segoe UI"/>
              </a:defRPr>
            </a:pPr>
            <a:r>
              <a:rPr sz="1800">
                <a:solidFill>
                  <a:srgbClr val="4E6271"/>
                </a:solidFill>
              </a:rPr>
              <a:t>A VM boots its guest OS and services. An application container starts its application process.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Trade-off</a:t>
            </a:r>
          </a:p>
          <a:p>
            <a:pPr marL="279400" indent="0">
              <a:spcAft>
                <a:spcPts val="0"/>
              </a:spcAft>
              <a:defRPr sz="2025" b="0">
                <a:solidFill>
                  <a:srgbClr val="12283C"/>
                </a:solidFill>
                <a:latin typeface="Segoe UI"/>
                <a:ea typeface="Segoe UI"/>
                <a:cs typeface="Segoe UI"/>
              </a:defRPr>
            </a:pPr>
            <a:r>
              <a:rPr sz="1800">
                <a:solidFill>
                  <a:srgbClr val="4E6271"/>
                </a:solidFill>
              </a:rPr>
              <a:t>VMs separate guest environments with more OS overhead. Containers share resources efficiently across a shared-kernel boundary.</a:t>
            </a:r>
          </a:p>
        </p:txBody>
      </p:sp>
    </p:spTree>
    <p:extLst>
      <p:ext uri="{BB962C8B-B14F-4D97-AF65-F5344CB8AC3E}">
        <p14:creationId xmlns:p14="http://schemas.microsoft.com/office/powerpoint/2010/main" val="142586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BD50E3F1-3AA4-48BB-B823-BD0BFAB30B53}"/>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A1838DF7-E7C4-4809-9B94-4FB3A2DAC83D}"/>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Where the Linux kernel lives</a:t>
            </a:r>
          </a:p>
        </p:txBody>
      </p:sp>
      <p:sp>
        <p:nvSpPr>
          <p:cNvPr id="3" name="editable-bullet-list">
            <a:extLst>
              <a:ext uri="{FF2B5EF4-FFF2-40B4-BE49-F238E27FC236}">
                <a16:creationId xmlns:a16="http://schemas.microsoft.com/office/drawing/2014/main" id="{5050CD3D-E17E-4763-A126-B013DDF9902F}"/>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Engine on a Linux server</a:t>
            </a:r>
          </a:p>
          <a:p>
            <a:pPr marL="279400" indent="0">
              <a:spcAft>
                <a:spcPts val="1125"/>
              </a:spcAft>
              <a:defRPr sz="2250" b="0">
                <a:solidFill>
                  <a:srgbClr val="12283C"/>
                </a:solidFill>
                <a:latin typeface="Segoe UI"/>
                <a:ea typeface="Segoe UI"/>
                <a:cs typeface="Segoe UI"/>
              </a:defRPr>
            </a:pPr>
            <a:r>
              <a:rPr sz="2025">
                <a:solidFill>
                  <a:srgbClr val="4E6271"/>
                </a:solidFill>
              </a:rPr>
              <a:t>Containers use that server’s Linux kernel.</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Engine inside a Linux cloud VM</a:t>
            </a:r>
          </a:p>
          <a:p>
            <a:pPr marL="279400" indent="0">
              <a:spcAft>
                <a:spcPts val="1125"/>
              </a:spcAft>
              <a:defRPr sz="2250" b="0">
                <a:solidFill>
                  <a:srgbClr val="12283C"/>
                </a:solidFill>
                <a:latin typeface="Segoe UI"/>
                <a:ea typeface="Segoe UI"/>
                <a:cs typeface="Segoe UI"/>
              </a:defRPr>
            </a:pPr>
            <a:r>
              <a:rPr sz="2025">
                <a:solidFill>
                  <a:srgbClr val="4E6271"/>
                </a:solidFill>
              </a:rPr>
              <a:t>Containers use the VM’s guest Linux kernel.</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Desktop on Windows with WSL 2</a:t>
            </a:r>
          </a:p>
          <a:p>
            <a:pPr marL="279400" indent="0">
              <a:spcAft>
                <a:spcPts val="1125"/>
              </a:spcAft>
              <a:defRPr sz="2250" b="0">
                <a:solidFill>
                  <a:srgbClr val="12283C"/>
                </a:solidFill>
                <a:latin typeface="Segoe UI"/>
                <a:ea typeface="Segoe UI"/>
                <a:cs typeface="Segoe UI"/>
              </a:defRPr>
            </a:pPr>
            <a:r>
              <a:rPr sz="2025">
                <a:solidFill>
                  <a:srgbClr val="4E6271"/>
                </a:solidFill>
              </a:rPr>
              <a:t>Linux containers use the Linux kernel provided by the WSL 2 environment.</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Desktop on macOS</a:t>
            </a:r>
          </a:p>
          <a:p>
            <a:pPr marL="279400" indent="0">
              <a:spcAft>
                <a:spcPts val="0"/>
              </a:spcAft>
              <a:defRPr sz="2250" b="0">
                <a:solidFill>
                  <a:srgbClr val="12283C"/>
                </a:solidFill>
                <a:latin typeface="Segoe UI"/>
                <a:ea typeface="Segoe UI"/>
                <a:cs typeface="Segoe UI"/>
              </a:defRPr>
            </a:pPr>
            <a:r>
              <a:rPr sz="2025">
                <a:solidFill>
                  <a:srgbClr val="4E6271"/>
                </a:solidFill>
              </a:rPr>
              <a:t>Linux containers use the kernel in the Linux VM managed by Docker Desktop.</a:t>
            </a:r>
          </a:p>
        </p:txBody>
      </p:sp>
      <p:sp>
        <p:nvSpPr>
          <p:cNvPr id="4" name="key-point">
            <a:extLst>
              <a:ext uri="{FF2B5EF4-FFF2-40B4-BE49-F238E27FC236}">
                <a16:creationId xmlns:a16="http://schemas.microsoft.com/office/drawing/2014/main" id="{62EC3E0F-DADB-439F-B76F-E9F87D0F1FBE}"/>
              </a:ext>
            </a:extLst>
          </p:cNvPr>
          <p:cNvSpPr>
            <a:spLocks noGrp="1"/>
          </p:cNvSpPr>
          <p:nvPr/>
        </p:nvSpPr>
        <p:spPr>
          <a:xfrm>
            <a:off x="628650" y="5819775"/>
            <a:ext cx="10896600" cy="42862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rPr dirty="0"/>
              <a:t>A container image’s distribution label describes user space. It does not install a separate guest kernel.</a:t>
            </a:r>
          </a:p>
        </p:txBody>
      </p:sp>
    </p:spTree>
    <p:extLst>
      <p:ext uri="{BB962C8B-B14F-4D97-AF65-F5344CB8AC3E}">
        <p14:creationId xmlns:p14="http://schemas.microsoft.com/office/powerpoint/2010/main" val="1504671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CCF18E60-7922-42AD-93EE-CD68FD3488BF}"/>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39CDFE43-058D-41B0-965E-E8371110755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Images, containers, and registries</a:t>
            </a:r>
          </a:p>
        </p:txBody>
      </p:sp>
      <p:sp>
        <p:nvSpPr>
          <p:cNvPr id="3" name="editable-bullet-list">
            <a:extLst>
              <a:ext uri="{FF2B5EF4-FFF2-40B4-BE49-F238E27FC236}">
                <a16:creationId xmlns:a16="http://schemas.microsoft.com/office/drawing/2014/main" id="{6251EA3F-1800-4A30-BCF1-1A47CE49D4F3}"/>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Image</a:t>
            </a:r>
          </a:p>
          <a:p>
            <a:pPr marL="279400" indent="0">
              <a:spcAft>
                <a:spcPts val="1125"/>
              </a:spcAft>
              <a:defRPr sz="2250" b="0">
                <a:solidFill>
                  <a:srgbClr val="12283C"/>
                </a:solidFill>
                <a:latin typeface="Segoe UI"/>
                <a:ea typeface="Segoe UI"/>
                <a:cs typeface="Segoe UI"/>
              </a:defRPr>
            </a:pPr>
            <a:r>
              <a:rPr sz="2025">
                <a:solidFill>
                  <a:srgbClr val="4E6271"/>
                </a:solidFill>
              </a:rPr>
              <a:t>Read-only filesystem content and configuration, such as a Python runtime together with app.py.</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Container</a:t>
            </a:r>
          </a:p>
          <a:p>
            <a:pPr marL="279400" indent="0">
              <a:spcAft>
                <a:spcPts val="1125"/>
              </a:spcAft>
              <a:defRPr sz="2250" b="0">
                <a:solidFill>
                  <a:srgbClr val="12283C"/>
                </a:solidFill>
                <a:latin typeface="Segoe UI"/>
                <a:ea typeface="Segoe UI"/>
                <a:cs typeface="Segoe UI"/>
              </a:defRPr>
            </a:pPr>
            <a:r>
              <a:rPr sz="2025">
                <a:solidFill>
                  <a:srgbClr val="4E6271"/>
                </a:solidFill>
              </a:rPr>
              <a:t>An instance of an image with runtime settings and writable state. api-a and api-b can use the same image.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Repository</a:t>
            </a:r>
          </a:p>
          <a:p>
            <a:pPr marL="279400" indent="0">
              <a:spcAft>
                <a:spcPts val="1125"/>
              </a:spcAft>
              <a:defRPr sz="2250" b="0">
                <a:solidFill>
                  <a:srgbClr val="12283C"/>
                </a:solidFill>
                <a:latin typeface="Segoe UI"/>
                <a:ea typeface="Segoe UI"/>
                <a:cs typeface="Segoe UI"/>
              </a:defRPr>
            </a:pPr>
            <a:r>
              <a:rPr sz="2025">
                <a:solidFill>
                  <a:srgbClr val="4E6271"/>
                </a:solidFill>
              </a:rPr>
              <a:t>A named collection of related image references, such as a team’s course-api repository.</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Registry</a:t>
            </a:r>
          </a:p>
          <a:p>
            <a:pPr marL="279400" indent="0">
              <a:spcAft>
                <a:spcPts val="0"/>
              </a:spcAft>
              <a:defRPr sz="2250" b="0">
                <a:solidFill>
                  <a:srgbClr val="12283C"/>
                </a:solidFill>
                <a:latin typeface="Segoe UI"/>
                <a:ea typeface="Segoe UI"/>
                <a:cs typeface="Segoe UI"/>
              </a:defRPr>
            </a:pPr>
            <a:r>
              <a:rPr sz="2025">
                <a:solidFill>
                  <a:srgbClr val="4E6271"/>
                </a:solidFill>
              </a:rPr>
              <a:t>A service that stores and distributes images, such as Docker Hub or a private registry.</a:t>
            </a:r>
          </a:p>
        </p:txBody>
      </p:sp>
    </p:spTree>
    <p:extLst>
      <p:ext uri="{BB962C8B-B14F-4D97-AF65-F5344CB8AC3E}">
        <p14:creationId xmlns:p14="http://schemas.microsoft.com/office/powerpoint/2010/main" val="1878279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839B51BE-DF84-4CFF-AB05-93CC0771F2A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Containerization</a:t>
            </a:r>
          </a:p>
        </p:txBody>
      </p:sp>
      <p:sp>
        <p:nvSpPr>
          <p:cNvPr id="2" name="slide-title">
            <a:extLst>
              <a:ext uri="{FF2B5EF4-FFF2-40B4-BE49-F238E27FC236}">
                <a16:creationId xmlns:a16="http://schemas.microsoft.com/office/drawing/2014/main" id="{CB17B3B4-0F17-437B-8F8C-C384EE802B08}"/>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Layered images and writable state</a:t>
            </a:r>
          </a:p>
        </p:txBody>
      </p:sp>
      <p:pic>
        <p:nvPicPr>
          <p:cNvPr id="10" name="Picture 9"/>
          <p:cNvPicPr>
            <a:picLocks noChangeAspect="1"/>
          </p:cNvPicPr>
          <p:nvPr/>
        </p:nvPicPr>
        <p:blipFill>
          <a:blip r:embed="rId3"/>
          <a:srcRect l="30740" r="30740"/>
          <a:stretch>
            <a:fillRect/>
          </a:stretch>
        </p:blipFill>
        <p:spPr>
          <a:xfrm>
            <a:off x="1714500" y="1743075"/>
            <a:ext cx="2266950" cy="4086225"/>
          </a:xfrm>
          <a:prstGeom prst="rect">
            <a:avLst/>
          </a:prstGeom>
        </p:spPr>
      </p:pic>
      <p:sp>
        <p:nvSpPr>
          <p:cNvPr id="4" name="image-attribution">
            <a:extLst>
              <a:ext uri="{FF2B5EF4-FFF2-40B4-BE49-F238E27FC236}">
                <a16:creationId xmlns:a16="http://schemas.microsoft.com/office/drawing/2014/main" id="{AEB3F7A4-6810-46FF-AD88-63994012E04D}"/>
              </a:ext>
            </a:extLst>
          </p:cNvPr>
          <p:cNvSpPr>
            <a:spLocks noGrp="1"/>
          </p:cNvSpPr>
          <p:nvPr/>
        </p:nvSpPr>
        <p:spPr>
          <a:xfrm>
            <a:off x="609600" y="5886450"/>
            <a:ext cx="4476750"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Docker documentation: an illustrative layered Python image.</a:t>
            </a:r>
          </a:p>
        </p:txBody>
      </p:sp>
      <p:sp>
        <p:nvSpPr>
          <p:cNvPr id="5" name="editable-bullet-list">
            <a:extLst>
              <a:ext uri="{FF2B5EF4-FFF2-40B4-BE49-F238E27FC236}">
                <a16:creationId xmlns:a16="http://schemas.microsoft.com/office/drawing/2014/main" id="{B4089852-7BD5-425C-825F-EDF1A97D5D92}"/>
              </a:ext>
            </a:extLst>
          </p:cNvPr>
          <p:cNvSpPr>
            <a:spLocks noGrp="1"/>
          </p:cNvSpPr>
          <p:nvPr/>
        </p:nvSpPr>
        <p:spPr>
          <a:xfrm>
            <a:off x="5524500" y="1847850"/>
            <a:ext cx="6000750" cy="4286250"/>
          </a:xfrm>
          <a:prstGeom prst="rect">
            <a:avLst/>
          </a:prstGeom>
          <a:noFill/>
          <a:ln w="0">
            <a:noFill/>
          </a:ln>
        </p:spPr>
        <p:txBody>
          <a:bodyPr wrap="square" lIns="0" tIns="0" rIns="0" bIns="0" anchor="t">
            <a:noAutofit/>
          </a:bodyPr>
          <a:lstStyle/>
          <a:p>
            <a:pPr marL="279400" indent="-165100">
              <a:spcAft>
                <a:spcPts val="1500"/>
              </a:spcAft>
              <a:buChar char="•"/>
              <a:defRPr sz="2175" b="0">
                <a:solidFill>
                  <a:srgbClr val="12283C"/>
                </a:solidFill>
                <a:latin typeface="Segoe UI"/>
                <a:ea typeface="Segoe UI"/>
                <a:cs typeface="Segoe UI"/>
              </a:defRPr>
            </a:pPr>
            <a:r>
              <a:rPr sz="2175" b="0">
                <a:solidFill>
                  <a:srgbClr val="12283C"/>
                </a:solidFill>
              </a:rPr>
              <a:t>Image layers represent immutable filesystem changes.</a:t>
            </a:r>
          </a:p>
          <a:p>
            <a:pPr marL="279400" indent="-165100">
              <a:spcAft>
                <a:spcPts val="1500"/>
              </a:spcAft>
              <a:buChar char="•"/>
              <a:defRPr sz="2175" b="0">
                <a:solidFill>
                  <a:srgbClr val="12283C"/>
                </a:solidFill>
                <a:latin typeface="Segoe UI"/>
                <a:ea typeface="Segoe UI"/>
                <a:cs typeface="Segoe UI"/>
              </a:defRPr>
            </a:pPr>
            <a:r>
              <a:rPr sz="2175" b="0">
                <a:solidFill>
                  <a:srgbClr val="12283C"/>
                </a:solidFill>
              </a:rPr>
              <a:t>A container sees the layers combined into one filesystem.</a:t>
            </a:r>
          </a:p>
          <a:p>
            <a:pPr marL="279400" indent="-165100">
              <a:spcAft>
                <a:spcPts val="1500"/>
              </a:spcAft>
              <a:buChar char="•"/>
              <a:defRPr sz="2175" b="0">
                <a:solidFill>
                  <a:srgbClr val="12283C"/>
                </a:solidFill>
                <a:latin typeface="Segoe UI"/>
                <a:ea typeface="Segoe UI"/>
                <a:cs typeface="Segoe UI"/>
              </a:defRPr>
            </a:pPr>
            <a:r>
              <a:rPr sz="2175" b="0">
                <a:solidFill>
                  <a:srgbClr val="12283C"/>
                </a:solidFill>
              </a:rPr>
              <a:t>Runtime writes normally enter that container’s writable layer.</a:t>
            </a:r>
          </a:p>
          <a:p>
            <a:pPr marL="279400" indent="-165100">
              <a:spcAft>
                <a:spcPts val="0"/>
              </a:spcAft>
              <a:buChar char="•"/>
              <a:defRPr sz="2175" b="0">
                <a:solidFill>
                  <a:srgbClr val="12283C"/>
                </a:solidFill>
                <a:latin typeface="Segoe UI"/>
                <a:ea typeface="Segoe UI"/>
                <a:cs typeface="Segoe UI"/>
              </a:defRPr>
            </a:pPr>
            <a:r>
              <a:rPr sz="2175" b="0">
                <a:solidFill>
                  <a:srgbClr val="12283C"/>
                </a:solidFill>
              </a:rPr>
              <a:t>Deleting the container removes its writable layer.</a:t>
            </a:r>
          </a:p>
        </p:txBody>
      </p:sp>
    </p:spTree>
    <p:extLst>
      <p:ext uri="{BB962C8B-B14F-4D97-AF65-F5344CB8AC3E}">
        <p14:creationId xmlns:p14="http://schemas.microsoft.com/office/powerpoint/2010/main" val="1434334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8EB12A87-8C51-4ACA-B04D-5F261C4F244B}"/>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Docker Engine</a:t>
            </a:r>
          </a:p>
        </p:txBody>
      </p:sp>
      <p:sp>
        <p:nvSpPr>
          <p:cNvPr id="2" name="slide-title">
            <a:extLst>
              <a:ext uri="{FF2B5EF4-FFF2-40B4-BE49-F238E27FC236}">
                <a16:creationId xmlns:a16="http://schemas.microsoft.com/office/drawing/2014/main" id="{BFD266F3-7EE8-4BF8-99B9-97EB7A11361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Docker’s client, engine, and registry</a:t>
            </a:r>
          </a:p>
        </p:txBody>
      </p:sp>
      <p:pic>
        <p:nvPicPr>
          <p:cNvPr id="9" name="Picture 8"/>
          <p:cNvPicPr>
            <a:picLocks noChangeAspect="1"/>
          </p:cNvPicPr>
          <p:nvPr/>
        </p:nvPicPr>
        <p:blipFill>
          <a:blip r:embed="rId3"/>
          <a:stretch/>
        </p:blipFill>
        <p:spPr>
          <a:xfrm>
            <a:off x="2063962" y="1676400"/>
            <a:ext cx="8064076" cy="4257675"/>
          </a:xfrm>
          <a:prstGeom prst="rect">
            <a:avLst/>
          </a:prstGeom>
        </p:spPr>
      </p:pic>
      <p:sp>
        <p:nvSpPr>
          <p:cNvPr id="4" name="image-attribution">
            <a:extLst>
              <a:ext uri="{FF2B5EF4-FFF2-40B4-BE49-F238E27FC236}">
                <a16:creationId xmlns:a16="http://schemas.microsoft.com/office/drawing/2014/main" id="{343E18FB-332E-4D0D-98AB-21B56784E587}"/>
              </a:ext>
            </a:extLst>
          </p:cNvPr>
          <p:cNvSpPr>
            <a:spLocks noGrp="1"/>
          </p:cNvSpPr>
          <p:nvPr/>
        </p:nvSpPr>
        <p:spPr>
          <a:xfrm>
            <a:off x="819150" y="5991225"/>
            <a:ext cx="10553700"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Docker documentation: client, Docker host, and registry.</a:t>
            </a:r>
          </a:p>
        </p:txBody>
      </p:sp>
    </p:spTree>
    <p:extLst>
      <p:ext uri="{BB962C8B-B14F-4D97-AF65-F5344CB8AC3E}">
        <p14:creationId xmlns:p14="http://schemas.microsoft.com/office/powerpoint/2010/main" val="1206745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60719B71-80E2-4BDA-983C-197F9D325D0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Docker Engine</a:t>
            </a:r>
          </a:p>
        </p:txBody>
      </p:sp>
      <p:sp>
        <p:nvSpPr>
          <p:cNvPr id="2" name="slide-title">
            <a:extLst>
              <a:ext uri="{FF2B5EF4-FFF2-40B4-BE49-F238E27FC236}">
                <a16:creationId xmlns:a16="http://schemas.microsoft.com/office/drawing/2014/main" id="{38BFC56E-7D76-4A4E-A076-C05C22BB889A}"/>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What happens during docker run</a:t>
            </a:r>
          </a:p>
        </p:txBody>
      </p:sp>
      <p:sp>
        <p:nvSpPr>
          <p:cNvPr id="3" name="code-label">
            <a:extLst>
              <a:ext uri="{FF2B5EF4-FFF2-40B4-BE49-F238E27FC236}">
                <a16:creationId xmlns:a16="http://schemas.microsoft.com/office/drawing/2014/main" id="{6CEC0F4C-0ABD-461D-8CCE-E278437C212E}"/>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B1FD0AB3-C39C-481D-AD2F-CFACBA0F149D}"/>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--name l09-web -d -p 127.0.0.1:8080:80 nginx:stable-alpine</a:t>
            </a:r>
          </a:p>
        </p:txBody>
      </p:sp>
      <p:sp>
        <p:nvSpPr>
          <p:cNvPr id="5" name="editable-bullet-list">
            <a:extLst>
              <a:ext uri="{FF2B5EF4-FFF2-40B4-BE49-F238E27FC236}">
                <a16:creationId xmlns:a16="http://schemas.microsoft.com/office/drawing/2014/main" id="{D087D810-DEB3-4D84-9C69-731C058E5938}"/>
              </a:ext>
            </a:extLst>
          </p:cNvPr>
          <p:cNvSpPr>
            <a:spLocks noGrp="1"/>
          </p:cNvSpPr>
          <p:nvPr/>
        </p:nvSpPr>
        <p:spPr>
          <a:xfrm>
            <a:off x="609600" y="2519553"/>
            <a:ext cx="10934700" cy="3747897"/>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The client asks the engine to create and start a container.</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With the default pull policy, the engine pulls the image if it is missing locally.</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The engine applies filesystem, networking, and runtime configuration.</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The image’s configured startup process runs in the container.</a:t>
            </a:r>
          </a:p>
        </p:txBody>
      </p:sp>
    </p:spTree>
    <p:extLst>
      <p:ext uri="{BB962C8B-B14F-4D97-AF65-F5344CB8AC3E}">
        <p14:creationId xmlns:p14="http://schemas.microsoft.com/office/powerpoint/2010/main" val="2066296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3AB4A1C4-1923-40C6-B978-459363F436E8}"/>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Docker Engine</a:t>
            </a:r>
          </a:p>
        </p:txBody>
      </p:sp>
      <p:sp>
        <p:nvSpPr>
          <p:cNvPr id="2" name="slide-title">
            <a:extLst>
              <a:ext uri="{FF2B5EF4-FFF2-40B4-BE49-F238E27FC236}">
                <a16:creationId xmlns:a16="http://schemas.microsoft.com/office/drawing/2014/main" id="{E5836373-52E8-4A65-8FBF-4E7C91F8149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Container lifecycle</a:t>
            </a:r>
          </a:p>
        </p:txBody>
      </p:sp>
      <p:sp>
        <p:nvSpPr>
          <p:cNvPr id="3" name="editable-bullet-list">
            <a:extLst>
              <a:ext uri="{FF2B5EF4-FFF2-40B4-BE49-F238E27FC236}">
                <a16:creationId xmlns:a16="http://schemas.microsoft.com/office/drawing/2014/main" id="{A1726043-5131-42E4-8CFB-EF5E159CFB9D}"/>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create</a:t>
            </a:r>
          </a:p>
          <a:p>
            <a:pPr marL="279400" indent="0">
              <a:spcAft>
                <a:spcPts val="750"/>
              </a:spcAft>
              <a:defRPr sz="2025" b="0">
                <a:solidFill>
                  <a:srgbClr val="12283C"/>
                </a:solidFill>
                <a:latin typeface="Segoe UI"/>
                <a:ea typeface="Segoe UI"/>
                <a:cs typeface="Segoe UI"/>
              </a:defRPr>
            </a:pPr>
            <a:r>
              <a:rPr sz="1800">
                <a:solidFill>
                  <a:srgbClr val="4E6271"/>
                </a:solidFill>
              </a:rPr>
              <a:t>Creates configuration and a writable layer, leaving a stopped container object.</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start</a:t>
            </a:r>
          </a:p>
          <a:p>
            <a:pPr marL="279400" indent="0">
              <a:spcAft>
                <a:spcPts val="750"/>
              </a:spcAft>
              <a:defRPr sz="2025" b="0">
                <a:solidFill>
                  <a:srgbClr val="12283C"/>
                </a:solidFill>
                <a:latin typeface="Segoe UI"/>
                <a:ea typeface="Segoe UI"/>
                <a:cs typeface="Segoe UI"/>
              </a:defRPr>
            </a:pPr>
            <a:r>
              <a:rPr sz="1800">
                <a:solidFill>
                  <a:srgbClr val="4E6271"/>
                </a:solidFill>
              </a:rPr>
              <a:t>Starts the configured process in an existing container and retains the same container identity.</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stop</a:t>
            </a:r>
          </a:p>
          <a:p>
            <a:pPr marL="279400" indent="0">
              <a:spcAft>
                <a:spcPts val="750"/>
              </a:spcAft>
              <a:defRPr sz="2025" b="0">
                <a:solidFill>
                  <a:srgbClr val="12283C"/>
                </a:solidFill>
                <a:latin typeface="Segoe UI"/>
                <a:ea typeface="Segoe UI"/>
                <a:cs typeface="Segoe UI"/>
              </a:defRPr>
            </a:pPr>
            <a:r>
              <a:rPr sz="1800">
                <a:solidFill>
                  <a:srgbClr val="4E6271"/>
                </a:solidFill>
              </a:rPr>
              <a:t>Requests shutdown, then forces termination if the timeout expires. The container and writable layer remain.</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rm</a:t>
            </a:r>
          </a:p>
          <a:p>
            <a:pPr marL="279400" indent="0">
              <a:spcAft>
                <a:spcPts val="750"/>
              </a:spcAft>
              <a:defRPr sz="2025" b="0">
                <a:solidFill>
                  <a:srgbClr val="12283C"/>
                </a:solidFill>
                <a:latin typeface="Segoe UI"/>
                <a:ea typeface="Segoe UI"/>
                <a:cs typeface="Segoe UI"/>
              </a:defRPr>
            </a:pPr>
            <a:r>
              <a:rPr sz="1800">
                <a:solidFill>
                  <a:srgbClr val="4E6271"/>
                </a:solidFill>
              </a:rPr>
              <a:t>Removes a stopped container. Its image and separately managed named volumes remain.</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run</a:t>
            </a:r>
          </a:p>
          <a:p>
            <a:pPr marL="279400" indent="0">
              <a:spcAft>
                <a:spcPts val="0"/>
              </a:spcAft>
              <a:defRPr sz="2025" b="0">
                <a:solidFill>
                  <a:srgbClr val="12283C"/>
                </a:solidFill>
                <a:latin typeface="Segoe UI"/>
                <a:ea typeface="Segoe UI"/>
                <a:cs typeface="Segoe UI"/>
              </a:defRPr>
            </a:pPr>
            <a:r>
              <a:rPr sz="1800">
                <a:solidFill>
                  <a:srgbClr val="4E6271"/>
                </a:solidFill>
              </a:rPr>
              <a:t>Creates and starts a new container instance, unless creation fails.</a:t>
            </a:r>
          </a:p>
        </p:txBody>
      </p:sp>
    </p:spTree>
    <p:extLst>
      <p:ext uri="{BB962C8B-B14F-4D97-AF65-F5344CB8AC3E}">
        <p14:creationId xmlns:p14="http://schemas.microsoft.com/office/powerpoint/2010/main" val="586946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A367B596-BF22-4B38-B2E6-F5AFD6AF8D8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Docker Engine</a:t>
            </a:r>
          </a:p>
        </p:txBody>
      </p:sp>
      <p:sp>
        <p:nvSpPr>
          <p:cNvPr id="2" name="slide-title">
            <a:extLst>
              <a:ext uri="{FF2B5EF4-FFF2-40B4-BE49-F238E27FC236}">
                <a16:creationId xmlns:a16="http://schemas.microsoft.com/office/drawing/2014/main" id="{94F9579B-6AF0-4C37-9717-F572C580057D}"/>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Persistent data and mounted files</a:t>
            </a:r>
          </a:p>
        </p:txBody>
      </p:sp>
      <p:sp>
        <p:nvSpPr>
          <p:cNvPr id="3" name="editable-bullet-list">
            <a:extLst>
              <a:ext uri="{FF2B5EF4-FFF2-40B4-BE49-F238E27FC236}">
                <a16:creationId xmlns:a16="http://schemas.microsoft.com/office/drawing/2014/main" id="{02535CF7-4A21-453E-AA77-8BB6DB0E8E18}"/>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dirty="0">
                <a:solidFill>
                  <a:srgbClr val="12283C"/>
                </a:solidFill>
              </a:rPr>
              <a:t>Container writable layer</a:t>
            </a:r>
          </a:p>
          <a:p>
            <a:pPr marL="279400" indent="0">
              <a:spcAft>
                <a:spcPts val="1125"/>
              </a:spcAft>
              <a:defRPr sz="2250" b="0">
                <a:solidFill>
                  <a:srgbClr val="12283C"/>
                </a:solidFill>
                <a:latin typeface="Segoe UI"/>
                <a:ea typeface="Segoe UI"/>
                <a:cs typeface="Segoe UI"/>
              </a:defRPr>
            </a:pPr>
            <a:r>
              <a:rPr sz="2025" dirty="0">
                <a:solidFill>
                  <a:srgbClr val="4E6271"/>
                </a:solidFill>
              </a:rPr>
              <a:t>Holds temporary changes and disposable working files. Removing the container removes this layer.</a:t>
            </a:r>
            <a:endParaRPr lang="en-US" sz="2025" dirty="0">
              <a:solidFill>
                <a:srgbClr val="4E6271"/>
              </a:solidFill>
            </a:endParaRPr>
          </a:p>
          <a:p>
            <a:pPr marL="279400" indent="0">
              <a:spcAft>
                <a:spcPts val="1125"/>
              </a:spcAft>
              <a:defRPr sz="2250" b="0">
                <a:solidFill>
                  <a:srgbClr val="12283C"/>
                </a:solidFill>
                <a:latin typeface="Segoe UI"/>
                <a:ea typeface="Segoe UI"/>
                <a:cs typeface="Segoe UI"/>
              </a:defRPr>
            </a:pPr>
            <a:endParaRPr sz="2025" dirty="0">
              <a:solidFill>
                <a:srgbClr val="4E6271"/>
              </a:solidFill>
            </a:endParaRPr>
          </a:p>
          <a:p>
            <a:pPr marL="279400" indent="-165100">
              <a:spcAft>
                <a:spcPts val="200"/>
              </a:spcAft>
              <a:buChar char="•"/>
              <a:defRPr sz="2250" b="0">
                <a:solidFill>
                  <a:srgbClr val="12283C"/>
                </a:solidFill>
                <a:latin typeface="Segoe UI"/>
                <a:ea typeface="Segoe UI"/>
                <a:cs typeface="Segoe UI"/>
              </a:defRPr>
            </a:pPr>
            <a:r>
              <a:rPr sz="2250" b="1" dirty="0">
                <a:solidFill>
                  <a:srgbClr val="12283C"/>
                </a:solidFill>
              </a:rPr>
              <a:t>Named volume</a:t>
            </a:r>
          </a:p>
          <a:p>
            <a:pPr marL="279400" indent="0">
              <a:spcAft>
                <a:spcPts val="1125"/>
              </a:spcAft>
              <a:defRPr sz="2250" b="0">
                <a:solidFill>
                  <a:srgbClr val="12283C"/>
                </a:solidFill>
                <a:latin typeface="Segoe UI"/>
                <a:ea typeface="Segoe UI"/>
                <a:cs typeface="Segoe UI"/>
              </a:defRPr>
            </a:pPr>
            <a:r>
              <a:rPr sz="2025" dirty="0">
                <a:solidFill>
                  <a:srgbClr val="4E6271"/>
                </a:solidFill>
              </a:rPr>
              <a:t>Keeps application data separate from container instances. It persists until explicitly removed.</a:t>
            </a:r>
          </a:p>
        </p:txBody>
      </p:sp>
    </p:spTree>
    <p:extLst>
      <p:ext uri="{BB962C8B-B14F-4D97-AF65-F5344CB8AC3E}">
        <p14:creationId xmlns:p14="http://schemas.microsoft.com/office/powerpoint/2010/main" val="6684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9" name="section-label">
            <a:extLst>
              <a:ext uri="{FF2B5EF4-FFF2-40B4-BE49-F238E27FC236}">
                <a16:creationId xmlns:a16="http://schemas.microsoft.com/office/drawing/2014/main" id="{99F3F9E8-5396-4B44-ACDC-972F37DBE4D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Worked demonstration</a:t>
            </a:r>
          </a:p>
        </p:txBody>
      </p:sp>
      <p:sp>
        <p:nvSpPr>
          <p:cNvPr id="2" name="slide-title">
            <a:extLst>
              <a:ext uri="{FF2B5EF4-FFF2-40B4-BE49-F238E27FC236}">
                <a16:creationId xmlns:a16="http://schemas.microsoft.com/office/drawing/2014/main" id="{631B2548-81C4-481C-A906-6D81CFA3D53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first web container</a:t>
            </a:r>
          </a:p>
        </p:txBody>
      </p:sp>
      <p:sp>
        <p:nvSpPr>
          <p:cNvPr id="3" name="code-label">
            <a:extLst>
              <a:ext uri="{FF2B5EF4-FFF2-40B4-BE49-F238E27FC236}">
                <a16:creationId xmlns:a16="http://schemas.microsoft.com/office/drawing/2014/main" id="{17667E00-340C-4FB9-8FB7-D7C48161664B}"/>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ECD25B5F-FD7A-45AF-873F-87884C6151AF}"/>
              </a:ext>
            </a:extLst>
          </p:cNvPr>
          <p:cNvSpPr>
            <a:spLocks noGrp="1"/>
          </p:cNvSpPr>
          <p:nvPr/>
        </p:nvSpPr>
        <p:spPr>
          <a:xfrm>
            <a:off x="609600" y="2028825"/>
            <a:ext cx="10934700" cy="176326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version</a:t>
            </a:r>
          </a:p>
          <a:p>
            <a:pPr>
              <a:defRPr sz="1800" b="0">
                <a:solidFill>
                  <a:srgbClr val="12283C"/>
                </a:solidFill>
                <a:latin typeface="Consolas"/>
                <a:ea typeface="Consolas"/>
                <a:cs typeface="Consolas"/>
              </a:defRPr>
            </a:pPr>
            <a:r>
              <a:t>docker run --name l09-web -d -p 127.0.0.1:8080:80 nginx:stable-alpine</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logs l09-web</a:t>
            </a:r>
          </a:p>
          <a:p>
            <a:pPr>
              <a:defRPr sz="1800" b="0">
                <a:solidFill>
                  <a:srgbClr val="12283C"/>
                </a:solidFill>
                <a:latin typeface="Consolas"/>
                <a:ea typeface="Consolas"/>
                <a:cs typeface="Consolas"/>
              </a:defRPr>
            </a:pPr>
            <a:r>
              <a:t>docker stop l09-web</a:t>
            </a:r>
          </a:p>
          <a:p>
            <a:pPr>
              <a:defRPr sz="1800" b="0">
                <a:solidFill>
                  <a:srgbClr val="12283C"/>
                </a:solidFill>
                <a:latin typeface="Consolas"/>
                <a:ea typeface="Consolas"/>
                <a:cs typeface="Consolas"/>
              </a:defRPr>
            </a:pPr>
            <a:r>
              <a:t>docker rm l09-web</a:t>
            </a:r>
          </a:p>
        </p:txBody>
      </p:sp>
      <p:sp>
        <p:nvSpPr>
          <p:cNvPr id="5" name="editable-bullet-list">
            <a:extLst>
              <a:ext uri="{FF2B5EF4-FFF2-40B4-BE49-F238E27FC236}">
                <a16:creationId xmlns:a16="http://schemas.microsoft.com/office/drawing/2014/main" id="{B624301B-5982-45D8-88FE-250157435E8B}"/>
              </a:ext>
            </a:extLst>
          </p:cNvPr>
          <p:cNvSpPr>
            <a:spLocks noGrp="1"/>
          </p:cNvSpPr>
          <p:nvPr/>
        </p:nvSpPr>
        <p:spPr>
          <a:xfrm>
            <a:off x="609600" y="3925443"/>
            <a:ext cx="10934700" cy="1970532"/>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Between docker ps and docker stop, open http://localhost:8080.</a:t>
            </a:r>
          </a:p>
        </p:txBody>
      </p:sp>
      <p:sp>
        <p:nvSpPr>
          <p:cNvPr id="6" name="key-point">
            <a:extLst>
              <a:ext uri="{FF2B5EF4-FFF2-40B4-BE49-F238E27FC236}">
                <a16:creationId xmlns:a16="http://schemas.microsoft.com/office/drawing/2014/main" id="{083A4F91-F136-478A-81FB-28D339AA7EBE}"/>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Expected observations: a running container, the NGINX welcome page, then a stopped and removed instance.</a:t>
            </a:r>
          </a:p>
        </p:txBody>
      </p:sp>
    </p:spTree>
    <p:extLst>
      <p:ext uri="{BB962C8B-B14F-4D97-AF65-F5344CB8AC3E}">
        <p14:creationId xmlns:p14="http://schemas.microsoft.com/office/powerpoint/2010/main" val="1954050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828902A7-4A1A-4B3C-BE37-97008E43EC6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1 / Book reference</a:t>
            </a:r>
          </a:p>
        </p:txBody>
      </p:sp>
      <p:sp>
        <p:nvSpPr>
          <p:cNvPr id="2" name="slide-title">
            <a:extLst>
              <a:ext uri="{FF2B5EF4-FFF2-40B4-BE49-F238E27FC236}">
                <a16:creationId xmlns:a16="http://schemas.microsoft.com/office/drawing/2014/main" id="{79A63448-27B4-4A82-BB75-BCDBEBDB2F1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Practical DevOps</a:t>
            </a:r>
          </a:p>
        </p:txBody>
      </p:sp>
      <p:sp>
        <p:nvSpPr>
          <p:cNvPr id="3" name="editable-bullet-list">
            <a:extLst>
              <a:ext uri="{FF2B5EF4-FFF2-40B4-BE49-F238E27FC236}">
                <a16:creationId xmlns:a16="http://schemas.microsoft.com/office/drawing/2014/main" id="{7F38A2B1-6BB5-40BA-B585-DF56CBCA759A}"/>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Joakim Verona</a:t>
            </a:r>
          </a:p>
          <a:p>
            <a:pPr marL="279400" indent="0">
              <a:spcAft>
                <a:spcPts val="1425"/>
              </a:spcAft>
              <a:defRPr sz="2325" b="0">
                <a:solidFill>
                  <a:srgbClr val="12283C"/>
                </a:solidFill>
                <a:latin typeface="Segoe UI"/>
                <a:ea typeface="Segoe UI"/>
                <a:cs typeface="Segoe UI"/>
              </a:defRPr>
            </a:pPr>
            <a:r>
              <a:rPr sz="2100">
                <a:solidFill>
                  <a:srgbClr val="4E6271"/>
                </a:solidFill>
              </a:rPr>
              <a:t>Packt Publishing, first edition, February 2016</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Chapter 3: How DevOps Affects Architecture</a:t>
            </a:r>
          </a:p>
          <a:p>
            <a:pPr marL="279400" indent="0">
              <a:spcAft>
                <a:spcPts val="1425"/>
              </a:spcAft>
              <a:defRPr sz="2325" b="0">
                <a:solidFill>
                  <a:srgbClr val="12283C"/>
                </a:solidFill>
                <a:latin typeface="Segoe UI"/>
                <a:ea typeface="Segoe UI"/>
                <a:cs typeface="Segoe UI"/>
              </a:defRPr>
            </a:pPr>
            <a:r>
              <a:rPr sz="2100">
                <a:solidFill>
                  <a:srgbClr val="4E6271"/>
                </a:solidFill>
              </a:rPr>
              <a:t>Printed pages 21–37 · PDF pages 40–56</a:t>
            </a:r>
          </a:p>
          <a:p>
            <a:pPr marL="279400" indent="-165100">
              <a:spcAft>
                <a:spcPts val="0"/>
              </a:spcAft>
              <a:buChar char="•"/>
              <a:defRPr sz="2325" b="0">
                <a:solidFill>
                  <a:srgbClr val="12283C"/>
                </a:solidFill>
                <a:latin typeface="Segoe UI"/>
                <a:ea typeface="Segoe UI"/>
                <a:cs typeface="Segoe UI"/>
              </a:defRPr>
            </a:pPr>
            <a:r>
              <a:rPr sz="2325" b="0">
                <a:solidFill>
                  <a:srgbClr val="12283C"/>
                </a:solidFill>
              </a:rPr>
              <a:t>Supporting reading: Chapter 4, “Docker intermission,” pp. 52–53, and Chapter 7, “Deploying with Docker,” p. 130.</a:t>
            </a:r>
          </a:p>
        </p:txBody>
      </p:sp>
    </p:spTree>
    <p:extLst>
      <p:ext uri="{BB962C8B-B14F-4D97-AF65-F5344CB8AC3E}">
        <p14:creationId xmlns:p14="http://schemas.microsoft.com/office/powerpoint/2010/main" val="1010304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725"/>
        </a:solidFill>
        <a:effectLst/>
      </p:bgPr>
    </p:bg>
    <p:spTree>
      <p:nvGrpSpPr>
        <p:cNvPr id="1" name=""/>
        <p:cNvGrpSpPr/>
        <p:nvPr/>
      </p:nvGrpSpPr>
      <p:grpSpPr>
        <a:xfrm>
          <a:off x="0" y="0"/>
          <a:ext cx="0" cy="0"/>
          <a:chOff x="0" y="0"/>
          <a:chExt cx="0" cy="0"/>
        </a:xfrm>
      </p:grpSpPr>
      <p:sp>
        <p:nvSpPr>
          <p:cNvPr id="5" name="course">
            <a:extLst>
              <a:ext uri="{FF2B5EF4-FFF2-40B4-BE49-F238E27FC236}">
                <a16:creationId xmlns:a16="http://schemas.microsoft.com/office/drawing/2014/main" id="{9F816068-30BA-4CCB-8C08-9E9357E00866}"/>
              </a:ext>
            </a:extLst>
          </p:cNvPr>
          <p:cNvSpPr>
            <a:spLocks noGrp="1"/>
          </p:cNvSpPr>
          <p:nvPr/>
        </p:nvSpPr>
        <p:spPr>
          <a:xfrm>
            <a:off x="704850" y="866775"/>
            <a:ext cx="10668000" cy="381000"/>
          </a:xfrm>
          <a:prstGeom prst="rect">
            <a:avLst/>
          </a:prstGeom>
          <a:noFill/>
          <a:ln w="0">
            <a:noFill/>
          </a:ln>
        </p:spPr>
        <p:txBody>
          <a:bodyPr wrap="square" lIns="0" tIns="0" rIns="0" bIns="0" anchor="t">
            <a:noAutofit/>
          </a:bodyPr>
          <a:lstStyle/>
          <a:p>
            <a:pPr>
              <a:defRPr sz="1875" b="1">
                <a:solidFill>
                  <a:srgbClr val="7DD3CB"/>
                </a:solidFill>
                <a:latin typeface="Segoe UI"/>
                <a:ea typeface="Segoe UI"/>
                <a:cs typeface="Segoe UI"/>
              </a:defRPr>
            </a:pPr>
            <a:r>
              <a:t>CSC418 / Part 2</a:t>
            </a:r>
          </a:p>
        </p:txBody>
      </p:sp>
      <p:sp>
        <p:nvSpPr>
          <p:cNvPr id="2" name="cover-title">
            <a:extLst>
              <a:ext uri="{FF2B5EF4-FFF2-40B4-BE49-F238E27FC236}">
                <a16:creationId xmlns:a16="http://schemas.microsoft.com/office/drawing/2014/main" id="{5C97DCA6-4815-4780-AA54-40F90191CCCF}"/>
              </a:ext>
            </a:extLst>
          </p:cNvPr>
          <p:cNvSpPr>
            <a:spLocks noGrp="1"/>
          </p:cNvSpPr>
          <p:nvPr/>
        </p:nvSpPr>
        <p:spPr>
          <a:xfrm>
            <a:off x="685800" y="1924050"/>
            <a:ext cx="10668000" cy="2000250"/>
          </a:xfrm>
          <a:prstGeom prst="rect">
            <a:avLst/>
          </a:prstGeom>
          <a:noFill/>
          <a:ln w="0">
            <a:noFill/>
          </a:ln>
        </p:spPr>
        <p:txBody>
          <a:bodyPr wrap="square" lIns="0" tIns="0" rIns="0" bIns="0" anchor="t">
            <a:noAutofit/>
          </a:bodyPr>
          <a:lstStyle/>
          <a:p>
            <a:pPr>
              <a:defRPr sz="4950" b="1">
                <a:solidFill>
                  <a:srgbClr val="FFFFFF"/>
                </a:solidFill>
                <a:latin typeface="Segoe UI"/>
                <a:ea typeface="Segoe UI"/>
                <a:cs typeface="Segoe UI"/>
              </a:defRPr>
            </a:pPr>
            <a:r>
              <a:t>Docker commands &amp;</a:t>
            </a:r>
          </a:p>
          <a:p>
            <a:pPr>
              <a:defRPr sz="4950" b="1">
                <a:solidFill>
                  <a:srgbClr val="FFFFFF"/>
                </a:solidFill>
                <a:latin typeface="Segoe UI"/>
                <a:ea typeface="Segoe UI"/>
                <a:cs typeface="Segoe UI"/>
              </a:defRPr>
            </a:pPr>
            <a:r>
              <a:t>custom images</a:t>
            </a:r>
          </a:p>
        </p:txBody>
      </p:sp>
      <p:sp>
        <p:nvSpPr>
          <p:cNvPr id="3" name="cover-description">
            <a:extLst>
              <a:ext uri="{FF2B5EF4-FFF2-40B4-BE49-F238E27FC236}">
                <a16:creationId xmlns:a16="http://schemas.microsoft.com/office/drawing/2014/main" id="{5B8B2A5B-4780-4A3A-93BE-C3E44E3B4BE8}"/>
              </a:ext>
            </a:extLst>
          </p:cNvPr>
          <p:cNvSpPr>
            <a:spLocks noGrp="1"/>
          </p:cNvSpPr>
          <p:nvPr/>
        </p:nvSpPr>
        <p:spPr>
          <a:xfrm>
            <a:off x="723900" y="4591050"/>
            <a:ext cx="10382250" cy="962025"/>
          </a:xfrm>
          <a:prstGeom prst="rect">
            <a:avLst/>
          </a:prstGeom>
          <a:noFill/>
          <a:ln w="0">
            <a:noFill/>
          </a:ln>
        </p:spPr>
        <p:txBody>
          <a:bodyPr wrap="square" lIns="0" tIns="0" rIns="0" bIns="0" anchor="t">
            <a:noAutofit/>
          </a:bodyPr>
          <a:lstStyle/>
          <a:p>
            <a:pPr>
              <a:defRPr sz="2400" b="0">
                <a:solidFill>
                  <a:srgbClr val="DAE5EC"/>
                </a:solidFill>
                <a:latin typeface="Segoe UI"/>
                <a:ea typeface="Segoe UI"/>
                <a:cs typeface="Segoe UI"/>
              </a:defRPr>
            </a:pPr>
            <a:r>
              <a:t>A complete workflow from a running container to a repeatable Dockerfile</a:t>
            </a:r>
          </a:p>
        </p:txBody>
      </p:sp>
      <p:sp>
        <p:nvSpPr>
          <p:cNvPr id="4" name="cover-footer">
            <a:extLst>
              <a:ext uri="{FF2B5EF4-FFF2-40B4-BE49-F238E27FC236}">
                <a16:creationId xmlns:a16="http://schemas.microsoft.com/office/drawing/2014/main" id="{8935E09D-477E-4621-9A05-C43619ADB682}"/>
              </a:ext>
            </a:extLst>
          </p:cNvPr>
          <p:cNvSpPr>
            <a:spLocks noGrp="1"/>
          </p:cNvSpPr>
          <p:nvPr/>
        </p:nvSpPr>
        <p:spPr>
          <a:xfrm>
            <a:off x="723900" y="6105525"/>
            <a:ext cx="10477500" cy="285750"/>
          </a:xfrm>
          <a:prstGeom prst="rect">
            <a:avLst/>
          </a:prstGeom>
          <a:noFill/>
          <a:ln w="0">
            <a:noFill/>
          </a:ln>
        </p:spPr>
        <p:txBody>
          <a:bodyPr wrap="square" lIns="0" tIns="0" rIns="0" bIns="0" anchor="t">
            <a:noAutofit/>
          </a:bodyPr>
          <a:lstStyle/>
          <a:p>
            <a:pPr>
              <a:defRPr sz="1500" b="0">
                <a:solidFill>
                  <a:srgbClr val="AABBC7"/>
                </a:solidFill>
                <a:latin typeface="Segoe UI"/>
                <a:ea typeface="Segoe UI"/>
                <a:cs typeface="Segoe UI"/>
              </a:defRPr>
            </a:pPr>
            <a:r>
              <a:t>Docker commands, image construction, and troubleshooting</a:t>
            </a:r>
          </a:p>
        </p:txBody>
      </p:sp>
    </p:spTree>
    <p:extLst>
      <p:ext uri="{BB962C8B-B14F-4D97-AF65-F5344CB8AC3E}">
        <p14:creationId xmlns:p14="http://schemas.microsoft.com/office/powerpoint/2010/main" val="861193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034269FA-3E6E-477E-8BA8-A3E4E5B3C84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Preparation</a:t>
            </a:r>
          </a:p>
        </p:txBody>
      </p:sp>
      <p:sp>
        <p:nvSpPr>
          <p:cNvPr id="2" name="slide-title">
            <a:extLst>
              <a:ext uri="{FF2B5EF4-FFF2-40B4-BE49-F238E27FC236}">
                <a16:creationId xmlns:a16="http://schemas.microsoft.com/office/drawing/2014/main" id="{E2645423-D211-4A45-ABBB-28796663DFE8}"/>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Demonstration environment</a:t>
            </a:r>
          </a:p>
        </p:txBody>
      </p:sp>
      <p:sp>
        <p:nvSpPr>
          <p:cNvPr id="3" name="editable-bullet-list">
            <a:extLst>
              <a:ext uri="{FF2B5EF4-FFF2-40B4-BE49-F238E27FC236}">
                <a16:creationId xmlns:a16="http://schemas.microsoft.com/office/drawing/2014/main" id="{081DC603-6113-4E51-B9E6-3824F5930117}"/>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Use a working Docker Engine configured for Linux containers.</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On Windows, start Docker Desktop and select the Linux-container environment.</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Open a terminal and work in the supplied examples directory.</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Allow the first build or pull time to download images. Later runs can use cached content.</a:t>
            </a:r>
          </a:p>
        </p:txBody>
      </p:sp>
    </p:spTree>
    <p:extLst>
      <p:ext uri="{BB962C8B-B14F-4D97-AF65-F5344CB8AC3E}">
        <p14:creationId xmlns:p14="http://schemas.microsoft.com/office/powerpoint/2010/main" val="1564270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5253DF6D-5BBB-406E-ACED-193F0166192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6C630013-CB5D-4585-9CFD-97A48DC2168D}"/>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Docker command anatomy</a:t>
            </a:r>
          </a:p>
        </p:txBody>
      </p:sp>
      <p:sp>
        <p:nvSpPr>
          <p:cNvPr id="3" name="code-label">
            <a:extLst>
              <a:ext uri="{FF2B5EF4-FFF2-40B4-BE49-F238E27FC236}">
                <a16:creationId xmlns:a16="http://schemas.microsoft.com/office/drawing/2014/main" id="{50DB330C-5C86-47DF-9A39-BF7DB98EBB3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9C5F4D90-4EB7-41AA-BE84-7728BDB24BDE}"/>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--name l10-web -d -p 127.0.0.1:8080:80 nginx:stable-alpine</a:t>
            </a:r>
          </a:p>
        </p:txBody>
      </p:sp>
      <p:sp>
        <p:nvSpPr>
          <p:cNvPr id="5" name="editable-bullet-list">
            <a:extLst>
              <a:ext uri="{FF2B5EF4-FFF2-40B4-BE49-F238E27FC236}">
                <a16:creationId xmlns:a16="http://schemas.microsoft.com/office/drawing/2014/main" id="{495FD77D-A678-4B57-A6EF-8C6738E7D99F}"/>
              </a:ext>
            </a:extLst>
          </p:cNvPr>
          <p:cNvSpPr>
            <a:spLocks noGrp="1"/>
          </p:cNvSpPr>
          <p:nvPr/>
        </p:nvSpPr>
        <p:spPr>
          <a:xfrm>
            <a:off x="609600" y="2519553"/>
            <a:ext cx="10934700" cy="3747897"/>
          </a:xfrm>
          <a:prstGeom prst="rect">
            <a:avLst/>
          </a:prstGeom>
          <a:noFill/>
          <a:ln w="0">
            <a:noFill/>
          </a:ln>
        </p:spPr>
        <p:txBody>
          <a:bodyPr wrap="square" lIns="0" tIns="0" rIns="0" bIns="0" anchor="t">
            <a:noAutofit/>
          </a:bodyPr>
          <a:lstStyle/>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docker run</a:t>
            </a:r>
          </a:p>
          <a:p>
            <a:pPr marL="279400" indent="0">
              <a:spcAft>
                <a:spcPts val="750"/>
              </a:spcAft>
              <a:defRPr sz="1950" b="0">
                <a:solidFill>
                  <a:srgbClr val="12283C"/>
                </a:solidFill>
                <a:latin typeface="Segoe UI"/>
                <a:ea typeface="Segoe UI"/>
                <a:cs typeface="Segoe UI"/>
              </a:defRPr>
            </a:pPr>
            <a:r>
              <a:rPr sz="1800">
                <a:solidFill>
                  <a:srgbClr val="4E6271"/>
                </a:solidFill>
              </a:rPr>
              <a:t>Creates and starts a new container.</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--name l10-web</a:t>
            </a:r>
          </a:p>
          <a:p>
            <a:pPr marL="279400" indent="0">
              <a:spcAft>
                <a:spcPts val="750"/>
              </a:spcAft>
              <a:defRPr sz="1950" b="0">
                <a:solidFill>
                  <a:srgbClr val="12283C"/>
                </a:solidFill>
                <a:latin typeface="Segoe UI"/>
                <a:ea typeface="Segoe UI"/>
                <a:cs typeface="Segoe UI"/>
              </a:defRPr>
            </a:pPr>
            <a:r>
              <a:rPr sz="1800">
                <a:solidFill>
                  <a:srgbClr val="4E6271"/>
                </a:solidFill>
              </a:rPr>
              <a:t>Assigns a readable name to this container.</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-d</a:t>
            </a:r>
          </a:p>
          <a:p>
            <a:pPr marL="279400" indent="0">
              <a:spcAft>
                <a:spcPts val="750"/>
              </a:spcAft>
              <a:defRPr sz="1950" b="0">
                <a:solidFill>
                  <a:srgbClr val="12283C"/>
                </a:solidFill>
                <a:latin typeface="Segoe UI"/>
                <a:ea typeface="Segoe UI"/>
                <a:cs typeface="Segoe UI"/>
              </a:defRPr>
            </a:pPr>
            <a:r>
              <a:rPr sz="1800">
                <a:solidFill>
                  <a:srgbClr val="4E6271"/>
                </a:solidFill>
              </a:rPr>
              <a:t>Detaches the client after starting the process.</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-p 127.0.0.1:8080:80</a:t>
            </a:r>
          </a:p>
          <a:p>
            <a:pPr marL="279400" indent="0">
              <a:spcAft>
                <a:spcPts val="750"/>
              </a:spcAft>
              <a:defRPr sz="1950" b="0">
                <a:solidFill>
                  <a:srgbClr val="12283C"/>
                </a:solidFill>
                <a:latin typeface="Segoe UI"/>
                <a:ea typeface="Segoe UI"/>
                <a:cs typeface="Segoe UI"/>
              </a:defRPr>
            </a:pPr>
            <a:r>
              <a:rPr sz="1800">
                <a:solidFill>
                  <a:srgbClr val="4E6271"/>
                </a:solidFill>
              </a:rPr>
              <a:t>Publishes container port 80 on the host’s loopback address at port 8080.</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nginx:stable-alpine</a:t>
            </a:r>
          </a:p>
          <a:p>
            <a:pPr marL="279400" indent="0">
              <a:spcAft>
                <a:spcPts val="0"/>
              </a:spcAft>
              <a:defRPr sz="1950" b="0">
                <a:solidFill>
                  <a:srgbClr val="12283C"/>
                </a:solidFill>
                <a:latin typeface="Segoe UI"/>
                <a:ea typeface="Segoe UI"/>
                <a:cs typeface="Segoe UI"/>
              </a:defRPr>
            </a:pPr>
            <a:r>
              <a:rPr sz="1800">
                <a:solidFill>
                  <a:srgbClr val="4E6271"/>
                </a:solidFill>
              </a:rPr>
              <a:t>Selects the image reference to run.</a:t>
            </a:r>
          </a:p>
        </p:txBody>
      </p:sp>
    </p:spTree>
    <p:extLst>
      <p:ext uri="{BB962C8B-B14F-4D97-AF65-F5344CB8AC3E}">
        <p14:creationId xmlns:p14="http://schemas.microsoft.com/office/powerpoint/2010/main" val="1137938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C38187A8-8D14-49F7-BAFA-5E097716C8D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B5D59A87-A98E-4BB4-9CCB-26CD5A30749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Client, server, and local images</a:t>
            </a:r>
          </a:p>
        </p:txBody>
      </p:sp>
      <p:sp>
        <p:nvSpPr>
          <p:cNvPr id="3" name="code-label">
            <a:extLst>
              <a:ext uri="{FF2B5EF4-FFF2-40B4-BE49-F238E27FC236}">
                <a16:creationId xmlns:a16="http://schemas.microsoft.com/office/drawing/2014/main" id="{A76ACE25-C029-44A4-B5F3-E0F20267CA8E}"/>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2CE64BF1-6C35-40A3-B12E-313DFDBB68F6}"/>
              </a:ext>
            </a:extLst>
          </p:cNvPr>
          <p:cNvSpPr>
            <a:spLocks noGrp="1"/>
          </p:cNvSpPr>
          <p:nvPr/>
        </p:nvSpPr>
        <p:spPr>
          <a:xfrm>
            <a:off x="609600" y="2028825"/>
            <a:ext cx="10934700" cy="1482090"/>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version</a:t>
            </a:r>
          </a:p>
          <a:p>
            <a:pPr>
              <a:defRPr sz="1800" b="0">
                <a:solidFill>
                  <a:srgbClr val="12283C"/>
                </a:solidFill>
                <a:latin typeface="Consolas"/>
                <a:ea typeface="Consolas"/>
                <a:cs typeface="Consolas"/>
              </a:defRPr>
            </a:pPr>
            <a:r>
              <a:t>docker context ls</a:t>
            </a:r>
          </a:p>
          <a:p>
            <a:pPr>
              <a:defRPr sz="1800" b="0">
                <a:solidFill>
                  <a:srgbClr val="12283C"/>
                </a:solidFill>
                <a:latin typeface="Consolas"/>
                <a:ea typeface="Consolas"/>
                <a:cs typeface="Consolas"/>
              </a:defRPr>
            </a:pPr>
            <a:r>
              <a:t>docker info</a:t>
            </a:r>
          </a:p>
          <a:p>
            <a:pPr>
              <a:defRPr sz="1800" b="0">
                <a:solidFill>
                  <a:srgbClr val="12283C"/>
                </a:solidFill>
                <a:latin typeface="Consolas"/>
                <a:ea typeface="Consolas"/>
                <a:cs typeface="Consolas"/>
              </a:defRPr>
            </a:pPr>
            <a:r>
              <a:t>docker pull nginx:stable-alpine</a:t>
            </a:r>
          </a:p>
          <a:p>
            <a:pPr>
              <a:defRPr sz="1800" b="0">
                <a:solidFill>
                  <a:srgbClr val="12283C"/>
                </a:solidFill>
                <a:latin typeface="Consolas"/>
                <a:ea typeface="Consolas"/>
                <a:cs typeface="Consolas"/>
              </a:defRPr>
            </a:pPr>
            <a:r>
              <a:t>docker image ls</a:t>
            </a:r>
          </a:p>
        </p:txBody>
      </p:sp>
      <p:sp>
        <p:nvSpPr>
          <p:cNvPr id="5" name="editable-bullet-list">
            <a:extLst>
              <a:ext uri="{FF2B5EF4-FFF2-40B4-BE49-F238E27FC236}">
                <a16:creationId xmlns:a16="http://schemas.microsoft.com/office/drawing/2014/main" id="{0B2DDBD9-1B66-445E-8997-0408E54C54C1}"/>
              </a:ext>
            </a:extLst>
          </p:cNvPr>
          <p:cNvSpPr>
            <a:spLocks noGrp="1"/>
          </p:cNvSpPr>
          <p:nvPr/>
        </p:nvSpPr>
        <p:spPr>
          <a:xfrm>
            <a:off x="609600" y="3644265"/>
            <a:ext cx="10934700" cy="2623185"/>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The first three commands diagnose the execution environment. The last two fetch and list image artifacts.</a:t>
            </a:r>
          </a:p>
        </p:txBody>
      </p:sp>
    </p:spTree>
    <p:extLst>
      <p:ext uri="{BB962C8B-B14F-4D97-AF65-F5344CB8AC3E}">
        <p14:creationId xmlns:p14="http://schemas.microsoft.com/office/powerpoint/2010/main" val="1575694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7DB17B20-4583-4266-BA72-D967BAC3AB2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30F95366-E60B-4F39-BB71-ED3356646C06}"/>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successful container can exit immediately</a:t>
            </a:r>
          </a:p>
        </p:txBody>
      </p:sp>
      <p:sp>
        <p:nvSpPr>
          <p:cNvPr id="3" name="code-label">
            <a:extLst>
              <a:ext uri="{FF2B5EF4-FFF2-40B4-BE49-F238E27FC236}">
                <a16:creationId xmlns:a16="http://schemas.microsoft.com/office/drawing/2014/main" id="{1D37AAA1-9D41-4F0D-9EA5-859738B03487}"/>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CD26ACFE-13B6-4EF0-9F45-054D99A85C5A}"/>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--name l10-hello hello-world</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ps -a</a:t>
            </a:r>
          </a:p>
          <a:p>
            <a:pPr>
              <a:defRPr sz="1800" b="0">
                <a:solidFill>
                  <a:srgbClr val="12283C"/>
                </a:solidFill>
                <a:latin typeface="Consolas"/>
                <a:ea typeface="Consolas"/>
                <a:cs typeface="Consolas"/>
              </a:defRPr>
            </a:pPr>
            <a:r>
              <a:t>docker rm l10-hello</a:t>
            </a:r>
          </a:p>
        </p:txBody>
      </p:sp>
      <p:sp>
        <p:nvSpPr>
          <p:cNvPr id="5" name="key-point">
            <a:extLst>
              <a:ext uri="{FF2B5EF4-FFF2-40B4-BE49-F238E27FC236}">
                <a16:creationId xmlns:a16="http://schemas.microsoft.com/office/drawing/2014/main" id="{F6315F3A-1D98-4B6F-9293-F0001991058F}"/>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hello-world prints a message and exits. An exited container is not automatically a failed container.</a:t>
            </a:r>
          </a:p>
        </p:txBody>
      </p:sp>
    </p:spTree>
    <p:extLst>
      <p:ext uri="{BB962C8B-B14F-4D97-AF65-F5344CB8AC3E}">
        <p14:creationId xmlns:p14="http://schemas.microsoft.com/office/powerpoint/2010/main" val="1779946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9" name="section-label">
            <a:extLst>
              <a:ext uri="{FF2B5EF4-FFF2-40B4-BE49-F238E27FC236}">
                <a16:creationId xmlns:a16="http://schemas.microsoft.com/office/drawing/2014/main" id="{80F72DD9-193A-42C3-AEF6-F5E12AAA5A66}"/>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3AC9F782-537A-4E1B-AAC8-FD3A13006C4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Running a web server</a:t>
            </a:r>
          </a:p>
        </p:txBody>
      </p:sp>
      <p:sp>
        <p:nvSpPr>
          <p:cNvPr id="3" name="code-label">
            <a:extLst>
              <a:ext uri="{FF2B5EF4-FFF2-40B4-BE49-F238E27FC236}">
                <a16:creationId xmlns:a16="http://schemas.microsoft.com/office/drawing/2014/main" id="{CD412B1D-DED0-4E24-9B84-310EFD7D75B7}"/>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497063C9-F4E6-4189-B531-2459030F8707}"/>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--name l10-web -d -p 127.0.0.1:8080:80 nginx:stable-alpine</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port l10-web</a:t>
            </a:r>
          </a:p>
        </p:txBody>
      </p:sp>
      <p:sp>
        <p:nvSpPr>
          <p:cNvPr id="5" name="editable-bullet-list">
            <a:extLst>
              <a:ext uri="{FF2B5EF4-FFF2-40B4-BE49-F238E27FC236}">
                <a16:creationId xmlns:a16="http://schemas.microsoft.com/office/drawing/2014/main" id="{6FDAD313-50D7-4EE9-8448-8A6A48132AE2}"/>
              </a:ext>
            </a:extLst>
          </p:cNvPr>
          <p:cNvSpPr>
            <a:spLocks noGrp="1"/>
          </p:cNvSpPr>
          <p:nvPr/>
        </p:nvSpPr>
        <p:spPr>
          <a:xfrm>
            <a:off x="609600" y="3081909"/>
            <a:ext cx="10934700" cy="2814066"/>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Open http://localhost:8080 in a browser.</a:t>
            </a:r>
          </a:p>
        </p:txBody>
      </p:sp>
      <p:sp>
        <p:nvSpPr>
          <p:cNvPr id="6" name="key-point">
            <a:extLst>
              <a:ext uri="{FF2B5EF4-FFF2-40B4-BE49-F238E27FC236}">
                <a16:creationId xmlns:a16="http://schemas.microsoft.com/office/drawing/2014/main" id="{6841D0E3-07F2-4797-9D6D-A06EEFEE0394}"/>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Expected result: the NGINX welcome page. The returned container ID identifies the instance, not its image.</a:t>
            </a:r>
          </a:p>
        </p:txBody>
      </p:sp>
    </p:spTree>
    <p:extLst>
      <p:ext uri="{BB962C8B-B14F-4D97-AF65-F5344CB8AC3E}">
        <p14:creationId xmlns:p14="http://schemas.microsoft.com/office/powerpoint/2010/main" val="950922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20EA907B-FA5F-453A-99B5-2F58598B76A3}"/>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29BF3C97-601A-4FA9-A125-2260681217D0}"/>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Inspecting a running container</a:t>
            </a:r>
          </a:p>
        </p:txBody>
      </p:sp>
      <p:sp>
        <p:nvSpPr>
          <p:cNvPr id="3" name="code-label">
            <a:extLst>
              <a:ext uri="{FF2B5EF4-FFF2-40B4-BE49-F238E27FC236}">
                <a16:creationId xmlns:a16="http://schemas.microsoft.com/office/drawing/2014/main" id="{A7006710-F2B1-4B5E-883E-474ECE1B1C3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EA78B995-5C12-40B2-8CF0-FEF78C7AECF3}"/>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ps -a</a:t>
            </a:r>
          </a:p>
          <a:p>
            <a:pPr>
              <a:defRPr sz="1800" b="0">
                <a:solidFill>
                  <a:srgbClr val="12283C"/>
                </a:solidFill>
                <a:latin typeface="Consolas"/>
                <a:ea typeface="Consolas"/>
                <a:cs typeface="Consolas"/>
              </a:defRPr>
            </a:pPr>
            <a:r>
              <a:t>docker logs --tail 30 l10-web</a:t>
            </a:r>
          </a:p>
          <a:p>
            <a:pPr>
              <a:defRPr sz="1800" b="0">
                <a:solidFill>
                  <a:srgbClr val="12283C"/>
                </a:solidFill>
                <a:latin typeface="Consolas"/>
                <a:ea typeface="Consolas"/>
                <a:cs typeface="Consolas"/>
              </a:defRPr>
            </a:pPr>
            <a:r>
              <a:t>docker inspect l10-web</a:t>
            </a:r>
          </a:p>
          <a:p>
            <a:pPr>
              <a:defRPr sz="1800" b="0">
                <a:solidFill>
                  <a:srgbClr val="12283C"/>
                </a:solidFill>
                <a:latin typeface="Consolas"/>
                <a:ea typeface="Consolas"/>
                <a:cs typeface="Consolas"/>
              </a:defRPr>
            </a:pPr>
            <a:r>
              <a:t>docker stats --no-stream l10-web</a:t>
            </a:r>
          </a:p>
        </p:txBody>
      </p:sp>
      <p:sp>
        <p:nvSpPr>
          <p:cNvPr id="5" name="editable-bullet-list">
            <a:extLst>
              <a:ext uri="{FF2B5EF4-FFF2-40B4-BE49-F238E27FC236}">
                <a16:creationId xmlns:a16="http://schemas.microsoft.com/office/drawing/2014/main" id="{E8747DDB-CF20-49B6-9EDE-2044E257561D}"/>
              </a:ext>
            </a:extLst>
          </p:cNvPr>
          <p:cNvSpPr>
            <a:spLocks noGrp="1"/>
          </p:cNvSpPr>
          <p:nvPr/>
        </p:nvSpPr>
        <p:spPr>
          <a:xfrm>
            <a:off x="609600" y="3363087"/>
            <a:ext cx="10934700" cy="2904363"/>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Status and exit code</a:t>
            </a:r>
          </a:p>
          <a:p>
            <a:pPr marL="279400" indent="0">
              <a:spcAft>
                <a:spcPts val="1125"/>
              </a:spcAft>
              <a:defRPr sz="2250" b="0">
                <a:solidFill>
                  <a:srgbClr val="12283C"/>
                </a:solidFill>
                <a:latin typeface="Segoe UI"/>
                <a:ea typeface="Segoe UI"/>
                <a:cs typeface="Segoe UI"/>
              </a:defRPr>
            </a:pPr>
            <a:r>
              <a:rPr sz="2025">
                <a:solidFill>
                  <a:srgbClr val="4E6271"/>
                </a:solidFill>
              </a:rPr>
              <a:t>Check whether the process remained running or exited.</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Logs</a:t>
            </a:r>
          </a:p>
          <a:p>
            <a:pPr marL="279400" indent="0">
              <a:spcAft>
                <a:spcPts val="1125"/>
              </a:spcAft>
              <a:defRPr sz="2250" b="0">
                <a:solidFill>
                  <a:srgbClr val="12283C"/>
                </a:solidFill>
                <a:latin typeface="Segoe UI"/>
                <a:ea typeface="Segoe UI"/>
                <a:cs typeface="Segoe UI"/>
              </a:defRPr>
            </a:pPr>
            <a:r>
              <a:rPr sz="2025">
                <a:solidFill>
                  <a:srgbClr val="4E6271"/>
                </a:solidFill>
              </a:rPr>
              <a:t>Read what the application wrote to standard output and standard error.</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Inspection and statistics</a:t>
            </a:r>
          </a:p>
          <a:p>
            <a:pPr marL="279400" indent="0">
              <a:spcAft>
                <a:spcPts val="0"/>
              </a:spcAft>
              <a:defRPr sz="2250" b="0">
                <a:solidFill>
                  <a:srgbClr val="12283C"/>
                </a:solidFill>
                <a:latin typeface="Segoe UI"/>
                <a:ea typeface="Segoe UI"/>
                <a:cs typeface="Segoe UI"/>
              </a:defRPr>
            </a:pPr>
            <a:r>
              <a:rPr sz="2025">
                <a:solidFill>
                  <a:srgbClr val="4E6271"/>
                </a:solidFill>
              </a:rPr>
              <a:t>Examine the container configuration and Docker’s current resource-usage information.</a:t>
            </a:r>
          </a:p>
        </p:txBody>
      </p:sp>
    </p:spTree>
    <p:extLst>
      <p:ext uri="{BB962C8B-B14F-4D97-AF65-F5344CB8AC3E}">
        <p14:creationId xmlns:p14="http://schemas.microsoft.com/office/powerpoint/2010/main" val="1634266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2FAA698D-3F21-4B14-9418-4F28546139D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8B56160F-7121-40E6-BA78-8C3E5A3CA7DA}"/>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exec, attach, and application processes</a:t>
            </a:r>
          </a:p>
        </p:txBody>
      </p:sp>
      <p:sp>
        <p:nvSpPr>
          <p:cNvPr id="3" name="code-label">
            <a:extLst>
              <a:ext uri="{FF2B5EF4-FFF2-40B4-BE49-F238E27FC236}">
                <a16:creationId xmlns:a16="http://schemas.microsoft.com/office/drawing/2014/main" id="{9B1617D8-163C-4C34-9D08-7E0BAE9611C9}"/>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Inspect the existing container</a:t>
            </a:r>
          </a:p>
        </p:txBody>
      </p:sp>
      <p:sp>
        <p:nvSpPr>
          <p:cNvPr id="4" name="editable-code">
            <a:extLst>
              <a:ext uri="{FF2B5EF4-FFF2-40B4-BE49-F238E27FC236}">
                <a16:creationId xmlns:a16="http://schemas.microsoft.com/office/drawing/2014/main" id="{799B5054-F616-4030-A455-60CA1577E37C}"/>
              </a:ext>
            </a:extLst>
          </p:cNvPr>
          <p:cNvSpPr>
            <a:spLocks noGrp="1"/>
          </p:cNvSpPr>
          <p:nvPr/>
        </p:nvSpPr>
        <p:spPr>
          <a:xfrm>
            <a:off x="609600" y="2028825"/>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exec l10-web nginx -t</a:t>
            </a:r>
          </a:p>
          <a:p>
            <a:pPr>
              <a:defRPr sz="1800" b="0">
                <a:solidFill>
                  <a:srgbClr val="12283C"/>
                </a:solidFill>
                <a:latin typeface="Consolas"/>
                <a:ea typeface="Consolas"/>
                <a:cs typeface="Consolas"/>
              </a:defRPr>
            </a:pPr>
            <a:r>
              <a:t>docker exec -it l10-web sh</a:t>
            </a:r>
          </a:p>
        </p:txBody>
      </p:sp>
      <p:sp>
        <p:nvSpPr>
          <p:cNvPr id="5" name="editable-bullet-list">
            <a:extLst>
              <a:ext uri="{FF2B5EF4-FFF2-40B4-BE49-F238E27FC236}">
                <a16:creationId xmlns:a16="http://schemas.microsoft.com/office/drawing/2014/main" id="{E3998CEB-A8C1-4112-8F4C-DD2082015880}"/>
              </a:ext>
            </a:extLst>
          </p:cNvPr>
          <p:cNvSpPr>
            <a:spLocks noGrp="1"/>
          </p:cNvSpPr>
          <p:nvPr/>
        </p:nvSpPr>
        <p:spPr>
          <a:xfrm>
            <a:off x="609600" y="2800731"/>
            <a:ext cx="10934700" cy="3466719"/>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Inside the shell, use exit to leave it.</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exec starts another process in a running container.</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attach connects to the main process’s streams.</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Neither command creates a new image.</a:t>
            </a:r>
          </a:p>
        </p:txBody>
      </p:sp>
    </p:spTree>
    <p:extLst>
      <p:ext uri="{BB962C8B-B14F-4D97-AF65-F5344CB8AC3E}">
        <p14:creationId xmlns:p14="http://schemas.microsoft.com/office/powerpoint/2010/main" val="201604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C0A0A453-0976-49B3-A323-E7D88249558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4B2F6290-B93D-4637-9F64-F84198656E1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Stopping, restarting, and removing</a:t>
            </a:r>
          </a:p>
        </p:txBody>
      </p:sp>
      <p:sp>
        <p:nvSpPr>
          <p:cNvPr id="3" name="code-label">
            <a:extLst>
              <a:ext uri="{FF2B5EF4-FFF2-40B4-BE49-F238E27FC236}">
                <a16:creationId xmlns:a16="http://schemas.microsoft.com/office/drawing/2014/main" id="{A083CF69-8507-4B91-81AE-13D434D67E43}"/>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DF683604-F6A8-476D-AC5F-CCE585588899}"/>
              </a:ext>
            </a:extLst>
          </p:cNvPr>
          <p:cNvSpPr>
            <a:spLocks noGrp="1"/>
          </p:cNvSpPr>
          <p:nvPr/>
        </p:nvSpPr>
        <p:spPr>
          <a:xfrm>
            <a:off x="609600" y="2028825"/>
            <a:ext cx="10934700" cy="176326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stop l10-web</a:t>
            </a:r>
          </a:p>
          <a:p>
            <a:pPr>
              <a:defRPr sz="1800" b="0">
                <a:solidFill>
                  <a:srgbClr val="12283C"/>
                </a:solidFill>
                <a:latin typeface="Consolas"/>
                <a:ea typeface="Consolas"/>
                <a:cs typeface="Consolas"/>
              </a:defRPr>
            </a:pPr>
            <a:r>
              <a:t>docker ps -a</a:t>
            </a:r>
          </a:p>
          <a:p>
            <a:pPr>
              <a:defRPr sz="1800" b="0">
                <a:solidFill>
                  <a:srgbClr val="12283C"/>
                </a:solidFill>
                <a:latin typeface="Consolas"/>
                <a:ea typeface="Consolas"/>
                <a:cs typeface="Consolas"/>
              </a:defRPr>
            </a:pPr>
            <a:r>
              <a:t>docker start l10-web</a:t>
            </a:r>
          </a:p>
          <a:p>
            <a:pPr>
              <a:defRPr sz="1800" b="0">
                <a:solidFill>
                  <a:srgbClr val="12283C"/>
                </a:solidFill>
                <a:latin typeface="Consolas"/>
                <a:ea typeface="Consolas"/>
                <a:cs typeface="Consolas"/>
              </a:defRPr>
            </a:pPr>
            <a:r>
              <a:t>docker restart l10-web</a:t>
            </a:r>
          </a:p>
          <a:p>
            <a:pPr>
              <a:defRPr sz="1800" b="0">
                <a:solidFill>
                  <a:srgbClr val="12283C"/>
                </a:solidFill>
                <a:latin typeface="Consolas"/>
                <a:ea typeface="Consolas"/>
                <a:cs typeface="Consolas"/>
              </a:defRPr>
            </a:pPr>
            <a:r>
              <a:t>docker stop l10-web</a:t>
            </a:r>
          </a:p>
          <a:p>
            <a:pPr>
              <a:defRPr sz="1800" b="0">
                <a:solidFill>
                  <a:srgbClr val="12283C"/>
                </a:solidFill>
                <a:latin typeface="Consolas"/>
                <a:ea typeface="Consolas"/>
                <a:cs typeface="Consolas"/>
              </a:defRPr>
            </a:pPr>
            <a:r>
              <a:t>docker rm l10-web</a:t>
            </a:r>
          </a:p>
        </p:txBody>
      </p:sp>
      <p:sp>
        <p:nvSpPr>
          <p:cNvPr id="5" name="key-point">
            <a:extLst>
              <a:ext uri="{FF2B5EF4-FFF2-40B4-BE49-F238E27FC236}">
                <a16:creationId xmlns:a16="http://schemas.microsoft.com/office/drawing/2014/main" id="{23B48F3C-0026-439F-A49E-9BED6DD4A9CF}"/>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start reuses an existing container. run creates a new one.</a:t>
            </a:r>
          </a:p>
        </p:txBody>
      </p:sp>
    </p:spTree>
    <p:extLst>
      <p:ext uri="{BB962C8B-B14F-4D97-AF65-F5344CB8AC3E}">
        <p14:creationId xmlns:p14="http://schemas.microsoft.com/office/powerpoint/2010/main" val="1694151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A4B4F9BF-36BE-48CE-BBBD-17EF3FE5BC2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4B713E56-0B2C-4E35-803B-5A0C41C15ED0}"/>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Names, IDs, tags, and digests</a:t>
            </a:r>
          </a:p>
        </p:txBody>
      </p:sp>
      <p:sp>
        <p:nvSpPr>
          <p:cNvPr id="3" name="editable-bullet-list">
            <a:extLst>
              <a:ext uri="{FF2B5EF4-FFF2-40B4-BE49-F238E27FC236}">
                <a16:creationId xmlns:a16="http://schemas.microsoft.com/office/drawing/2014/main" id="{605A9D51-913B-4119-977A-3ACAE96AD2C6}"/>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Container name</a:t>
            </a:r>
          </a:p>
          <a:p>
            <a:pPr marL="279400" indent="0">
              <a:spcAft>
                <a:spcPts val="750"/>
              </a:spcAft>
              <a:defRPr sz="2025" b="0">
                <a:solidFill>
                  <a:srgbClr val="12283C"/>
                </a:solidFill>
                <a:latin typeface="Segoe UI"/>
                <a:ea typeface="Segoe UI"/>
                <a:cs typeface="Segoe UI"/>
              </a:defRPr>
            </a:pPr>
            <a:r>
              <a:rPr sz="1800">
                <a:solidFill>
                  <a:srgbClr val="4E6271"/>
                </a:solidFill>
              </a:rPr>
              <a:t>Identifies one container in the engine and must be unique among existing containers.</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Container ID</a:t>
            </a:r>
          </a:p>
          <a:p>
            <a:pPr marL="279400" indent="0">
              <a:spcAft>
                <a:spcPts val="750"/>
              </a:spcAft>
              <a:defRPr sz="2025" b="0">
                <a:solidFill>
                  <a:srgbClr val="12283C"/>
                </a:solidFill>
                <a:latin typeface="Segoe UI"/>
                <a:ea typeface="Segoe UI"/>
                <a:cs typeface="Segoe UI"/>
              </a:defRPr>
            </a:pPr>
            <a:r>
              <a:rPr sz="1800">
                <a:solidFill>
                  <a:srgbClr val="4E6271"/>
                </a:solidFill>
              </a:rPr>
              <a:t>Identifies a specific instance. A newly created container receives a different ID.</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Image tag</a:t>
            </a:r>
          </a:p>
          <a:p>
            <a:pPr marL="279400" indent="0">
              <a:spcAft>
                <a:spcPts val="750"/>
              </a:spcAft>
              <a:defRPr sz="2025" b="0">
                <a:solidFill>
                  <a:srgbClr val="12283C"/>
                </a:solidFill>
                <a:latin typeface="Segoe UI"/>
                <a:ea typeface="Segoe UI"/>
                <a:cs typeface="Segoe UI"/>
              </a:defRPr>
            </a:pPr>
            <a:r>
              <a:rPr sz="1800">
                <a:solidFill>
                  <a:srgbClr val="4E6271"/>
                </a:solidFill>
              </a:rPr>
              <a:t>Provides a readable image reference that can be reassigned to different content.</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Image digest</a:t>
            </a:r>
          </a:p>
          <a:p>
            <a:pPr marL="279400" indent="0">
              <a:spcAft>
                <a:spcPts val="750"/>
              </a:spcAft>
              <a:defRPr sz="2025" b="0">
                <a:solidFill>
                  <a:srgbClr val="12283C"/>
                </a:solidFill>
                <a:latin typeface="Segoe UI"/>
                <a:ea typeface="Segoe UI"/>
                <a:cs typeface="Segoe UI"/>
              </a:defRPr>
            </a:pPr>
            <a:r>
              <a:rPr sz="1800">
                <a:solidFill>
                  <a:srgbClr val="4E6271"/>
                </a:solidFill>
              </a:rPr>
              <a:t>Identifies specific image or manifest content using a content-addressed value.</a:t>
            </a:r>
          </a:p>
          <a:p>
            <a:pPr marL="279400" indent="-165100">
              <a:spcAft>
                <a:spcPts val="0"/>
              </a:spcAft>
              <a:buChar char="•"/>
              <a:defRPr sz="2025" b="0">
                <a:solidFill>
                  <a:srgbClr val="12283C"/>
                </a:solidFill>
                <a:latin typeface="Segoe UI"/>
                <a:ea typeface="Segoe UI"/>
                <a:cs typeface="Segoe UI"/>
              </a:defRPr>
            </a:pPr>
            <a:r>
              <a:rPr sz="2025" b="0">
                <a:solidFill>
                  <a:srgbClr val="12283C"/>
                </a:solidFill>
              </a:rPr>
              <a:t>An image ID and a registry manifest digest serve different roles. Do not assume the displayed hashes are interchangeable.</a:t>
            </a:r>
          </a:p>
        </p:txBody>
      </p:sp>
    </p:spTree>
    <p:extLst>
      <p:ext uri="{BB962C8B-B14F-4D97-AF65-F5344CB8AC3E}">
        <p14:creationId xmlns:p14="http://schemas.microsoft.com/office/powerpoint/2010/main" val="1311497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2D56FA52-FC74-4688-8002-D4A514968F73}"/>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Networking</a:t>
            </a:r>
          </a:p>
        </p:txBody>
      </p:sp>
      <p:sp>
        <p:nvSpPr>
          <p:cNvPr id="2" name="slide-title">
            <a:extLst>
              <a:ext uri="{FF2B5EF4-FFF2-40B4-BE49-F238E27FC236}">
                <a16:creationId xmlns:a16="http://schemas.microsoft.com/office/drawing/2014/main" id="{064225A7-134E-403E-A8AD-DF545DCD0D18}"/>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working connection needs both sides</a:t>
            </a:r>
          </a:p>
        </p:txBody>
      </p:sp>
      <p:sp>
        <p:nvSpPr>
          <p:cNvPr id="3" name="code-label">
            <a:extLst>
              <a:ext uri="{FF2B5EF4-FFF2-40B4-BE49-F238E27FC236}">
                <a16:creationId xmlns:a16="http://schemas.microsoft.com/office/drawing/2014/main" id="{15F9E2B4-2D31-41D7-8C84-971B4DBF1475}"/>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FE69CCD3-F251-461E-AA2C-602DCBF3BF3D}"/>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--name l10-web -d -p 127.0.0.1:8080:80 nginx:stable-alpine</a:t>
            </a:r>
          </a:p>
        </p:txBody>
      </p:sp>
      <p:sp>
        <p:nvSpPr>
          <p:cNvPr id="5" name="editable-bullet-list">
            <a:extLst>
              <a:ext uri="{FF2B5EF4-FFF2-40B4-BE49-F238E27FC236}">
                <a16:creationId xmlns:a16="http://schemas.microsoft.com/office/drawing/2014/main" id="{D31CC612-8D26-449E-A4F4-EFB05868337C}"/>
              </a:ext>
            </a:extLst>
          </p:cNvPr>
          <p:cNvSpPr>
            <a:spLocks noGrp="1"/>
          </p:cNvSpPr>
          <p:nvPr/>
        </p:nvSpPr>
        <p:spPr>
          <a:xfrm>
            <a:off x="609600" y="2519553"/>
            <a:ext cx="10934700" cy="3747897"/>
          </a:xfrm>
          <a:prstGeom prst="rect">
            <a:avLst/>
          </a:prstGeom>
          <a:noFill/>
          <a:ln w="0">
            <a:noFill/>
          </a:ln>
        </p:spPr>
        <p:txBody>
          <a:bodyPr wrap="square" lIns="0" tIns="0" rIns="0" bIns="0" anchor="t">
            <a:noAutofit/>
          </a:bodyPr>
          <a:lstStyle/>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Application inside the container</a:t>
            </a:r>
          </a:p>
          <a:p>
            <a:pPr marL="279400" indent="0">
              <a:spcAft>
                <a:spcPts val="750"/>
              </a:spcAft>
              <a:defRPr sz="1950" b="0">
                <a:solidFill>
                  <a:srgbClr val="12283C"/>
                </a:solidFill>
                <a:latin typeface="Segoe UI"/>
                <a:ea typeface="Segoe UI"/>
                <a:cs typeface="Segoe UI"/>
              </a:defRPr>
            </a:pPr>
            <a:r>
              <a:rPr sz="1800">
                <a:solidFill>
                  <a:srgbClr val="4E6271"/>
                </a:solidFill>
              </a:rPr>
              <a:t>Listen on the intended port and an interface reachable from the container network.</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Docker host</a:t>
            </a:r>
          </a:p>
          <a:p>
            <a:pPr marL="279400" indent="0">
              <a:spcAft>
                <a:spcPts val="750"/>
              </a:spcAft>
              <a:defRPr sz="1950" b="0">
                <a:solidFill>
                  <a:srgbClr val="12283C"/>
                </a:solidFill>
                <a:latin typeface="Segoe UI"/>
                <a:ea typeface="Segoe UI"/>
                <a:cs typeface="Segoe UI"/>
              </a:defRPr>
            </a:pPr>
            <a:r>
              <a:rPr sz="1800">
                <a:solidFill>
                  <a:srgbClr val="4E6271"/>
                </a:solidFill>
              </a:rPr>
              <a:t>Publish that container port on the required host address and port.</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Browser or client</a:t>
            </a:r>
          </a:p>
          <a:p>
            <a:pPr marL="279400" indent="0">
              <a:spcAft>
                <a:spcPts val="750"/>
              </a:spcAft>
              <a:defRPr sz="1950" b="0">
                <a:solidFill>
                  <a:srgbClr val="12283C"/>
                </a:solidFill>
                <a:latin typeface="Segoe UI"/>
                <a:ea typeface="Segoe UI"/>
                <a:cs typeface="Segoe UI"/>
              </a:defRPr>
            </a:pPr>
            <a:r>
              <a:rPr sz="1800">
                <a:solidFill>
                  <a:srgbClr val="4E6271"/>
                </a:solidFill>
              </a:rPr>
              <a:t>Connect to the published address of that Docker host.</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Cleanup after this illustration: docker stop l10-web, then docker rm l10-web.</a:t>
            </a:r>
          </a:p>
        </p:txBody>
      </p:sp>
    </p:spTree>
    <p:extLst>
      <p:ext uri="{BB962C8B-B14F-4D97-AF65-F5344CB8AC3E}">
        <p14:creationId xmlns:p14="http://schemas.microsoft.com/office/powerpoint/2010/main" val="913062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A49D447A-968A-47C5-B105-544A4C66A2F3}"/>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Networking</a:t>
            </a:r>
          </a:p>
        </p:txBody>
      </p:sp>
      <p:sp>
        <p:nvSpPr>
          <p:cNvPr id="2" name="slide-title">
            <a:extLst>
              <a:ext uri="{FF2B5EF4-FFF2-40B4-BE49-F238E27FC236}">
                <a16:creationId xmlns:a16="http://schemas.microsoft.com/office/drawing/2014/main" id="{8A309EC1-A40F-433C-AAFC-7840E505BC20}"/>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user-defined bridge network</a:t>
            </a:r>
          </a:p>
        </p:txBody>
      </p:sp>
      <p:sp>
        <p:nvSpPr>
          <p:cNvPr id="3" name="code-label">
            <a:extLst>
              <a:ext uri="{FF2B5EF4-FFF2-40B4-BE49-F238E27FC236}">
                <a16:creationId xmlns:a16="http://schemas.microsoft.com/office/drawing/2014/main" id="{1552C247-362D-4794-AA93-C96FD591D1C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1D29620D-AD1E-4774-ABE7-366A54B19AB3}"/>
              </a:ext>
            </a:extLst>
          </p:cNvPr>
          <p:cNvSpPr>
            <a:spLocks noGrp="1"/>
          </p:cNvSpPr>
          <p:nvPr/>
        </p:nvSpPr>
        <p:spPr>
          <a:xfrm>
            <a:off x="609600" y="2028825"/>
            <a:ext cx="10934700" cy="176326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network create l10-net</a:t>
            </a:r>
          </a:p>
          <a:p>
            <a:pPr>
              <a:defRPr sz="1800" b="0">
                <a:solidFill>
                  <a:srgbClr val="12283C"/>
                </a:solidFill>
                <a:latin typeface="Consolas"/>
                <a:ea typeface="Consolas"/>
                <a:cs typeface="Consolas"/>
              </a:defRPr>
            </a:pPr>
            <a:r>
              <a:t>docker run -d --name l10-web --network l10-net nginx:stable-alpine</a:t>
            </a:r>
          </a:p>
          <a:p>
            <a:pPr>
              <a:defRPr sz="1800" b="0">
                <a:solidFill>
                  <a:srgbClr val="12283C"/>
                </a:solidFill>
                <a:latin typeface="Consolas"/>
                <a:ea typeface="Consolas"/>
                <a:cs typeface="Consolas"/>
              </a:defRPr>
            </a:pPr>
            <a:r>
              <a:t>docker run --rm --network l10-net alpine:3.23 wget -qO- http://l10-web</a:t>
            </a:r>
          </a:p>
          <a:p>
            <a:pPr>
              <a:defRPr sz="1800" b="0">
                <a:solidFill>
                  <a:srgbClr val="12283C"/>
                </a:solidFill>
                <a:latin typeface="Consolas"/>
                <a:ea typeface="Consolas"/>
                <a:cs typeface="Consolas"/>
              </a:defRPr>
            </a:pPr>
            <a:r>
              <a:t>docker stop l10-web</a:t>
            </a:r>
          </a:p>
          <a:p>
            <a:pPr>
              <a:defRPr sz="1800" b="0">
                <a:solidFill>
                  <a:srgbClr val="12283C"/>
                </a:solidFill>
                <a:latin typeface="Consolas"/>
                <a:ea typeface="Consolas"/>
                <a:cs typeface="Consolas"/>
              </a:defRPr>
            </a:pPr>
            <a:r>
              <a:t>docker rm l10-web</a:t>
            </a:r>
          </a:p>
          <a:p>
            <a:pPr>
              <a:defRPr sz="1800" b="0">
                <a:solidFill>
                  <a:srgbClr val="12283C"/>
                </a:solidFill>
                <a:latin typeface="Consolas"/>
                <a:ea typeface="Consolas"/>
                <a:cs typeface="Consolas"/>
              </a:defRPr>
            </a:pPr>
            <a:r>
              <a:t>docker network rm l10-net</a:t>
            </a:r>
          </a:p>
        </p:txBody>
      </p:sp>
      <p:sp>
        <p:nvSpPr>
          <p:cNvPr id="5" name="key-point">
            <a:extLst>
              <a:ext uri="{FF2B5EF4-FFF2-40B4-BE49-F238E27FC236}">
                <a16:creationId xmlns:a16="http://schemas.microsoft.com/office/drawing/2014/main" id="{DE407AEE-7AEB-4833-94C3-B7E12B9851B4}"/>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The temporary client uses the server container’s name and internal port 80. No host port is needed for this request.</a:t>
            </a:r>
          </a:p>
        </p:txBody>
      </p:sp>
    </p:spTree>
    <p:extLst>
      <p:ext uri="{BB962C8B-B14F-4D97-AF65-F5344CB8AC3E}">
        <p14:creationId xmlns:p14="http://schemas.microsoft.com/office/powerpoint/2010/main" val="1704513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D2BF3578-7849-4A5F-89F7-16534E7BD6C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Storage</a:t>
            </a:r>
          </a:p>
        </p:txBody>
      </p:sp>
      <p:sp>
        <p:nvSpPr>
          <p:cNvPr id="2" name="slide-title">
            <a:extLst>
              <a:ext uri="{FF2B5EF4-FFF2-40B4-BE49-F238E27FC236}">
                <a16:creationId xmlns:a16="http://schemas.microsoft.com/office/drawing/2014/main" id="{52D4F72F-6738-4DEE-B8E8-F3D003220E4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named volume outlives a container</a:t>
            </a:r>
          </a:p>
        </p:txBody>
      </p:sp>
      <p:sp>
        <p:nvSpPr>
          <p:cNvPr id="3" name="code-label">
            <a:extLst>
              <a:ext uri="{FF2B5EF4-FFF2-40B4-BE49-F238E27FC236}">
                <a16:creationId xmlns:a16="http://schemas.microsoft.com/office/drawing/2014/main" id="{0CFDC299-FD0F-443D-A70F-A5E16621CDD2}"/>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E6AB86E9-07EA-421E-856B-171FEF71EE1A}"/>
              </a:ext>
            </a:extLst>
          </p:cNvPr>
          <p:cNvSpPr>
            <a:spLocks noGrp="1"/>
          </p:cNvSpPr>
          <p:nvPr/>
        </p:nvSpPr>
        <p:spPr>
          <a:xfrm>
            <a:off x="609600" y="2028825"/>
            <a:ext cx="10934700" cy="1482090"/>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volume create l10-data</a:t>
            </a:r>
          </a:p>
          <a:p>
            <a:pPr>
              <a:defRPr sz="1800" b="0">
                <a:solidFill>
                  <a:srgbClr val="12283C"/>
                </a:solidFill>
                <a:latin typeface="Consolas"/>
                <a:ea typeface="Consolas"/>
                <a:cs typeface="Consolas"/>
              </a:defRPr>
            </a:pPr>
            <a:r>
              <a:t>docker run --rm --mount type=volume,src=l10-data,dst=/data alpine:3.23 sh -c "echo CSC418 &gt; /data/course.txt"</a:t>
            </a:r>
          </a:p>
          <a:p>
            <a:pPr>
              <a:defRPr sz="1800" b="0">
                <a:solidFill>
                  <a:srgbClr val="12283C"/>
                </a:solidFill>
                <a:latin typeface="Consolas"/>
                <a:ea typeface="Consolas"/>
                <a:cs typeface="Consolas"/>
              </a:defRPr>
            </a:pPr>
            <a:r>
              <a:t>docker run --rm --mount type=volume,src=l10-data,dst=/data alpine:3.23 cat /data/course.txt</a:t>
            </a:r>
          </a:p>
        </p:txBody>
      </p:sp>
      <p:sp>
        <p:nvSpPr>
          <p:cNvPr id="5" name="key-point">
            <a:extLst>
              <a:ext uri="{FF2B5EF4-FFF2-40B4-BE49-F238E27FC236}">
                <a16:creationId xmlns:a16="http://schemas.microsoft.com/office/drawing/2014/main" id="{6E8FCF95-BACE-4BFE-B2A9-3C5C43231021}"/>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Expected output: CSC418. Two separate containers used the same named volume.</a:t>
            </a:r>
          </a:p>
        </p:txBody>
      </p:sp>
    </p:spTree>
    <p:extLst>
      <p:ext uri="{BB962C8B-B14F-4D97-AF65-F5344CB8AC3E}">
        <p14:creationId xmlns:p14="http://schemas.microsoft.com/office/powerpoint/2010/main" val="1204668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856BBF26-DACC-42DC-BA9C-5555645EF4E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Storage</a:t>
            </a:r>
          </a:p>
        </p:txBody>
      </p:sp>
      <p:sp>
        <p:nvSpPr>
          <p:cNvPr id="2" name="slide-title">
            <a:extLst>
              <a:ext uri="{FF2B5EF4-FFF2-40B4-BE49-F238E27FC236}">
                <a16:creationId xmlns:a16="http://schemas.microsoft.com/office/drawing/2014/main" id="{76BEAD2B-D8FE-4F0E-8998-E66B691FE301}"/>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bind mount shares an explicit host path</a:t>
            </a:r>
          </a:p>
        </p:txBody>
      </p:sp>
      <p:sp>
        <p:nvSpPr>
          <p:cNvPr id="3" name="code-label">
            <a:extLst>
              <a:ext uri="{FF2B5EF4-FFF2-40B4-BE49-F238E27FC236}">
                <a16:creationId xmlns:a16="http://schemas.microsoft.com/office/drawing/2014/main" id="{7AA08E58-99EA-4655-B274-5E837117C7A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Bash, from examples/static-site</a:t>
            </a:r>
          </a:p>
        </p:txBody>
      </p:sp>
      <p:sp>
        <p:nvSpPr>
          <p:cNvPr id="4" name="editable-code">
            <a:extLst>
              <a:ext uri="{FF2B5EF4-FFF2-40B4-BE49-F238E27FC236}">
                <a16:creationId xmlns:a16="http://schemas.microsoft.com/office/drawing/2014/main" id="{C0BBDB23-84EF-4304-BD42-74B5B5BD0C5B}"/>
              </a:ext>
            </a:extLst>
          </p:cNvPr>
          <p:cNvSpPr>
            <a:spLocks noGrp="1"/>
          </p:cNvSpPr>
          <p:nvPr/>
        </p:nvSpPr>
        <p:spPr>
          <a:xfrm>
            <a:off x="609600" y="2028825"/>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--rm -p 127.0.0.1:8080:80 --mount "type=bind,src=$PWD/site,dst=/usr/share/nginx/html,readonly" nginx:stable-alpine</a:t>
            </a:r>
          </a:p>
        </p:txBody>
      </p:sp>
      <p:sp>
        <p:nvSpPr>
          <p:cNvPr id="5" name="code-label">
            <a:extLst>
              <a:ext uri="{FF2B5EF4-FFF2-40B4-BE49-F238E27FC236}">
                <a16:creationId xmlns:a16="http://schemas.microsoft.com/office/drawing/2014/main" id="{EB71AF66-DE8C-47FA-8F5D-88A047D22CE1}"/>
              </a:ext>
            </a:extLst>
          </p:cNvPr>
          <p:cNvSpPr>
            <a:spLocks noGrp="1"/>
          </p:cNvSpPr>
          <p:nvPr/>
        </p:nvSpPr>
        <p:spPr>
          <a:xfrm>
            <a:off x="609600" y="2781681"/>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PowerShell, from examples/static-site</a:t>
            </a:r>
          </a:p>
        </p:txBody>
      </p:sp>
      <p:sp>
        <p:nvSpPr>
          <p:cNvPr id="6" name="editable-code">
            <a:extLst>
              <a:ext uri="{FF2B5EF4-FFF2-40B4-BE49-F238E27FC236}">
                <a16:creationId xmlns:a16="http://schemas.microsoft.com/office/drawing/2014/main" id="{029DDB9E-CD41-432C-83AF-630A848F6177}"/>
              </a:ext>
            </a:extLst>
          </p:cNvPr>
          <p:cNvSpPr>
            <a:spLocks noGrp="1"/>
          </p:cNvSpPr>
          <p:nvPr/>
        </p:nvSpPr>
        <p:spPr>
          <a:xfrm>
            <a:off x="609600" y="3067431"/>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--rm -p 127.0.0.1:8080:80 --mount "type=bind,src=$((Get-Location).Path)/site,dst=/usr/share/nginx/html,readonly" nginx:stable-alpine</a:t>
            </a:r>
          </a:p>
        </p:txBody>
      </p:sp>
      <p:sp>
        <p:nvSpPr>
          <p:cNvPr id="7" name="editable-bullet-list">
            <a:extLst>
              <a:ext uri="{FF2B5EF4-FFF2-40B4-BE49-F238E27FC236}">
                <a16:creationId xmlns:a16="http://schemas.microsoft.com/office/drawing/2014/main" id="{F72B2B5E-5D6E-4043-BB17-2C6EB2D10DEC}"/>
              </a:ext>
            </a:extLst>
          </p:cNvPr>
          <p:cNvSpPr>
            <a:spLocks noGrp="1"/>
          </p:cNvSpPr>
          <p:nvPr/>
        </p:nvSpPr>
        <p:spPr>
          <a:xfrm>
            <a:off x="609600" y="4120515"/>
            <a:ext cx="10934700" cy="2146935"/>
          </a:xfrm>
          <a:prstGeom prst="rect">
            <a:avLst/>
          </a:prstGeom>
          <a:noFill/>
          <a:ln w="0">
            <a:noFill/>
          </a:ln>
        </p:spPr>
        <p:txBody>
          <a:bodyPr wrap="square" lIns="0" tIns="0" rIns="0" bIns="0" anchor="t">
            <a:noAutofit/>
          </a:bodyPr>
          <a:lstStyle/>
          <a:p>
            <a:pPr marL="279400" indent="-165100">
              <a:spcAft>
                <a:spcPts val="0"/>
              </a:spcAft>
              <a:buChar char="•"/>
              <a:defRPr sz="1950" b="0">
                <a:solidFill>
                  <a:srgbClr val="12283C"/>
                </a:solidFill>
                <a:latin typeface="Segoe UI"/>
                <a:ea typeface="Segoe UI"/>
                <a:cs typeface="Segoe UI"/>
              </a:defRPr>
            </a:pPr>
            <a:r>
              <a:rPr sz="1950" b="0">
                <a:solidFill>
                  <a:srgbClr val="12283C"/>
                </a:solidFill>
              </a:rPr>
              <a:t>The supplied site directory contains index.html. Stop this foreground server with Ctrl+C.</a:t>
            </a:r>
          </a:p>
        </p:txBody>
      </p:sp>
    </p:spTree>
    <p:extLst>
      <p:ext uri="{BB962C8B-B14F-4D97-AF65-F5344CB8AC3E}">
        <p14:creationId xmlns:p14="http://schemas.microsoft.com/office/powerpoint/2010/main" val="1984423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E5A57241-D3C8-4C50-9D03-D48035C1D8C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Commands</a:t>
            </a:r>
          </a:p>
        </p:txBody>
      </p:sp>
      <p:sp>
        <p:nvSpPr>
          <p:cNvPr id="2" name="slide-title">
            <a:extLst>
              <a:ext uri="{FF2B5EF4-FFF2-40B4-BE49-F238E27FC236}">
                <a16:creationId xmlns:a16="http://schemas.microsoft.com/office/drawing/2014/main" id="{568BBA99-24F5-4825-81C1-89C41D595D8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Cleanup with known resource names</a:t>
            </a:r>
          </a:p>
        </p:txBody>
      </p:sp>
      <p:sp>
        <p:nvSpPr>
          <p:cNvPr id="3" name="code-label">
            <a:extLst>
              <a:ext uri="{FF2B5EF4-FFF2-40B4-BE49-F238E27FC236}">
                <a16:creationId xmlns:a16="http://schemas.microsoft.com/office/drawing/2014/main" id="{403B04C8-859B-4FA2-B42A-169D7C31A704}"/>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A4873297-C51D-4E18-B7B1-7626297C86F4}"/>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ps -a</a:t>
            </a:r>
          </a:p>
          <a:p>
            <a:pPr>
              <a:defRPr sz="1800" b="0">
                <a:solidFill>
                  <a:srgbClr val="12283C"/>
                </a:solidFill>
                <a:latin typeface="Consolas"/>
                <a:ea typeface="Consolas"/>
                <a:cs typeface="Consolas"/>
              </a:defRPr>
            </a:pPr>
            <a:r>
              <a:t>docker volume inspect l10-data</a:t>
            </a:r>
          </a:p>
          <a:p>
            <a:pPr>
              <a:defRPr sz="1800" b="0">
                <a:solidFill>
                  <a:srgbClr val="12283C"/>
                </a:solidFill>
                <a:latin typeface="Consolas"/>
                <a:ea typeface="Consolas"/>
                <a:cs typeface="Consolas"/>
              </a:defRPr>
            </a:pPr>
            <a:r>
              <a:t>docker volume rm l10-data</a:t>
            </a:r>
          </a:p>
          <a:p>
            <a:pPr>
              <a:defRPr sz="1800" b="0">
                <a:solidFill>
                  <a:srgbClr val="12283C"/>
                </a:solidFill>
                <a:latin typeface="Consolas"/>
                <a:ea typeface="Consolas"/>
                <a:cs typeface="Consolas"/>
              </a:defRPr>
            </a:pPr>
            <a:r>
              <a:t>docker image ls</a:t>
            </a:r>
          </a:p>
        </p:txBody>
      </p:sp>
      <p:sp>
        <p:nvSpPr>
          <p:cNvPr id="5" name="editable-bullet-list">
            <a:extLst>
              <a:ext uri="{FF2B5EF4-FFF2-40B4-BE49-F238E27FC236}">
                <a16:creationId xmlns:a16="http://schemas.microsoft.com/office/drawing/2014/main" id="{30FE2B6B-33D8-4646-BCF9-AE1A98AD6BAB}"/>
              </a:ext>
            </a:extLst>
          </p:cNvPr>
          <p:cNvSpPr>
            <a:spLocks noGrp="1"/>
          </p:cNvSpPr>
          <p:nvPr/>
        </p:nvSpPr>
        <p:spPr>
          <a:xfrm>
            <a:off x="609600" y="3363087"/>
            <a:ext cx="10934700" cy="2904363"/>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Remove l10-data only after its demonstration file is no longer needed.</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Remove known stopped containers by name.</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Broad prune commands can affect resources from other projects.</a:t>
            </a:r>
          </a:p>
        </p:txBody>
      </p:sp>
    </p:spTree>
    <p:extLst>
      <p:ext uri="{BB962C8B-B14F-4D97-AF65-F5344CB8AC3E}">
        <p14:creationId xmlns:p14="http://schemas.microsoft.com/office/powerpoint/2010/main" val="2019752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FB05C44C-0CBF-4F75-A91A-77B10B2FFC5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C73A123F-2C67-42B6-AFD6-FB340D8E474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The build boundary</a:t>
            </a:r>
          </a:p>
        </p:txBody>
      </p:sp>
      <p:sp>
        <p:nvSpPr>
          <p:cNvPr id="3" name="editable-bullet-list">
            <a:extLst>
              <a:ext uri="{FF2B5EF4-FFF2-40B4-BE49-F238E27FC236}">
                <a16:creationId xmlns:a16="http://schemas.microsoft.com/office/drawing/2014/main" id="{00B8C375-A635-4B64-B878-0A20166699C3}"/>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425"/>
              </a:spcAft>
              <a:buChar char="•"/>
              <a:defRPr sz="2325" b="0">
                <a:solidFill>
                  <a:srgbClr val="12283C"/>
                </a:solidFill>
                <a:latin typeface="Segoe UI"/>
                <a:ea typeface="Segoe UI"/>
                <a:cs typeface="Segoe UI"/>
              </a:defRPr>
            </a:pPr>
            <a:r>
              <a:rPr sz="2325" b="0">
                <a:solidFill>
                  <a:srgbClr val="12283C"/>
                </a:solidFill>
              </a:rPr>
              <a:t>A Dockerfile describes how to construct an image. A run command configures one instance of that image.</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Build inputs define the image</a:t>
            </a:r>
          </a:p>
          <a:p>
            <a:pPr marL="279400" indent="0">
              <a:spcAft>
                <a:spcPts val="1425"/>
              </a:spcAft>
              <a:defRPr sz="2325" b="0">
                <a:solidFill>
                  <a:srgbClr val="12283C"/>
                </a:solidFill>
                <a:latin typeface="Segoe UI"/>
                <a:ea typeface="Segoe UI"/>
                <a:cs typeface="Segoe UI"/>
              </a:defRPr>
            </a:pPr>
            <a:r>
              <a:rPr sz="2100">
                <a:solidFill>
                  <a:srgbClr val="4E6271"/>
                </a:solidFill>
              </a:rPr>
              <a:t>Use a Dockerfile, build context, base image, dependency versions, and application source or compiled artifact.</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Runtime inputs configure one container</a:t>
            </a:r>
          </a:p>
          <a:p>
            <a:pPr marL="279400" indent="0">
              <a:spcAft>
                <a:spcPts val="0"/>
              </a:spcAft>
              <a:defRPr sz="2325" b="0">
                <a:solidFill>
                  <a:srgbClr val="12283C"/>
                </a:solidFill>
                <a:latin typeface="Segoe UI"/>
                <a:ea typeface="Segoe UI"/>
                <a:cs typeface="Segoe UI"/>
              </a:defRPr>
            </a:pPr>
            <a:r>
              <a:rPr sz="2100">
                <a:solidFill>
                  <a:srgbClr val="4E6271"/>
                </a:solidFill>
              </a:rPr>
              <a:t>Provide environment values, startup arguments, published ports, networks, volumes, user identity, and resource limits.</a:t>
            </a:r>
          </a:p>
        </p:txBody>
      </p:sp>
    </p:spTree>
    <p:extLst>
      <p:ext uri="{BB962C8B-B14F-4D97-AF65-F5344CB8AC3E}">
        <p14:creationId xmlns:p14="http://schemas.microsoft.com/office/powerpoint/2010/main" val="1432197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D9D008F1-5854-4F31-9973-A437AD854C2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89938EE0-C081-45CD-A917-25142DCBF811}"/>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The supplied example files</a:t>
            </a:r>
          </a:p>
        </p:txBody>
      </p:sp>
      <p:sp>
        <p:nvSpPr>
          <p:cNvPr id="3" name="editable-bullet-list">
            <a:extLst>
              <a:ext uri="{FF2B5EF4-FFF2-40B4-BE49-F238E27FC236}">
                <a16:creationId xmlns:a16="http://schemas.microsoft.com/office/drawing/2014/main" id="{EEA01772-3164-4AE3-84ED-AE96596B12DE}"/>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examples/static-site</a:t>
            </a:r>
          </a:p>
          <a:p>
            <a:pPr marL="279400" indent="0">
              <a:spcAft>
                <a:spcPts val="1125"/>
              </a:spcAft>
              <a:defRPr sz="2250" b="0">
                <a:solidFill>
                  <a:srgbClr val="12283C"/>
                </a:solidFill>
                <a:latin typeface="Segoe UI"/>
                <a:ea typeface="Segoe UI"/>
                <a:cs typeface="Segoe UI"/>
              </a:defRPr>
            </a:pPr>
            <a:r>
              <a:rPr sz="2025">
                <a:solidFill>
                  <a:srgbClr val="4E6271"/>
                </a:solidFill>
              </a:rPr>
              <a:t>A minimal NGINX image containing a custom index.html page.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examples/course-api</a:t>
            </a:r>
          </a:p>
          <a:p>
            <a:pPr marL="279400" indent="0">
              <a:spcAft>
                <a:spcPts val="1125"/>
              </a:spcAft>
              <a:defRPr sz="2250" b="0">
                <a:solidFill>
                  <a:srgbClr val="12283C"/>
                </a:solidFill>
                <a:latin typeface="Segoe UI"/>
                <a:ea typeface="Segoe UI"/>
                <a:cs typeface="Segoe UI"/>
              </a:defRPr>
            </a:pPr>
            <a:r>
              <a:rPr sz="2025">
                <a:solidFill>
                  <a:srgbClr val="4E6271"/>
                </a:solidFill>
              </a:rPr>
              <a:t>A Python HTTP API with its Dockerfile and .dockerignore.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examples/multistage</a:t>
            </a:r>
          </a:p>
          <a:p>
            <a:pPr marL="279400" indent="0">
              <a:spcAft>
                <a:spcPts val="1125"/>
              </a:spcAft>
              <a:defRPr sz="2250" b="0">
                <a:solidFill>
                  <a:srgbClr val="12283C"/>
                </a:solidFill>
                <a:latin typeface="Segoe UI"/>
                <a:ea typeface="Segoe UI"/>
                <a:cs typeface="Segoe UI"/>
              </a:defRPr>
            </a:pPr>
            <a:r>
              <a:rPr sz="2025">
                <a:solidFill>
                  <a:srgbClr val="4E6271"/>
                </a:solidFill>
              </a:rPr>
              <a:t>A small Go program built with a compiler stage and a minimal final image.</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Start with the static page, then build the API. The Go example is an optional extension.</a:t>
            </a:r>
          </a:p>
        </p:txBody>
      </p:sp>
    </p:spTree>
    <p:extLst>
      <p:ext uri="{BB962C8B-B14F-4D97-AF65-F5344CB8AC3E}">
        <p14:creationId xmlns:p14="http://schemas.microsoft.com/office/powerpoint/2010/main" val="1570586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60C7EED3-FF3F-4B85-891D-AAC3F12EE94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378841ED-A609-4426-86AD-E5046A0B3D4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minimal custom NGINX image</a:t>
            </a:r>
          </a:p>
        </p:txBody>
      </p:sp>
      <p:sp>
        <p:nvSpPr>
          <p:cNvPr id="3" name="code-label">
            <a:extLst>
              <a:ext uri="{FF2B5EF4-FFF2-40B4-BE49-F238E27FC236}">
                <a16:creationId xmlns:a16="http://schemas.microsoft.com/office/drawing/2014/main" id="{D7F9BF8D-D114-4D5D-A8A1-9007BFA85882}"/>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examples/static-site/Dockerfile</a:t>
            </a:r>
          </a:p>
        </p:txBody>
      </p:sp>
      <p:sp>
        <p:nvSpPr>
          <p:cNvPr id="4" name="editable-code">
            <a:extLst>
              <a:ext uri="{FF2B5EF4-FFF2-40B4-BE49-F238E27FC236}">
                <a16:creationId xmlns:a16="http://schemas.microsoft.com/office/drawing/2014/main" id="{AD633EDE-1F31-4EFF-A5B1-736B385E98EB}"/>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 syntax=docker/dockerfile:1</a:t>
            </a:r>
          </a:p>
          <a:p>
            <a:pPr>
              <a:defRPr sz="1800" b="0">
                <a:solidFill>
                  <a:srgbClr val="12283C"/>
                </a:solidFill>
                <a:latin typeface="Consolas"/>
                <a:ea typeface="Consolas"/>
                <a:cs typeface="Consolas"/>
              </a:defRPr>
            </a:pPr>
            <a:r>
              <a:t>FROM nginx:stable-alpine</a:t>
            </a:r>
          </a:p>
          <a:p>
            <a:pPr>
              <a:defRPr sz="1800" b="0">
                <a:solidFill>
                  <a:srgbClr val="12283C"/>
                </a:solidFill>
                <a:latin typeface="Consolas"/>
                <a:ea typeface="Consolas"/>
                <a:cs typeface="Consolas"/>
              </a:defRPr>
            </a:pPr>
            <a:r>
              <a:t>COPY site/index.html /usr/share/nginx/html/index.html</a:t>
            </a:r>
          </a:p>
        </p:txBody>
      </p:sp>
      <p:sp>
        <p:nvSpPr>
          <p:cNvPr id="5" name="code-label">
            <a:extLst>
              <a:ext uri="{FF2B5EF4-FFF2-40B4-BE49-F238E27FC236}">
                <a16:creationId xmlns:a16="http://schemas.microsoft.com/office/drawing/2014/main" id="{CB2B1FE3-4AEC-4616-98AB-661E2E3A7FFC}"/>
              </a:ext>
            </a:extLst>
          </p:cNvPr>
          <p:cNvSpPr>
            <a:spLocks noGrp="1"/>
          </p:cNvSpPr>
          <p:nvPr/>
        </p:nvSpPr>
        <p:spPr>
          <a:xfrm>
            <a:off x="609600" y="3062859"/>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Run from examples/static-site</a:t>
            </a:r>
          </a:p>
        </p:txBody>
      </p:sp>
      <p:sp>
        <p:nvSpPr>
          <p:cNvPr id="6" name="editable-code">
            <a:extLst>
              <a:ext uri="{FF2B5EF4-FFF2-40B4-BE49-F238E27FC236}">
                <a16:creationId xmlns:a16="http://schemas.microsoft.com/office/drawing/2014/main" id="{DC3A20E6-8E20-4BE7-81EC-3DAF91474013}"/>
              </a:ext>
            </a:extLst>
          </p:cNvPr>
          <p:cNvSpPr>
            <a:spLocks noGrp="1"/>
          </p:cNvSpPr>
          <p:nvPr/>
        </p:nvSpPr>
        <p:spPr>
          <a:xfrm>
            <a:off x="609600" y="3348609"/>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build -t csc418/site:1.0 .</a:t>
            </a:r>
          </a:p>
          <a:p>
            <a:pPr>
              <a:defRPr sz="1800" b="0">
                <a:solidFill>
                  <a:srgbClr val="12283C"/>
                </a:solidFill>
                <a:latin typeface="Consolas"/>
                <a:ea typeface="Consolas"/>
                <a:cs typeface="Consolas"/>
              </a:defRPr>
            </a:pPr>
            <a:r>
              <a:t>docker run --rm -p 127.0.0.1:8080:80 csc418/site:1.0</a:t>
            </a:r>
          </a:p>
        </p:txBody>
      </p:sp>
      <p:sp>
        <p:nvSpPr>
          <p:cNvPr id="7" name="editable-bullet-list">
            <a:extLst>
              <a:ext uri="{FF2B5EF4-FFF2-40B4-BE49-F238E27FC236}">
                <a16:creationId xmlns:a16="http://schemas.microsoft.com/office/drawing/2014/main" id="{BF409168-F4F8-4659-87A4-2EEBB4DA63D2}"/>
              </a:ext>
            </a:extLst>
          </p:cNvPr>
          <p:cNvSpPr>
            <a:spLocks noGrp="1"/>
          </p:cNvSpPr>
          <p:nvPr/>
        </p:nvSpPr>
        <p:spPr>
          <a:xfrm>
            <a:off x="609600" y="4120515"/>
            <a:ext cx="10934700" cy="2146935"/>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FROM provides NGINX and its existing startup configuration.</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COPY adds the reviewed page to the image.</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The derived image inherits the base image’s startup behavior.</a:t>
            </a:r>
          </a:p>
        </p:txBody>
      </p:sp>
    </p:spTree>
    <p:extLst>
      <p:ext uri="{BB962C8B-B14F-4D97-AF65-F5344CB8AC3E}">
        <p14:creationId xmlns:p14="http://schemas.microsoft.com/office/powerpoint/2010/main" val="1718855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179F50BB-D0DA-4FE6-A9D2-93FE15A00A4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A92C22C9-1AB8-4368-B393-AC08E155694E}"/>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Course API: request routing</a:t>
            </a:r>
          </a:p>
        </p:txBody>
      </p:sp>
      <p:sp>
        <p:nvSpPr>
          <p:cNvPr id="3" name="code-label">
            <a:extLst>
              <a:ext uri="{FF2B5EF4-FFF2-40B4-BE49-F238E27FC236}">
                <a16:creationId xmlns:a16="http://schemas.microsoft.com/office/drawing/2014/main" id="{B7D47627-CF98-4013-B72F-E1CB1BDA622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examples/course-api/app.py · first part</a:t>
            </a:r>
          </a:p>
        </p:txBody>
      </p:sp>
      <p:sp>
        <p:nvSpPr>
          <p:cNvPr id="4" name="editable-code">
            <a:extLst>
              <a:ext uri="{FF2B5EF4-FFF2-40B4-BE49-F238E27FC236}">
                <a16:creationId xmlns:a16="http://schemas.microsoft.com/office/drawing/2014/main" id="{3BA5D121-7EC8-4B7A-B171-0BBEA9DFAC3B}"/>
              </a:ext>
            </a:extLst>
          </p:cNvPr>
          <p:cNvSpPr>
            <a:spLocks noGrp="1"/>
          </p:cNvSpPr>
          <p:nvPr/>
        </p:nvSpPr>
        <p:spPr>
          <a:xfrm>
            <a:off x="609600" y="2028825"/>
            <a:ext cx="10934700" cy="373151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import json, os, signal, sys</a:t>
            </a:r>
          </a:p>
          <a:p>
            <a:pPr>
              <a:defRPr sz="1800" b="0">
                <a:solidFill>
                  <a:srgbClr val="12283C"/>
                </a:solidFill>
                <a:latin typeface="Consolas"/>
                <a:ea typeface="Consolas"/>
                <a:cs typeface="Consolas"/>
              </a:defRPr>
            </a:pPr>
            <a:r>
              <a:t>from http.server import BaseHTTPRequestHandler, ThreadingHTTPServer</a:t>
            </a:r>
          </a:p>
          <a:p>
            <a:pPr>
              <a:defRPr sz="1800" b="0">
                <a:solidFill>
                  <a:srgbClr val="12283C"/>
                </a:solidFill>
                <a:latin typeface="Consolas"/>
                <a:ea typeface="Consolas"/>
                <a:cs typeface="Consolas"/>
              </a:defRPr>
            </a:pPr>
            <a:endParaRPr/>
          </a:p>
          <a:p>
            <a:pPr>
              <a:defRPr sz="1800" b="0">
                <a:solidFill>
                  <a:srgbClr val="12283C"/>
                </a:solidFill>
                <a:latin typeface="Consolas"/>
                <a:ea typeface="Consolas"/>
                <a:cs typeface="Consolas"/>
              </a:defRPr>
            </a:pPr>
            <a:r>
              <a:t>class Handler(BaseHTTPRequestHandler):</a:t>
            </a:r>
          </a:p>
          <a:p>
            <a:pPr>
              <a:defRPr sz="1800" b="0">
                <a:solidFill>
                  <a:srgbClr val="12283C"/>
                </a:solidFill>
                <a:latin typeface="Consolas"/>
                <a:ea typeface="Consolas"/>
                <a:cs typeface="Consolas"/>
              </a:defRPr>
            </a:pPr>
            <a:r>
              <a:t>    def do_GET(self):</a:t>
            </a:r>
          </a:p>
          <a:p>
            <a:pPr>
              <a:defRPr sz="1800" b="0">
                <a:solidFill>
                  <a:srgbClr val="12283C"/>
                </a:solidFill>
                <a:latin typeface="Consolas"/>
                <a:ea typeface="Consolas"/>
                <a:cs typeface="Consolas"/>
              </a:defRPr>
            </a:pPr>
            <a:r>
              <a:t>        if self.path == "/health":</a:t>
            </a:r>
          </a:p>
          <a:p>
            <a:pPr>
              <a:defRPr sz="1800" b="0">
                <a:solidFill>
                  <a:srgbClr val="12283C"/>
                </a:solidFill>
                <a:latin typeface="Consolas"/>
                <a:ea typeface="Consolas"/>
                <a:cs typeface="Consolas"/>
              </a:defRPr>
            </a:pPr>
            <a:r>
              <a:t>            status, data = 200, {"status": "ok"}</a:t>
            </a:r>
          </a:p>
          <a:p>
            <a:pPr>
              <a:defRPr sz="1800" b="0">
                <a:solidFill>
                  <a:srgbClr val="12283C"/>
                </a:solidFill>
                <a:latin typeface="Consolas"/>
                <a:ea typeface="Consolas"/>
                <a:cs typeface="Consolas"/>
              </a:defRPr>
            </a:pPr>
            <a:r>
              <a:t>        elif self.path == "/":</a:t>
            </a:r>
          </a:p>
          <a:p>
            <a:pPr>
              <a:defRPr sz="1800" b="0">
                <a:solidFill>
                  <a:srgbClr val="12283C"/>
                </a:solidFill>
                <a:latin typeface="Consolas"/>
                <a:ea typeface="Consolas"/>
                <a:cs typeface="Consolas"/>
              </a:defRPr>
            </a:pPr>
            <a:r>
              <a:t>            status, data = 200, {</a:t>
            </a:r>
          </a:p>
          <a:p>
            <a:pPr>
              <a:defRPr sz="1800" b="0">
                <a:solidFill>
                  <a:srgbClr val="12283C"/>
                </a:solidFill>
                <a:latin typeface="Consolas"/>
                <a:ea typeface="Consolas"/>
                <a:cs typeface="Consolas"/>
              </a:defRPr>
            </a:pPr>
            <a:r>
              <a:t>                "course": os.getenv("COURSE", "CSC418"),</a:t>
            </a:r>
          </a:p>
          <a:p>
            <a:pPr>
              <a:defRPr sz="1800" b="0">
                <a:solidFill>
                  <a:srgbClr val="12283C"/>
                </a:solidFill>
                <a:latin typeface="Consolas"/>
                <a:ea typeface="Consolas"/>
                <a:cs typeface="Consolas"/>
              </a:defRPr>
            </a:pPr>
            <a:r>
              <a:t>                "version": os.getenv("APP_VERSION", "1.0"),</a:t>
            </a:r>
          </a:p>
          <a:p>
            <a:pPr>
              <a:defRPr sz="1800" b="0">
                <a:solidFill>
                  <a:srgbClr val="12283C"/>
                </a:solidFill>
                <a:latin typeface="Consolas"/>
                <a:ea typeface="Consolas"/>
                <a:cs typeface="Consolas"/>
              </a:defRPr>
            </a:pPr>
            <a:r>
              <a:t>                "message": "Hello from a container"</a:t>
            </a:r>
          </a:p>
          <a:p>
            <a:pPr>
              <a:defRPr sz="1800" b="0">
                <a:solidFill>
                  <a:srgbClr val="12283C"/>
                </a:solidFill>
                <a:latin typeface="Consolas"/>
                <a:ea typeface="Consolas"/>
                <a:cs typeface="Consolas"/>
              </a:defRPr>
            </a:pPr>
            <a:r>
              <a:t>            }</a:t>
            </a:r>
          </a:p>
        </p:txBody>
      </p:sp>
      <p:sp>
        <p:nvSpPr>
          <p:cNvPr id="5" name="editable-bullet-list">
            <a:extLst>
              <a:ext uri="{FF2B5EF4-FFF2-40B4-BE49-F238E27FC236}">
                <a16:creationId xmlns:a16="http://schemas.microsoft.com/office/drawing/2014/main" id="{5D41AA9C-1EC7-4D7F-9BCE-D6E80ABD4D72}"/>
              </a:ext>
            </a:extLst>
          </p:cNvPr>
          <p:cNvSpPr>
            <a:spLocks noGrp="1"/>
          </p:cNvSpPr>
          <p:nvPr/>
        </p:nvSpPr>
        <p:spPr>
          <a:xfrm>
            <a:off x="609600" y="5893689"/>
            <a:ext cx="10934700" cy="373761"/>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Endpoints return course information or a lightweight health response.</a:t>
            </a:r>
          </a:p>
        </p:txBody>
      </p:sp>
    </p:spTree>
    <p:extLst>
      <p:ext uri="{BB962C8B-B14F-4D97-AF65-F5344CB8AC3E}">
        <p14:creationId xmlns:p14="http://schemas.microsoft.com/office/powerpoint/2010/main" val="781416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E0E26D7F-6359-438E-8520-0DFD232F1910}"/>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4FCD9FEB-367E-4F83-BF13-8B45BF3223B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Course API: response and startup</a:t>
            </a:r>
          </a:p>
        </p:txBody>
      </p:sp>
      <p:sp>
        <p:nvSpPr>
          <p:cNvPr id="3" name="code-label">
            <a:extLst>
              <a:ext uri="{FF2B5EF4-FFF2-40B4-BE49-F238E27FC236}">
                <a16:creationId xmlns:a16="http://schemas.microsoft.com/office/drawing/2014/main" id="{2B417625-9CD6-4448-8B56-CCBC38D23A74}"/>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examples/course-api/app.py · second part</a:t>
            </a:r>
          </a:p>
        </p:txBody>
      </p:sp>
      <p:sp>
        <p:nvSpPr>
          <p:cNvPr id="4" name="editable-code">
            <a:extLst>
              <a:ext uri="{FF2B5EF4-FFF2-40B4-BE49-F238E27FC236}">
                <a16:creationId xmlns:a16="http://schemas.microsoft.com/office/drawing/2014/main" id="{7ACE51B5-A07A-4D26-A8C6-97434102671A}"/>
              </a:ext>
            </a:extLst>
          </p:cNvPr>
          <p:cNvSpPr>
            <a:spLocks noGrp="1"/>
          </p:cNvSpPr>
          <p:nvPr/>
        </p:nvSpPr>
        <p:spPr>
          <a:xfrm>
            <a:off x="609600" y="2028825"/>
            <a:ext cx="10934700" cy="401269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        else:</a:t>
            </a:r>
          </a:p>
          <a:p>
            <a:pPr>
              <a:defRPr sz="1800" b="0">
                <a:solidFill>
                  <a:srgbClr val="12283C"/>
                </a:solidFill>
                <a:latin typeface="Consolas"/>
                <a:ea typeface="Consolas"/>
                <a:cs typeface="Consolas"/>
              </a:defRPr>
            </a:pPr>
            <a:r>
              <a:t>            status, data = 404, {"error": "not found"}</a:t>
            </a:r>
          </a:p>
          <a:p>
            <a:pPr>
              <a:defRPr sz="1800" b="0">
                <a:solidFill>
                  <a:srgbClr val="12283C"/>
                </a:solidFill>
                <a:latin typeface="Consolas"/>
                <a:ea typeface="Consolas"/>
                <a:cs typeface="Consolas"/>
              </a:defRPr>
            </a:pPr>
            <a:r>
              <a:t>        body = json.dumps(data).encode("utf-8")</a:t>
            </a:r>
          </a:p>
          <a:p>
            <a:pPr>
              <a:defRPr sz="1800" b="0">
                <a:solidFill>
                  <a:srgbClr val="12283C"/>
                </a:solidFill>
                <a:latin typeface="Consolas"/>
                <a:ea typeface="Consolas"/>
                <a:cs typeface="Consolas"/>
              </a:defRPr>
            </a:pPr>
            <a:r>
              <a:t>        self.send_response(status)</a:t>
            </a:r>
          </a:p>
          <a:p>
            <a:pPr>
              <a:defRPr sz="1800" b="0">
                <a:solidFill>
                  <a:srgbClr val="12283C"/>
                </a:solidFill>
                <a:latin typeface="Consolas"/>
                <a:ea typeface="Consolas"/>
                <a:cs typeface="Consolas"/>
              </a:defRPr>
            </a:pPr>
            <a:r>
              <a:t>        self.send_header("Content-Type", "application/json")</a:t>
            </a:r>
          </a:p>
          <a:p>
            <a:pPr>
              <a:defRPr sz="1800" b="0">
                <a:solidFill>
                  <a:srgbClr val="12283C"/>
                </a:solidFill>
                <a:latin typeface="Consolas"/>
                <a:ea typeface="Consolas"/>
                <a:cs typeface="Consolas"/>
              </a:defRPr>
            </a:pPr>
            <a:r>
              <a:t>        self.send_header("Content-Length", str(len(body)))</a:t>
            </a:r>
          </a:p>
          <a:p>
            <a:pPr>
              <a:defRPr sz="1800" b="0">
                <a:solidFill>
                  <a:srgbClr val="12283C"/>
                </a:solidFill>
                <a:latin typeface="Consolas"/>
                <a:ea typeface="Consolas"/>
                <a:cs typeface="Consolas"/>
              </a:defRPr>
            </a:pPr>
            <a:r>
              <a:t>        self.end_headers()</a:t>
            </a:r>
          </a:p>
          <a:p>
            <a:pPr>
              <a:defRPr sz="1800" b="0">
                <a:solidFill>
                  <a:srgbClr val="12283C"/>
                </a:solidFill>
                <a:latin typeface="Consolas"/>
                <a:ea typeface="Consolas"/>
                <a:cs typeface="Consolas"/>
              </a:defRPr>
            </a:pPr>
            <a:r>
              <a:t>        self.wfile.write(body)</a:t>
            </a:r>
          </a:p>
          <a:p>
            <a:pPr>
              <a:defRPr sz="1800" b="0">
                <a:solidFill>
                  <a:srgbClr val="12283C"/>
                </a:solidFill>
                <a:latin typeface="Consolas"/>
                <a:ea typeface="Consolas"/>
                <a:cs typeface="Consolas"/>
              </a:defRPr>
            </a:pPr>
            <a:endParaRPr/>
          </a:p>
          <a:p>
            <a:pPr>
              <a:defRPr sz="1800" b="0">
                <a:solidFill>
                  <a:srgbClr val="12283C"/>
                </a:solidFill>
                <a:latin typeface="Consolas"/>
                <a:ea typeface="Consolas"/>
                <a:cs typeface="Consolas"/>
              </a:defRPr>
            </a:pPr>
            <a:r>
              <a:t>if __name__ == "__main__":</a:t>
            </a:r>
          </a:p>
          <a:p>
            <a:pPr>
              <a:defRPr sz="1800" b="0">
                <a:solidFill>
                  <a:srgbClr val="12283C"/>
                </a:solidFill>
                <a:latin typeface="Consolas"/>
                <a:ea typeface="Consolas"/>
                <a:cs typeface="Consolas"/>
              </a:defRPr>
            </a:pPr>
            <a:r>
              <a:t>    signal.signal(signal.SIGTERM, lambda *_: sys.exit(0))</a:t>
            </a:r>
          </a:p>
          <a:p>
            <a:pPr>
              <a:defRPr sz="1800" b="0">
                <a:solidFill>
                  <a:srgbClr val="12283C"/>
                </a:solidFill>
                <a:latin typeface="Consolas"/>
                <a:ea typeface="Consolas"/>
                <a:cs typeface="Consolas"/>
              </a:defRPr>
            </a:pPr>
            <a:r>
              <a:t>    port = int(os.getenv("PORT", "8000"))</a:t>
            </a:r>
          </a:p>
          <a:p>
            <a:pPr>
              <a:defRPr sz="1800" b="0">
                <a:solidFill>
                  <a:srgbClr val="12283C"/>
                </a:solidFill>
                <a:latin typeface="Consolas"/>
                <a:ea typeface="Consolas"/>
                <a:cs typeface="Consolas"/>
              </a:defRPr>
            </a:pPr>
            <a:r>
              <a:t>    with ThreadingHTTPServer(("0.0.0.0", port), Handler) as server:</a:t>
            </a:r>
          </a:p>
          <a:p>
            <a:pPr>
              <a:defRPr sz="1800" b="0">
                <a:solidFill>
                  <a:srgbClr val="12283C"/>
                </a:solidFill>
                <a:latin typeface="Consolas"/>
                <a:ea typeface="Consolas"/>
                <a:cs typeface="Consolas"/>
              </a:defRPr>
            </a:pPr>
            <a:r>
              <a:t>        server.serve_forever()</a:t>
            </a:r>
          </a:p>
        </p:txBody>
      </p:sp>
    </p:spTree>
    <p:extLst>
      <p:ext uri="{BB962C8B-B14F-4D97-AF65-F5344CB8AC3E}">
        <p14:creationId xmlns:p14="http://schemas.microsoft.com/office/powerpoint/2010/main" val="1995530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9F63997A-ECEB-4EB5-AC86-F5E36B5CC2E6}"/>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Custom images</a:t>
            </a:r>
          </a:p>
        </p:txBody>
      </p:sp>
      <p:sp>
        <p:nvSpPr>
          <p:cNvPr id="2" name="slide-title">
            <a:extLst>
              <a:ext uri="{FF2B5EF4-FFF2-40B4-BE49-F238E27FC236}">
                <a16:creationId xmlns:a16="http://schemas.microsoft.com/office/drawing/2014/main" id="{8DF4F3F3-2724-4F12-BC35-2D28930C1335}"/>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The complete API Dockerfile</a:t>
            </a:r>
          </a:p>
        </p:txBody>
      </p:sp>
      <p:sp>
        <p:nvSpPr>
          <p:cNvPr id="3" name="code-label">
            <a:extLst>
              <a:ext uri="{FF2B5EF4-FFF2-40B4-BE49-F238E27FC236}">
                <a16:creationId xmlns:a16="http://schemas.microsoft.com/office/drawing/2014/main" id="{247B1F94-7515-4DEB-8A91-1E50D19AE0BC}"/>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examples/course-api/Dockerfile</a:t>
            </a:r>
          </a:p>
        </p:txBody>
      </p:sp>
      <p:sp>
        <p:nvSpPr>
          <p:cNvPr id="4" name="editable-code">
            <a:extLst>
              <a:ext uri="{FF2B5EF4-FFF2-40B4-BE49-F238E27FC236}">
                <a16:creationId xmlns:a16="http://schemas.microsoft.com/office/drawing/2014/main" id="{77BB4363-C89D-4B3A-9D71-5639A63E1B31}"/>
              </a:ext>
            </a:extLst>
          </p:cNvPr>
          <p:cNvSpPr>
            <a:spLocks noGrp="1"/>
          </p:cNvSpPr>
          <p:nvPr/>
        </p:nvSpPr>
        <p:spPr>
          <a:xfrm>
            <a:off x="609600" y="2028825"/>
            <a:ext cx="10934700" cy="345033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 syntax=docker/dockerfile:1</a:t>
            </a:r>
          </a:p>
          <a:p>
            <a:pPr>
              <a:defRPr sz="1800" b="0">
                <a:solidFill>
                  <a:srgbClr val="12283C"/>
                </a:solidFill>
                <a:latin typeface="Consolas"/>
                <a:ea typeface="Consolas"/>
                <a:cs typeface="Consolas"/>
              </a:defRPr>
            </a:pPr>
            <a:r>
              <a:t>FROM python:3.13-slim-bookworm</a:t>
            </a:r>
          </a:p>
          <a:p>
            <a:pPr>
              <a:defRPr sz="1800" b="0">
                <a:solidFill>
                  <a:srgbClr val="12283C"/>
                </a:solidFill>
                <a:latin typeface="Consolas"/>
                <a:ea typeface="Consolas"/>
                <a:cs typeface="Consolas"/>
              </a:defRPr>
            </a:pPr>
            <a:r>
              <a:t>WORKDIR /app</a:t>
            </a:r>
          </a:p>
          <a:p>
            <a:pPr>
              <a:defRPr sz="1800" b="0">
                <a:solidFill>
                  <a:srgbClr val="12283C"/>
                </a:solidFill>
                <a:latin typeface="Consolas"/>
                <a:ea typeface="Consolas"/>
                <a:cs typeface="Consolas"/>
              </a:defRPr>
            </a:pPr>
            <a:r>
              <a:t>ENV PYTHONUNBUFFERED=1 \</a:t>
            </a:r>
          </a:p>
          <a:p>
            <a:pPr>
              <a:defRPr sz="1800" b="0">
                <a:solidFill>
                  <a:srgbClr val="12283C"/>
                </a:solidFill>
                <a:latin typeface="Consolas"/>
                <a:ea typeface="Consolas"/>
                <a:cs typeface="Consolas"/>
              </a:defRPr>
            </a:pPr>
            <a:r>
              <a:t>    PYTHONDONTWRITEBYTECODE=1 \</a:t>
            </a:r>
          </a:p>
          <a:p>
            <a:pPr>
              <a:defRPr sz="1800" b="0">
                <a:solidFill>
                  <a:srgbClr val="12283C"/>
                </a:solidFill>
                <a:latin typeface="Consolas"/>
                <a:ea typeface="Consolas"/>
                <a:cs typeface="Consolas"/>
              </a:defRPr>
            </a:pPr>
            <a:r>
              <a:t>    APP_VERSION=1.0</a:t>
            </a:r>
          </a:p>
          <a:p>
            <a:pPr>
              <a:defRPr sz="1800" b="0">
                <a:solidFill>
                  <a:srgbClr val="12283C"/>
                </a:solidFill>
                <a:latin typeface="Consolas"/>
                <a:ea typeface="Consolas"/>
                <a:cs typeface="Consolas"/>
              </a:defRPr>
            </a:pPr>
            <a:r>
              <a:t>RUN groupadd --gid 10001 app \</a:t>
            </a:r>
          </a:p>
          <a:p>
            <a:pPr>
              <a:defRPr sz="1800" b="0">
                <a:solidFill>
                  <a:srgbClr val="12283C"/>
                </a:solidFill>
                <a:latin typeface="Consolas"/>
                <a:ea typeface="Consolas"/>
                <a:cs typeface="Consolas"/>
              </a:defRPr>
            </a:pPr>
            <a:r>
              <a:t>    &amp;&amp; useradd --uid 10001 --gid app --no-create-home app</a:t>
            </a:r>
          </a:p>
          <a:p>
            <a:pPr>
              <a:defRPr sz="1800" b="0">
                <a:solidFill>
                  <a:srgbClr val="12283C"/>
                </a:solidFill>
                <a:latin typeface="Consolas"/>
                <a:ea typeface="Consolas"/>
                <a:cs typeface="Consolas"/>
              </a:defRPr>
            </a:pPr>
            <a:r>
              <a:t>COPY --chown=app:app app.py ./app.py</a:t>
            </a:r>
          </a:p>
          <a:p>
            <a:pPr>
              <a:defRPr sz="1800" b="0">
                <a:solidFill>
                  <a:srgbClr val="12283C"/>
                </a:solidFill>
                <a:latin typeface="Consolas"/>
                <a:ea typeface="Consolas"/>
                <a:cs typeface="Consolas"/>
              </a:defRPr>
            </a:pPr>
            <a:r>
              <a:t>USER app</a:t>
            </a:r>
          </a:p>
          <a:p>
            <a:pPr>
              <a:defRPr sz="1800" b="0">
                <a:solidFill>
                  <a:srgbClr val="12283C"/>
                </a:solidFill>
                <a:latin typeface="Consolas"/>
                <a:ea typeface="Consolas"/>
                <a:cs typeface="Consolas"/>
              </a:defRPr>
            </a:pPr>
            <a:r>
              <a:t>EXPOSE 8000</a:t>
            </a:r>
          </a:p>
          <a:p>
            <a:pPr>
              <a:defRPr sz="1800" b="0">
                <a:solidFill>
                  <a:srgbClr val="12283C"/>
                </a:solidFill>
                <a:latin typeface="Consolas"/>
                <a:ea typeface="Consolas"/>
                <a:cs typeface="Consolas"/>
              </a:defRPr>
            </a:pPr>
            <a:r>
              <a:t>CMD ["python", "app.py"]</a:t>
            </a:r>
          </a:p>
        </p:txBody>
      </p:sp>
    </p:spTree>
    <p:extLst>
      <p:ext uri="{BB962C8B-B14F-4D97-AF65-F5344CB8AC3E}">
        <p14:creationId xmlns:p14="http://schemas.microsoft.com/office/powerpoint/2010/main" val="696922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9E0F69AF-0D07-4820-B470-D9E3F57DED70}"/>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A397D167-FF83-4DB4-8290-C3452B9B313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FROM and base-image selection</a:t>
            </a:r>
          </a:p>
        </p:txBody>
      </p:sp>
      <p:sp>
        <p:nvSpPr>
          <p:cNvPr id="3" name="code-label">
            <a:extLst>
              <a:ext uri="{FF2B5EF4-FFF2-40B4-BE49-F238E27FC236}">
                <a16:creationId xmlns:a16="http://schemas.microsoft.com/office/drawing/2014/main" id="{6BCC8A19-70A1-4364-9724-7E759926BEC3}"/>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Base image</a:t>
            </a:r>
          </a:p>
        </p:txBody>
      </p:sp>
      <p:sp>
        <p:nvSpPr>
          <p:cNvPr id="4" name="editable-code">
            <a:extLst>
              <a:ext uri="{FF2B5EF4-FFF2-40B4-BE49-F238E27FC236}">
                <a16:creationId xmlns:a16="http://schemas.microsoft.com/office/drawing/2014/main" id="{7187AC02-F250-4818-87E2-14831B5A0AFB}"/>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FROM python:3.13-slim-bookworm</a:t>
            </a:r>
          </a:p>
        </p:txBody>
      </p:sp>
      <p:sp>
        <p:nvSpPr>
          <p:cNvPr id="5" name="editable-bullet-list">
            <a:extLst>
              <a:ext uri="{FF2B5EF4-FFF2-40B4-BE49-F238E27FC236}">
                <a16:creationId xmlns:a16="http://schemas.microsoft.com/office/drawing/2014/main" id="{E1CCF092-4FD7-472C-8D37-30C9E61F8627}"/>
              </a:ext>
            </a:extLst>
          </p:cNvPr>
          <p:cNvSpPr>
            <a:spLocks noGrp="1"/>
          </p:cNvSpPr>
          <p:nvPr/>
        </p:nvSpPr>
        <p:spPr>
          <a:xfrm>
            <a:off x="609600" y="2519553"/>
            <a:ext cx="10934700" cy="3747897"/>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The image provides a specific Python series and Debian user-space base.</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A smaller base can reduce unnecessary contents, but required libraries must still be present.</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A tag can move. Record a tested digest for a controlled release.</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The base must have a compatible platform variant.</a:t>
            </a:r>
          </a:p>
        </p:txBody>
      </p:sp>
    </p:spTree>
    <p:extLst>
      <p:ext uri="{BB962C8B-B14F-4D97-AF65-F5344CB8AC3E}">
        <p14:creationId xmlns:p14="http://schemas.microsoft.com/office/powerpoint/2010/main" val="19535903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4FAC6A8E-E3A9-4BBC-91C0-214A06F6D3B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272B76D4-E265-43F9-8D31-FF1CDE799B4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Build context and .dockerignore</a:t>
            </a:r>
          </a:p>
        </p:txBody>
      </p:sp>
      <p:sp>
        <p:nvSpPr>
          <p:cNvPr id="3" name="code-label">
            <a:extLst>
              <a:ext uri="{FF2B5EF4-FFF2-40B4-BE49-F238E27FC236}">
                <a16:creationId xmlns:a16="http://schemas.microsoft.com/office/drawing/2014/main" id="{D52FB94D-FC21-43B7-8745-DDD264DFAC13}"/>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Run from examples/course-api</a:t>
            </a:r>
          </a:p>
        </p:txBody>
      </p:sp>
      <p:sp>
        <p:nvSpPr>
          <p:cNvPr id="4" name="editable-code">
            <a:extLst>
              <a:ext uri="{FF2B5EF4-FFF2-40B4-BE49-F238E27FC236}">
                <a16:creationId xmlns:a16="http://schemas.microsoft.com/office/drawing/2014/main" id="{B4E46089-F62A-4D79-81DE-BAF3BDB02156}"/>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build -t csc418/course-api:1.0 .</a:t>
            </a:r>
          </a:p>
        </p:txBody>
      </p:sp>
      <p:sp>
        <p:nvSpPr>
          <p:cNvPr id="5" name="code-label">
            <a:extLst>
              <a:ext uri="{FF2B5EF4-FFF2-40B4-BE49-F238E27FC236}">
                <a16:creationId xmlns:a16="http://schemas.microsoft.com/office/drawing/2014/main" id="{1BFDA47A-0CD7-46F0-B81A-491BD6BF5FE4}"/>
              </a:ext>
            </a:extLst>
          </p:cNvPr>
          <p:cNvSpPr>
            <a:spLocks noGrp="1"/>
          </p:cNvSpPr>
          <p:nvPr/>
        </p:nvSpPr>
        <p:spPr>
          <a:xfrm>
            <a:off x="609600" y="2500503"/>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examples/course-api/.dockerignore</a:t>
            </a:r>
          </a:p>
        </p:txBody>
      </p:sp>
      <p:sp>
        <p:nvSpPr>
          <p:cNvPr id="6" name="editable-code">
            <a:extLst>
              <a:ext uri="{FF2B5EF4-FFF2-40B4-BE49-F238E27FC236}">
                <a16:creationId xmlns:a16="http://schemas.microsoft.com/office/drawing/2014/main" id="{2C4A025F-9463-4EEE-9057-9ED17B9C0031}"/>
              </a:ext>
            </a:extLst>
          </p:cNvPr>
          <p:cNvSpPr>
            <a:spLocks noGrp="1"/>
          </p:cNvSpPr>
          <p:nvPr/>
        </p:nvSpPr>
        <p:spPr>
          <a:xfrm>
            <a:off x="609600" y="2786253"/>
            <a:ext cx="10934700" cy="204444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.git</a:t>
            </a:r>
          </a:p>
          <a:p>
            <a:pPr>
              <a:defRPr sz="1800" b="0">
                <a:solidFill>
                  <a:srgbClr val="12283C"/>
                </a:solidFill>
                <a:latin typeface="Consolas"/>
                <a:ea typeface="Consolas"/>
                <a:cs typeface="Consolas"/>
              </a:defRPr>
            </a:pPr>
            <a:r>
              <a:t>.env</a:t>
            </a:r>
          </a:p>
          <a:p>
            <a:pPr>
              <a:defRPr sz="1800" b="0">
                <a:solidFill>
                  <a:srgbClr val="12283C"/>
                </a:solidFill>
                <a:latin typeface="Consolas"/>
                <a:ea typeface="Consolas"/>
                <a:cs typeface="Consolas"/>
              </a:defRPr>
            </a:pPr>
            <a:r>
              <a:t>.env.*</a:t>
            </a:r>
          </a:p>
          <a:p>
            <a:pPr>
              <a:defRPr sz="1800" b="0">
                <a:solidFill>
                  <a:srgbClr val="12283C"/>
                </a:solidFill>
                <a:latin typeface="Consolas"/>
                <a:ea typeface="Consolas"/>
                <a:cs typeface="Consolas"/>
              </a:defRPr>
            </a:pPr>
            <a:r>
              <a:t>__pycache__/</a:t>
            </a:r>
          </a:p>
          <a:p>
            <a:pPr>
              <a:defRPr sz="1800" b="0">
                <a:solidFill>
                  <a:srgbClr val="12283C"/>
                </a:solidFill>
                <a:latin typeface="Consolas"/>
                <a:ea typeface="Consolas"/>
                <a:cs typeface="Consolas"/>
              </a:defRPr>
            </a:pPr>
            <a:r>
              <a:t>*.pyc</a:t>
            </a:r>
          </a:p>
          <a:p>
            <a:pPr>
              <a:defRPr sz="1800" b="0">
                <a:solidFill>
                  <a:srgbClr val="12283C"/>
                </a:solidFill>
                <a:latin typeface="Consolas"/>
                <a:ea typeface="Consolas"/>
                <a:cs typeface="Consolas"/>
              </a:defRPr>
            </a:pPr>
            <a:r>
              <a:t>.venv/</a:t>
            </a:r>
          </a:p>
          <a:p>
            <a:pPr>
              <a:defRPr sz="1800" b="0">
                <a:solidFill>
                  <a:srgbClr val="12283C"/>
                </a:solidFill>
                <a:latin typeface="Consolas"/>
                <a:ea typeface="Consolas"/>
                <a:cs typeface="Consolas"/>
              </a:defRPr>
            </a:pPr>
            <a:r>
              <a:t>*.log</a:t>
            </a:r>
          </a:p>
        </p:txBody>
      </p:sp>
      <p:sp>
        <p:nvSpPr>
          <p:cNvPr id="7" name="editable-bullet-list">
            <a:extLst>
              <a:ext uri="{FF2B5EF4-FFF2-40B4-BE49-F238E27FC236}">
                <a16:creationId xmlns:a16="http://schemas.microsoft.com/office/drawing/2014/main" id="{0E6EA80B-FEE3-4B3D-8F3A-00259460F7B9}"/>
              </a:ext>
            </a:extLst>
          </p:cNvPr>
          <p:cNvSpPr>
            <a:spLocks noGrp="1"/>
          </p:cNvSpPr>
          <p:nvPr/>
        </p:nvSpPr>
        <p:spPr>
          <a:xfrm>
            <a:off x="609600" y="4964049"/>
            <a:ext cx="10934700" cy="1303401"/>
          </a:xfrm>
          <a:prstGeom prst="rect">
            <a:avLst/>
          </a:prstGeom>
          <a:noFill/>
          <a:ln w="0">
            <a:noFill/>
          </a:ln>
        </p:spPr>
        <p:txBody>
          <a:bodyPr wrap="square" lIns="0" tIns="0" rIns="0" bIns="0" anchor="t">
            <a:noAutofit/>
          </a:bodyPr>
          <a:lstStyle/>
          <a:p>
            <a:pPr marL="279400" indent="-165100">
              <a:spcAft>
                <a:spcPts val="0"/>
              </a:spcAft>
              <a:buChar char="•"/>
              <a:defRPr sz="1950" b="0">
                <a:solidFill>
                  <a:srgbClr val="12283C"/>
                </a:solidFill>
                <a:latin typeface="Segoe UI"/>
                <a:ea typeface="Segoe UI"/>
                <a:cs typeface="Segoe UI"/>
              </a:defRPr>
            </a:pPr>
            <a:r>
              <a:rPr sz="1950" b="0">
                <a:solidFill>
                  <a:srgbClr val="12283C"/>
                </a:solidFill>
              </a:rPr>
              <a:t>The final . defines the context. COPY reads its sources from that context.</a:t>
            </a:r>
          </a:p>
        </p:txBody>
      </p:sp>
    </p:spTree>
    <p:extLst>
      <p:ext uri="{BB962C8B-B14F-4D97-AF65-F5344CB8AC3E}">
        <p14:creationId xmlns:p14="http://schemas.microsoft.com/office/powerpoint/2010/main" val="1842049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09BC699D-B7F7-4E40-BCEC-672369C745A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D45DD5EC-D233-4588-8487-E275E83F9F74}"/>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WORKDIR and COPY</a:t>
            </a:r>
          </a:p>
        </p:txBody>
      </p:sp>
      <p:sp>
        <p:nvSpPr>
          <p:cNvPr id="3" name="code-label">
            <a:extLst>
              <a:ext uri="{FF2B5EF4-FFF2-40B4-BE49-F238E27FC236}">
                <a16:creationId xmlns:a16="http://schemas.microsoft.com/office/drawing/2014/main" id="{E504818F-9C8C-490C-A9B1-802CC6035CF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Relevant excerpt</a:t>
            </a:r>
          </a:p>
        </p:txBody>
      </p:sp>
      <p:sp>
        <p:nvSpPr>
          <p:cNvPr id="4" name="editable-code">
            <a:extLst>
              <a:ext uri="{FF2B5EF4-FFF2-40B4-BE49-F238E27FC236}">
                <a16:creationId xmlns:a16="http://schemas.microsoft.com/office/drawing/2014/main" id="{8F230A2D-C6D1-4D47-BBBC-5986D2D85CE8}"/>
              </a:ext>
            </a:extLst>
          </p:cNvPr>
          <p:cNvSpPr>
            <a:spLocks noGrp="1"/>
          </p:cNvSpPr>
          <p:nvPr/>
        </p:nvSpPr>
        <p:spPr>
          <a:xfrm>
            <a:off x="609600" y="2028825"/>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WORKDIR /app</a:t>
            </a:r>
          </a:p>
          <a:p>
            <a:pPr>
              <a:defRPr sz="1800" b="0">
                <a:solidFill>
                  <a:srgbClr val="12283C"/>
                </a:solidFill>
                <a:latin typeface="Consolas"/>
                <a:ea typeface="Consolas"/>
                <a:cs typeface="Consolas"/>
              </a:defRPr>
            </a:pPr>
            <a:r>
              <a:t>COPY --chown=app:app app.py ./app.py</a:t>
            </a:r>
          </a:p>
        </p:txBody>
      </p:sp>
      <p:sp>
        <p:nvSpPr>
          <p:cNvPr id="5" name="editable-bullet-list">
            <a:extLst>
              <a:ext uri="{FF2B5EF4-FFF2-40B4-BE49-F238E27FC236}">
                <a16:creationId xmlns:a16="http://schemas.microsoft.com/office/drawing/2014/main" id="{CA1B5ACC-2642-4634-BBB5-618A1D7F8D4F}"/>
              </a:ext>
            </a:extLst>
          </p:cNvPr>
          <p:cNvSpPr>
            <a:spLocks noGrp="1"/>
          </p:cNvSpPr>
          <p:nvPr/>
        </p:nvSpPr>
        <p:spPr>
          <a:xfrm>
            <a:off x="609600" y="2800731"/>
            <a:ext cx="10934700" cy="3466719"/>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WORKDIR /app</a:t>
            </a:r>
          </a:p>
          <a:p>
            <a:pPr marL="279400" indent="0">
              <a:spcAft>
                <a:spcPts val="1125"/>
              </a:spcAft>
              <a:defRPr sz="2250" b="0">
                <a:solidFill>
                  <a:srgbClr val="12283C"/>
                </a:solidFill>
                <a:latin typeface="Segoe UI"/>
                <a:ea typeface="Segoe UI"/>
                <a:cs typeface="Segoe UI"/>
              </a:defRPr>
            </a:pPr>
            <a:r>
              <a:rPr sz="2025">
                <a:solidFill>
                  <a:srgbClr val="4E6271"/>
                </a:solidFill>
              </a:rPr>
              <a:t>Sets the working directory for following relevant instructions and the default startup command.</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COPY app.py ./app.py</a:t>
            </a:r>
          </a:p>
          <a:p>
            <a:pPr marL="279400" indent="0">
              <a:spcAft>
                <a:spcPts val="1125"/>
              </a:spcAft>
              <a:defRPr sz="2250" b="0">
                <a:solidFill>
                  <a:srgbClr val="12283C"/>
                </a:solidFill>
                <a:latin typeface="Segoe UI"/>
                <a:ea typeface="Segoe UI"/>
                <a:cs typeface="Segoe UI"/>
              </a:defRPr>
            </a:pPr>
            <a:r>
              <a:rPr sz="2025">
                <a:solidFill>
                  <a:srgbClr val="4E6271"/>
                </a:solidFill>
              </a:rPr>
              <a:t>Reads app.py from the build context and places it at /app/app.py.</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--chown=app:app</a:t>
            </a:r>
          </a:p>
          <a:p>
            <a:pPr marL="279400" indent="0">
              <a:spcAft>
                <a:spcPts val="0"/>
              </a:spcAft>
              <a:defRPr sz="2250" b="0">
                <a:solidFill>
                  <a:srgbClr val="12283C"/>
                </a:solidFill>
                <a:latin typeface="Segoe UI"/>
                <a:ea typeface="Segoe UI"/>
                <a:cs typeface="Segoe UI"/>
              </a:defRPr>
            </a:pPr>
            <a:r>
              <a:rPr sz="2025">
                <a:solidFill>
                  <a:srgbClr val="4E6271"/>
                </a:solidFill>
              </a:rPr>
              <a:t>Assigns ownership during the copy, after the user and group have been created.</a:t>
            </a:r>
          </a:p>
        </p:txBody>
      </p:sp>
    </p:spTree>
    <p:extLst>
      <p:ext uri="{BB962C8B-B14F-4D97-AF65-F5344CB8AC3E}">
        <p14:creationId xmlns:p14="http://schemas.microsoft.com/office/powerpoint/2010/main" val="1674982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F79FE102-B5D6-4EE1-8B9F-8979D30FE69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2725ABD3-A73B-4413-B8B3-93ED8F30031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RUN and CMD happen at different times</a:t>
            </a:r>
          </a:p>
        </p:txBody>
      </p:sp>
      <p:sp>
        <p:nvSpPr>
          <p:cNvPr id="3" name="code-label">
            <a:extLst>
              <a:ext uri="{FF2B5EF4-FFF2-40B4-BE49-F238E27FC236}">
                <a16:creationId xmlns:a16="http://schemas.microsoft.com/office/drawing/2014/main" id="{890E8894-65AE-4662-B41F-F1DFB4AE3650}"/>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Two different lifecycle stages</a:t>
            </a:r>
          </a:p>
        </p:txBody>
      </p:sp>
      <p:sp>
        <p:nvSpPr>
          <p:cNvPr id="4" name="editable-code">
            <a:extLst>
              <a:ext uri="{FF2B5EF4-FFF2-40B4-BE49-F238E27FC236}">
                <a16:creationId xmlns:a16="http://schemas.microsoft.com/office/drawing/2014/main" id="{68557516-B255-49A5-85C4-AA09916A8783}"/>
              </a:ext>
            </a:extLst>
          </p:cNvPr>
          <p:cNvSpPr>
            <a:spLocks noGrp="1"/>
          </p:cNvSpPr>
          <p:nvPr/>
        </p:nvSpPr>
        <p:spPr>
          <a:xfrm>
            <a:off x="609600" y="2028825"/>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RUN groupadd --gid 10001 app</a:t>
            </a:r>
          </a:p>
          <a:p>
            <a:pPr>
              <a:defRPr sz="1800" b="0">
                <a:solidFill>
                  <a:srgbClr val="12283C"/>
                </a:solidFill>
                <a:latin typeface="Consolas"/>
                <a:ea typeface="Consolas"/>
                <a:cs typeface="Consolas"/>
              </a:defRPr>
            </a:pPr>
            <a:r>
              <a:t>CMD ["python", "app.py"]</a:t>
            </a:r>
          </a:p>
        </p:txBody>
      </p:sp>
      <p:sp>
        <p:nvSpPr>
          <p:cNvPr id="5" name="editable-bullet-list">
            <a:extLst>
              <a:ext uri="{FF2B5EF4-FFF2-40B4-BE49-F238E27FC236}">
                <a16:creationId xmlns:a16="http://schemas.microsoft.com/office/drawing/2014/main" id="{86E0E3A1-F9B3-49B1-900F-F0BDE29EBA60}"/>
              </a:ext>
            </a:extLst>
          </p:cNvPr>
          <p:cNvSpPr>
            <a:spLocks noGrp="1"/>
          </p:cNvSpPr>
          <p:nvPr/>
        </p:nvSpPr>
        <p:spPr>
          <a:xfrm>
            <a:off x="609600" y="2800731"/>
            <a:ext cx="10934700" cy="3466719"/>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RUN: image construction</a:t>
            </a:r>
          </a:p>
          <a:p>
            <a:pPr marL="279400" indent="0">
              <a:spcAft>
                <a:spcPts val="1125"/>
              </a:spcAft>
              <a:defRPr sz="2250" b="0">
                <a:solidFill>
                  <a:srgbClr val="12283C"/>
                </a:solidFill>
                <a:latin typeface="Segoe UI"/>
                <a:ea typeface="Segoe UI"/>
                <a:cs typeface="Segoe UI"/>
              </a:defRPr>
            </a:pPr>
            <a:r>
              <a:rPr sz="2025">
                <a:solidFill>
                  <a:srgbClr val="4E6271"/>
                </a:solidFill>
              </a:rPr>
              <a:t>Executes a build step, such as creating the app user or installing a dependency.</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CMD: container startup</a:t>
            </a:r>
          </a:p>
          <a:p>
            <a:pPr marL="279400" indent="0">
              <a:spcAft>
                <a:spcPts val="1125"/>
              </a:spcAft>
              <a:defRPr sz="2250" b="0">
                <a:solidFill>
                  <a:srgbClr val="12283C"/>
                </a:solidFill>
                <a:latin typeface="Segoe UI"/>
                <a:ea typeface="Segoe UI"/>
                <a:cs typeface="Segoe UI"/>
              </a:defRPr>
            </a:pPr>
            <a:r>
              <a:rPr sz="2025">
                <a:solidFill>
                  <a:srgbClr val="4E6271"/>
                </a:solidFill>
              </a:rPr>
              <a:t>Records a default startup command, such as python app.py.</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run IMAGE COMMAND: an instance-level override</a:t>
            </a:r>
          </a:p>
          <a:p>
            <a:pPr marL="279400" indent="0">
              <a:spcAft>
                <a:spcPts val="0"/>
              </a:spcAft>
              <a:defRPr sz="2250" b="0">
                <a:solidFill>
                  <a:srgbClr val="12283C"/>
                </a:solidFill>
                <a:latin typeface="Segoe UI"/>
                <a:ea typeface="Segoe UI"/>
                <a:cs typeface="Segoe UI"/>
              </a:defRPr>
            </a:pPr>
            <a:r>
              <a:rPr sz="2025">
                <a:solidFill>
                  <a:srgbClr val="4E6271"/>
                </a:solidFill>
              </a:rPr>
              <a:t>Can replace the image’s default command when that image’s startup configuration permits it.</a:t>
            </a:r>
          </a:p>
        </p:txBody>
      </p:sp>
    </p:spTree>
    <p:extLst>
      <p:ext uri="{BB962C8B-B14F-4D97-AF65-F5344CB8AC3E}">
        <p14:creationId xmlns:p14="http://schemas.microsoft.com/office/powerpoint/2010/main" val="8911015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86AF9F5D-1289-4A88-9202-28DAE63B5E2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DDF6D360-4137-41D7-85DD-66BA3E9E143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CMD, ENTRYPOINT, and arguments</a:t>
            </a:r>
          </a:p>
        </p:txBody>
      </p:sp>
      <p:sp>
        <p:nvSpPr>
          <p:cNvPr id="3" name="editable-bullet-list">
            <a:extLst>
              <a:ext uri="{FF2B5EF4-FFF2-40B4-BE49-F238E27FC236}">
                <a16:creationId xmlns:a16="http://schemas.microsoft.com/office/drawing/2014/main" id="{B353C624-5973-455F-9500-E67336C2CE25}"/>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CMD supplies a replaceable default</a:t>
            </a:r>
          </a:p>
          <a:p>
            <a:pPr marL="279400" indent="0">
              <a:spcAft>
                <a:spcPts val="1125"/>
              </a:spcAft>
              <a:defRPr sz="2250" b="0">
                <a:solidFill>
                  <a:srgbClr val="12283C"/>
                </a:solidFill>
                <a:latin typeface="Segoe UI"/>
                <a:ea typeface="Segoe UI"/>
                <a:cs typeface="Segoe UI"/>
              </a:defRPr>
            </a:pPr>
            <a:r>
              <a:rPr sz="2025">
                <a:solidFill>
                  <a:srgbClr val="4E6271"/>
                </a:solidFill>
              </a:rPr>
              <a:t>With CMD ["python", "app.py"], docker run IMAGE python --version runs the replacement command.</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ENTRYPOINT keeps the executable in place</a:t>
            </a:r>
          </a:p>
          <a:p>
            <a:pPr marL="279400" indent="0">
              <a:spcAft>
                <a:spcPts val="1125"/>
              </a:spcAft>
              <a:defRPr sz="2250" b="0">
                <a:solidFill>
                  <a:srgbClr val="12283C"/>
                </a:solidFill>
                <a:latin typeface="Segoe UI"/>
                <a:ea typeface="Segoe UI"/>
                <a:cs typeface="Segoe UI"/>
              </a:defRPr>
            </a:pPr>
            <a:r>
              <a:rPr sz="2025">
                <a:solidFill>
                  <a:srgbClr val="4E6271"/>
                </a:solidFill>
              </a:rPr>
              <a:t>With ENTRYPOINT ["python"] and CMD ["app.py"], docker run IMAGE --version runs python --version.</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--entrypoint explicitly replaces the executable</a:t>
            </a:r>
          </a:p>
          <a:p>
            <a:pPr marL="279400" indent="0">
              <a:spcAft>
                <a:spcPts val="1125"/>
              </a:spcAft>
              <a:defRPr sz="2250" b="0">
                <a:solidFill>
                  <a:srgbClr val="12283C"/>
                </a:solidFill>
                <a:latin typeface="Segoe UI"/>
                <a:ea typeface="Segoe UI"/>
                <a:cs typeface="Segoe UI"/>
              </a:defRPr>
            </a:pPr>
            <a:r>
              <a:rPr sz="2025">
                <a:solidFill>
                  <a:srgbClr val="4E6271"/>
                </a:solidFill>
              </a:rPr>
              <a:t>For an image configured with ENTRYPOINT ["python"], docker run --entrypoint sh IMAGE selects sh instead.</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IMAGE is a placeholder in this comparison. The supplied API uses the first configuration.</a:t>
            </a:r>
          </a:p>
        </p:txBody>
      </p:sp>
    </p:spTree>
    <p:extLst>
      <p:ext uri="{BB962C8B-B14F-4D97-AF65-F5344CB8AC3E}">
        <p14:creationId xmlns:p14="http://schemas.microsoft.com/office/powerpoint/2010/main" val="2149830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0379F2F5-3F2A-466D-9207-4ABD1E8E6B98}"/>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DCEDA9BC-30C1-4D85-8453-CFD4883DA562}"/>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ARG and ENV</a:t>
            </a:r>
          </a:p>
        </p:txBody>
      </p:sp>
      <p:sp>
        <p:nvSpPr>
          <p:cNvPr id="3" name="code-label">
            <a:extLst>
              <a:ext uri="{FF2B5EF4-FFF2-40B4-BE49-F238E27FC236}">
                <a16:creationId xmlns:a16="http://schemas.microsoft.com/office/drawing/2014/main" id="{C25ACF2A-5160-44BF-93AF-976B413D2EEF}"/>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After building the API image</a:t>
            </a:r>
          </a:p>
        </p:txBody>
      </p:sp>
      <p:sp>
        <p:nvSpPr>
          <p:cNvPr id="4" name="editable-code">
            <a:extLst>
              <a:ext uri="{FF2B5EF4-FFF2-40B4-BE49-F238E27FC236}">
                <a16:creationId xmlns:a16="http://schemas.microsoft.com/office/drawing/2014/main" id="{60FA5802-7723-4424-A3D5-930D185AFE64}"/>
              </a:ext>
            </a:extLst>
          </p:cNvPr>
          <p:cNvSpPr>
            <a:spLocks noGrp="1"/>
          </p:cNvSpPr>
          <p:nvPr/>
        </p:nvSpPr>
        <p:spPr>
          <a:xfrm>
            <a:off x="609600" y="2028825"/>
            <a:ext cx="10934700" cy="63855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--rm -e COURSE=DevOps csc418/course-api:1.0 python -c "import os; print(os.environ.get('COURSE'))"</a:t>
            </a:r>
          </a:p>
        </p:txBody>
      </p:sp>
      <p:sp>
        <p:nvSpPr>
          <p:cNvPr id="5" name="editable-bullet-list">
            <a:extLst>
              <a:ext uri="{FF2B5EF4-FFF2-40B4-BE49-F238E27FC236}">
                <a16:creationId xmlns:a16="http://schemas.microsoft.com/office/drawing/2014/main" id="{DC36A471-017F-4F48-ADCF-932510E1637F}"/>
              </a:ext>
            </a:extLst>
          </p:cNvPr>
          <p:cNvSpPr>
            <a:spLocks noGrp="1"/>
          </p:cNvSpPr>
          <p:nvPr/>
        </p:nvSpPr>
        <p:spPr>
          <a:xfrm>
            <a:off x="609600" y="2800731"/>
            <a:ext cx="10934700" cy="3466719"/>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ARG: build-time input</a:t>
            </a:r>
          </a:p>
          <a:p>
            <a:pPr marL="279400" indent="0">
              <a:spcAft>
                <a:spcPts val="1125"/>
              </a:spcAft>
              <a:defRPr sz="2250" b="0">
                <a:solidFill>
                  <a:srgbClr val="12283C"/>
                </a:solidFill>
                <a:latin typeface="Segoe UI"/>
                <a:ea typeface="Segoe UI"/>
                <a:cs typeface="Segoe UI"/>
              </a:defRPr>
            </a:pPr>
            <a:r>
              <a:rPr sz="2025">
                <a:solidFill>
                  <a:srgbClr val="4E6271"/>
                </a:solidFill>
              </a:rPr>
              <a:t>Supplies a value within its defined build scope, such as a build parameter or base-image version.</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ENV: image and container default</a:t>
            </a:r>
          </a:p>
          <a:p>
            <a:pPr marL="279400" indent="0">
              <a:spcAft>
                <a:spcPts val="1125"/>
              </a:spcAft>
              <a:defRPr sz="2250" b="0">
                <a:solidFill>
                  <a:srgbClr val="12283C"/>
                </a:solidFill>
                <a:latin typeface="Segoe UI"/>
                <a:ea typeface="Segoe UI"/>
                <a:cs typeface="Segoe UI"/>
              </a:defRPr>
            </a:pPr>
            <a:r>
              <a:rPr sz="2025">
                <a:solidFill>
                  <a:srgbClr val="4E6271"/>
                </a:solidFill>
              </a:rPr>
              <a:t>Records an environment setting such as APP_VERSION for containers created from the image.</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docker run -e: one container’s configuration</a:t>
            </a:r>
          </a:p>
          <a:p>
            <a:pPr marL="279400" indent="0">
              <a:spcAft>
                <a:spcPts val="0"/>
              </a:spcAft>
              <a:defRPr sz="2250" b="0">
                <a:solidFill>
                  <a:srgbClr val="12283C"/>
                </a:solidFill>
                <a:latin typeface="Segoe UI"/>
                <a:ea typeface="Segoe UI"/>
                <a:cs typeface="Segoe UI"/>
              </a:defRPr>
            </a:pPr>
            <a:r>
              <a:rPr sz="2025">
                <a:solidFill>
                  <a:srgbClr val="4E6271"/>
                </a:solidFill>
              </a:rPr>
              <a:t>Overrides an environment value such as COURSE without rebuilding the image.</a:t>
            </a:r>
          </a:p>
        </p:txBody>
      </p:sp>
    </p:spTree>
    <p:extLst>
      <p:ext uri="{BB962C8B-B14F-4D97-AF65-F5344CB8AC3E}">
        <p14:creationId xmlns:p14="http://schemas.microsoft.com/office/powerpoint/2010/main" val="297494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FCC2DAE0-8F04-4000-AA31-A5D35DCB928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49489A97-47A3-4520-9DDC-91565075E09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USER and filesystem permissions</a:t>
            </a:r>
          </a:p>
        </p:txBody>
      </p:sp>
      <p:sp>
        <p:nvSpPr>
          <p:cNvPr id="3" name="code-label">
            <a:extLst>
              <a:ext uri="{FF2B5EF4-FFF2-40B4-BE49-F238E27FC236}">
                <a16:creationId xmlns:a16="http://schemas.microsoft.com/office/drawing/2014/main" id="{B61E970F-136C-4969-91C8-693624C5D72C}"/>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Least-privilege application identity</a:t>
            </a:r>
          </a:p>
        </p:txBody>
      </p:sp>
      <p:sp>
        <p:nvSpPr>
          <p:cNvPr id="4" name="editable-code">
            <a:extLst>
              <a:ext uri="{FF2B5EF4-FFF2-40B4-BE49-F238E27FC236}">
                <a16:creationId xmlns:a16="http://schemas.microsoft.com/office/drawing/2014/main" id="{A92155E6-1A5B-4C77-82E5-63AFD1C292D7}"/>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RUN groupadd --gid 10001 app \</a:t>
            </a:r>
          </a:p>
          <a:p>
            <a:pPr>
              <a:defRPr sz="1800" b="0">
                <a:solidFill>
                  <a:srgbClr val="12283C"/>
                </a:solidFill>
                <a:latin typeface="Consolas"/>
                <a:ea typeface="Consolas"/>
                <a:cs typeface="Consolas"/>
              </a:defRPr>
            </a:pPr>
            <a:r>
              <a:t>    &amp;&amp; useradd --uid 10001 --gid app --no-create-home app</a:t>
            </a:r>
          </a:p>
          <a:p>
            <a:pPr>
              <a:defRPr sz="1800" b="0">
                <a:solidFill>
                  <a:srgbClr val="12283C"/>
                </a:solidFill>
                <a:latin typeface="Consolas"/>
                <a:ea typeface="Consolas"/>
                <a:cs typeface="Consolas"/>
              </a:defRPr>
            </a:pPr>
            <a:r>
              <a:t>COPY --chown=app:app app.py ./app.py</a:t>
            </a:r>
          </a:p>
          <a:p>
            <a:pPr>
              <a:defRPr sz="1800" b="0">
                <a:solidFill>
                  <a:srgbClr val="12283C"/>
                </a:solidFill>
                <a:latin typeface="Consolas"/>
                <a:ea typeface="Consolas"/>
                <a:cs typeface="Consolas"/>
              </a:defRPr>
            </a:pPr>
            <a:r>
              <a:t>USER app</a:t>
            </a:r>
          </a:p>
        </p:txBody>
      </p:sp>
      <p:sp>
        <p:nvSpPr>
          <p:cNvPr id="5" name="editable-bullet-list">
            <a:extLst>
              <a:ext uri="{FF2B5EF4-FFF2-40B4-BE49-F238E27FC236}">
                <a16:creationId xmlns:a16="http://schemas.microsoft.com/office/drawing/2014/main" id="{BB3D5292-4DE2-49DD-B7C7-D88EFB52258A}"/>
              </a:ext>
            </a:extLst>
          </p:cNvPr>
          <p:cNvSpPr>
            <a:spLocks noGrp="1"/>
          </p:cNvSpPr>
          <p:nvPr/>
        </p:nvSpPr>
        <p:spPr>
          <a:xfrm>
            <a:off x="609600" y="3363087"/>
            <a:ext cx="10934700" cy="2904363"/>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application reads its source file and listens on port 8000.</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It does not need root privileges for those operations.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Mounted data still needs compatible ownership and permissions.</a:t>
            </a:r>
          </a:p>
        </p:txBody>
      </p:sp>
    </p:spTree>
    <p:extLst>
      <p:ext uri="{BB962C8B-B14F-4D97-AF65-F5344CB8AC3E}">
        <p14:creationId xmlns:p14="http://schemas.microsoft.com/office/powerpoint/2010/main" val="1615966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9D587486-8EF3-43B6-9FF7-389F7A073506}"/>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Dockerfile instructions</a:t>
            </a:r>
          </a:p>
        </p:txBody>
      </p:sp>
      <p:sp>
        <p:nvSpPr>
          <p:cNvPr id="2" name="slide-title">
            <a:extLst>
              <a:ext uri="{FF2B5EF4-FFF2-40B4-BE49-F238E27FC236}">
                <a16:creationId xmlns:a16="http://schemas.microsoft.com/office/drawing/2014/main" id="{8185DF98-345A-4BCC-8BAC-E8CD2DFEF237}"/>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EXPOSE and publishing</a:t>
            </a:r>
          </a:p>
        </p:txBody>
      </p:sp>
      <p:sp>
        <p:nvSpPr>
          <p:cNvPr id="3" name="code-label">
            <a:extLst>
              <a:ext uri="{FF2B5EF4-FFF2-40B4-BE49-F238E27FC236}">
                <a16:creationId xmlns:a16="http://schemas.microsoft.com/office/drawing/2014/main" id="{C7FF4317-4537-40A8-880F-2087E62E2F44}"/>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Dockerfile metadata</a:t>
            </a:r>
          </a:p>
        </p:txBody>
      </p:sp>
      <p:sp>
        <p:nvSpPr>
          <p:cNvPr id="4" name="editable-code">
            <a:extLst>
              <a:ext uri="{FF2B5EF4-FFF2-40B4-BE49-F238E27FC236}">
                <a16:creationId xmlns:a16="http://schemas.microsoft.com/office/drawing/2014/main" id="{D05483A5-A9A2-4603-AB10-DE01C7CDE32C}"/>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EXPOSE 8000</a:t>
            </a:r>
          </a:p>
        </p:txBody>
      </p:sp>
      <p:sp>
        <p:nvSpPr>
          <p:cNvPr id="5" name="code-label">
            <a:extLst>
              <a:ext uri="{FF2B5EF4-FFF2-40B4-BE49-F238E27FC236}">
                <a16:creationId xmlns:a16="http://schemas.microsoft.com/office/drawing/2014/main" id="{0A5DA504-FDA7-4EDA-B18E-434F5CC402CC}"/>
              </a:ext>
            </a:extLst>
          </p:cNvPr>
          <p:cNvSpPr>
            <a:spLocks noGrp="1"/>
          </p:cNvSpPr>
          <p:nvPr/>
        </p:nvSpPr>
        <p:spPr>
          <a:xfrm>
            <a:off x="609600" y="2500503"/>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Runtime configuration</a:t>
            </a:r>
          </a:p>
        </p:txBody>
      </p:sp>
      <p:sp>
        <p:nvSpPr>
          <p:cNvPr id="6" name="editable-code">
            <a:extLst>
              <a:ext uri="{FF2B5EF4-FFF2-40B4-BE49-F238E27FC236}">
                <a16:creationId xmlns:a16="http://schemas.microsoft.com/office/drawing/2014/main" id="{A236EE57-7D43-4D58-B6B1-7CCF01A88E35}"/>
              </a:ext>
            </a:extLst>
          </p:cNvPr>
          <p:cNvSpPr>
            <a:spLocks noGrp="1"/>
          </p:cNvSpPr>
          <p:nvPr/>
        </p:nvSpPr>
        <p:spPr>
          <a:xfrm>
            <a:off x="609600" y="2786253"/>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-d --name l10-api -p 127.0.0.1:8000:8000 csc418/course-api:1.0</a:t>
            </a:r>
          </a:p>
        </p:txBody>
      </p:sp>
      <p:sp>
        <p:nvSpPr>
          <p:cNvPr id="7" name="editable-bullet-list">
            <a:extLst>
              <a:ext uri="{FF2B5EF4-FFF2-40B4-BE49-F238E27FC236}">
                <a16:creationId xmlns:a16="http://schemas.microsoft.com/office/drawing/2014/main" id="{6A2F5E54-FC57-4F29-B224-11E715C84FD3}"/>
              </a:ext>
            </a:extLst>
          </p:cNvPr>
          <p:cNvSpPr>
            <a:spLocks noGrp="1"/>
          </p:cNvSpPr>
          <p:nvPr/>
        </p:nvSpPr>
        <p:spPr>
          <a:xfrm>
            <a:off x="609600" y="3276981"/>
            <a:ext cx="10934700" cy="2990469"/>
          </a:xfrm>
          <a:prstGeom prst="rect">
            <a:avLst/>
          </a:prstGeom>
          <a:noFill/>
          <a:ln w="0">
            <a:noFill/>
          </a:ln>
        </p:spPr>
        <p:txBody>
          <a:bodyPr wrap="square" lIns="0" tIns="0" rIns="0" bIns="0" anchor="t">
            <a:noAutofit/>
          </a:bodyPr>
          <a:lstStyle/>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EXPOSE 8000</a:t>
            </a:r>
          </a:p>
          <a:p>
            <a:pPr marL="279400" indent="0">
              <a:spcAft>
                <a:spcPts val="750"/>
              </a:spcAft>
              <a:defRPr sz="1950" b="0">
                <a:solidFill>
                  <a:srgbClr val="12283C"/>
                </a:solidFill>
                <a:latin typeface="Segoe UI"/>
                <a:ea typeface="Segoe UI"/>
                <a:cs typeface="Segoe UI"/>
              </a:defRPr>
            </a:pPr>
            <a:r>
              <a:rPr sz="1800">
                <a:solidFill>
                  <a:srgbClr val="4E6271"/>
                </a:solidFill>
              </a:rPr>
              <a:t>Records the intended container port. It does not make the application listen.</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docker run -p</a:t>
            </a:r>
          </a:p>
          <a:p>
            <a:pPr marL="279400" indent="0">
              <a:spcAft>
                <a:spcPts val="0"/>
              </a:spcAft>
              <a:defRPr sz="1950" b="0">
                <a:solidFill>
                  <a:srgbClr val="12283C"/>
                </a:solidFill>
                <a:latin typeface="Segoe UI"/>
                <a:ea typeface="Segoe UI"/>
                <a:cs typeface="Segoe UI"/>
              </a:defRPr>
            </a:pPr>
            <a:r>
              <a:rPr sz="1800">
                <a:solidFill>
                  <a:srgbClr val="4E6271"/>
                </a:solidFill>
              </a:rPr>
              <a:t>Creates a host-port mapping. The application must already listen on port 8000.</a:t>
            </a:r>
          </a:p>
        </p:txBody>
      </p:sp>
    </p:spTree>
    <p:extLst>
      <p:ext uri="{BB962C8B-B14F-4D97-AF65-F5344CB8AC3E}">
        <p14:creationId xmlns:p14="http://schemas.microsoft.com/office/powerpoint/2010/main" val="18598733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BBEE0F60-3E1D-4B1A-A3AC-044FE9F0050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and run</a:t>
            </a:r>
          </a:p>
        </p:txBody>
      </p:sp>
      <p:sp>
        <p:nvSpPr>
          <p:cNvPr id="2" name="slide-title">
            <a:extLst>
              <a:ext uri="{FF2B5EF4-FFF2-40B4-BE49-F238E27FC236}">
                <a16:creationId xmlns:a16="http://schemas.microsoft.com/office/drawing/2014/main" id="{D45CB7EA-438F-4F61-BD84-05F678EE40A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Building the API image</a:t>
            </a:r>
          </a:p>
        </p:txBody>
      </p:sp>
      <p:sp>
        <p:nvSpPr>
          <p:cNvPr id="3" name="code-label">
            <a:extLst>
              <a:ext uri="{FF2B5EF4-FFF2-40B4-BE49-F238E27FC236}">
                <a16:creationId xmlns:a16="http://schemas.microsoft.com/office/drawing/2014/main" id="{9FE4C800-954F-4291-ADB3-1C8D85947985}"/>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Run from examples/course-api</a:t>
            </a:r>
          </a:p>
        </p:txBody>
      </p:sp>
      <p:sp>
        <p:nvSpPr>
          <p:cNvPr id="4" name="editable-code">
            <a:extLst>
              <a:ext uri="{FF2B5EF4-FFF2-40B4-BE49-F238E27FC236}">
                <a16:creationId xmlns:a16="http://schemas.microsoft.com/office/drawing/2014/main" id="{A97C30C0-68B7-4503-BF4F-B408811F1B73}"/>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build -t csc418/course-api:1.0 .</a:t>
            </a:r>
          </a:p>
          <a:p>
            <a:pPr>
              <a:defRPr sz="1800" b="0">
                <a:solidFill>
                  <a:srgbClr val="12283C"/>
                </a:solidFill>
                <a:latin typeface="Consolas"/>
                <a:ea typeface="Consolas"/>
                <a:cs typeface="Consolas"/>
              </a:defRPr>
            </a:pPr>
            <a:r>
              <a:t>docker image ls csc418/course-api</a:t>
            </a:r>
          </a:p>
          <a:p>
            <a:pPr>
              <a:defRPr sz="1800" b="0">
                <a:solidFill>
                  <a:srgbClr val="12283C"/>
                </a:solidFill>
                <a:latin typeface="Consolas"/>
                <a:ea typeface="Consolas"/>
                <a:cs typeface="Consolas"/>
              </a:defRPr>
            </a:pPr>
            <a:r>
              <a:t>docker image inspect csc418/course-api:1.0</a:t>
            </a:r>
          </a:p>
        </p:txBody>
      </p:sp>
      <p:sp>
        <p:nvSpPr>
          <p:cNvPr id="5" name="editable-bullet-list">
            <a:extLst>
              <a:ext uri="{FF2B5EF4-FFF2-40B4-BE49-F238E27FC236}">
                <a16:creationId xmlns:a16="http://schemas.microsoft.com/office/drawing/2014/main" id="{015F3B05-3788-4A2F-877B-C08936371EEA}"/>
              </a:ext>
            </a:extLst>
          </p:cNvPr>
          <p:cNvSpPr>
            <a:spLocks noGrp="1"/>
          </p:cNvSpPr>
          <p:nvPr/>
        </p:nvSpPr>
        <p:spPr>
          <a:xfrm>
            <a:off x="609600" y="3081909"/>
            <a:ext cx="10934700" cy="3185541"/>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builder reads the Dockerfile and available context.</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It resolves the base image and executes required build steps.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It records the resulting filesystem and configuration under the requested tag.</a:t>
            </a:r>
          </a:p>
        </p:txBody>
      </p:sp>
    </p:spTree>
    <p:extLst>
      <p:ext uri="{BB962C8B-B14F-4D97-AF65-F5344CB8AC3E}">
        <p14:creationId xmlns:p14="http://schemas.microsoft.com/office/powerpoint/2010/main" val="13846470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7CAA5986-A0CA-46DD-A695-0C8AD1EF7141}"/>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and run</a:t>
            </a:r>
          </a:p>
        </p:txBody>
      </p:sp>
      <p:sp>
        <p:nvSpPr>
          <p:cNvPr id="2" name="slide-title">
            <a:extLst>
              <a:ext uri="{FF2B5EF4-FFF2-40B4-BE49-F238E27FC236}">
                <a16:creationId xmlns:a16="http://schemas.microsoft.com/office/drawing/2014/main" id="{01284AAA-E43C-4163-BA92-63CAEEA48982}"/>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Starting and checking the custom image</a:t>
            </a:r>
          </a:p>
        </p:txBody>
      </p:sp>
      <p:sp>
        <p:nvSpPr>
          <p:cNvPr id="3" name="code-label">
            <a:extLst>
              <a:ext uri="{FF2B5EF4-FFF2-40B4-BE49-F238E27FC236}">
                <a16:creationId xmlns:a16="http://schemas.microsoft.com/office/drawing/2014/main" id="{FE183367-4EF0-4EAE-9ED5-85343343C9DD}"/>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40DEAFF2-3909-4BA6-8706-7656EDD38127}"/>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-d --name l10-api -p 127.0.0.1:8000:8000 csc418/course-api:1.0</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logs l10-api</a:t>
            </a:r>
          </a:p>
        </p:txBody>
      </p:sp>
      <p:sp>
        <p:nvSpPr>
          <p:cNvPr id="5" name="code-label">
            <a:extLst>
              <a:ext uri="{FF2B5EF4-FFF2-40B4-BE49-F238E27FC236}">
                <a16:creationId xmlns:a16="http://schemas.microsoft.com/office/drawing/2014/main" id="{A93DE5DF-F093-43D1-86E5-60FF35FE943F}"/>
              </a:ext>
            </a:extLst>
          </p:cNvPr>
          <p:cNvSpPr>
            <a:spLocks noGrp="1"/>
          </p:cNvSpPr>
          <p:nvPr/>
        </p:nvSpPr>
        <p:spPr>
          <a:xfrm>
            <a:off x="609600" y="3062859"/>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Expected response bodies; whitespace can differ</a:t>
            </a:r>
          </a:p>
        </p:txBody>
      </p:sp>
      <p:sp>
        <p:nvSpPr>
          <p:cNvPr id="6" name="editable-code">
            <a:extLst>
              <a:ext uri="{FF2B5EF4-FFF2-40B4-BE49-F238E27FC236}">
                <a16:creationId xmlns:a16="http://schemas.microsoft.com/office/drawing/2014/main" id="{D1CD4876-DA61-4C75-A8B3-135B68313AEB}"/>
              </a:ext>
            </a:extLst>
          </p:cNvPr>
          <p:cNvSpPr>
            <a:spLocks noGrp="1"/>
          </p:cNvSpPr>
          <p:nvPr/>
        </p:nvSpPr>
        <p:spPr>
          <a:xfrm>
            <a:off x="609600" y="3348609"/>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{"course": "CSC418", "version": "1.0",</a:t>
            </a:r>
          </a:p>
          <a:p>
            <a:pPr>
              <a:defRPr sz="1800" b="0">
                <a:solidFill>
                  <a:srgbClr val="12283C"/>
                </a:solidFill>
                <a:latin typeface="Consolas"/>
                <a:ea typeface="Consolas"/>
                <a:cs typeface="Consolas"/>
              </a:defRPr>
            </a:pPr>
            <a:r>
              <a:t> "message": "Hello from a container"}</a:t>
            </a:r>
          </a:p>
          <a:p>
            <a:pPr>
              <a:defRPr sz="1800" b="0">
                <a:solidFill>
                  <a:srgbClr val="12283C"/>
                </a:solidFill>
                <a:latin typeface="Consolas"/>
                <a:ea typeface="Consolas"/>
                <a:cs typeface="Consolas"/>
              </a:defRPr>
            </a:pPr>
            <a:endParaRPr/>
          </a:p>
          <a:p>
            <a:pPr>
              <a:defRPr sz="1800" b="0">
                <a:solidFill>
                  <a:srgbClr val="12283C"/>
                </a:solidFill>
                <a:latin typeface="Consolas"/>
                <a:ea typeface="Consolas"/>
                <a:cs typeface="Consolas"/>
              </a:defRPr>
            </a:pPr>
            <a:r>
              <a:t>{"status": "ok"}</a:t>
            </a:r>
          </a:p>
        </p:txBody>
      </p:sp>
      <p:sp>
        <p:nvSpPr>
          <p:cNvPr id="7" name="editable-bullet-list">
            <a:extLst>
              <a:ext uri="{FF2B5EF4-FFF2-40B4-BE49-F238E27FC236}">
                <a16:creationId xmlns:a16="http://schemas.microsoft.com/office/drawing/2014/main" id="{E7F07A72-D9DD-4A39-A8A8-A478E80D9BE9}"/>
              </a:ext>
            </a:extLst>
          </p:cNvPr>
          <p:cNvSpPr>
            <a:spLocks noGrp="1"/>
          </p:cNvSpPr>
          <p:nvPr/>
        </p:nvSpPr>
        <p:spPr>
          <a:xfrm>
            <a:off x="609600" y="4682871"/>
            <a:ext cx="10934700" cy="1584579"/>
          </a:xfrm>
          <a:prstGeom prst="rect">
            <a:avLst/>
          </a:prstGeom>
          <a:noFill/>
          <a:ln w="0">
            <a:noFill/>
          </a:ln>
        </p:spPr>
        <p:txBody>
          <a:bodyPr wrap="square" lIns="0" tIns="0" rIns="0" bIns="0" anchor="t">
            <a:noAutofit/>
          </a:bodyPr>
          <a:lstStyle/>
          <a:p>
            <a:pPr marL="279400" indent="-165100">
              <a:spcAft>
                <a:spcPts val="0"/>
              </a:spcAft>
              <a:buChar char="•"/>
              <a:defRPr sz="1950" b="0">
                <a:solidFill>
                  <a:srgbClr val="12283C"/>
                </a:solidFill>
                <a:latin typeface="Segoe UI"/>
                <a:ea typeface="Segoe UI"/>
                <a:cs typeface="Segoe UI"/>
              </a:defRPr>
            </a:pPr>
            <a:r>
              <a:rPr sz="1950" b="0">
                <a:solidFill>
                  <a:srgbClr val="12283C"/>
                </a:solidFill>
              </a:rPr>
              <a:t>Open http://localhost:8000/ and http://localhost:8000/health.</a:t>
            </a:r>
          </a:p>
        </p:txBody>
      </p:sp>
    </p:spTree>
    <p:extLst>
      <p:ext uri="{BB962C8B-B14F-4D97-AF65-F5344CB8AC3E}">
        <p14:creationId xmlns:p14="http://schemas.microsoft.com/office/powerpoint/2010/main" val="9484784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9" name="section-label">
            <a:extLst>
              <a:ext uri="{FF2B5EF4-FFF2-40B4-BE49-F238E27FC236}">
                <a16:creationId xmlns:a16="http://schemas.microsoft.com/office/drawing/2014/main" id="{880E8C6B-631F-4BC9-9FD9-C40073418125}"/>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and run</a:t>
            </a:r>
          </a:p>
        </p:txBody>
      </p:sp>
      <p:sp>
        <p:nvSpPr>
          <p:cNvPr id="2" name="slide-title">
            <a:extLst>
              <a:ext uri="{FF2B5EF4-FFF2-40B4-BE49-F238E27FC236}">
                <a16:creationId xmlns:a16="http://schemas.microsoft.com/office/drawing/2014/main" id="{C03071CC-F01C-4198-A231-276015D1B986}"/>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Two configurations from one image</a:t>
            </a:r>
          </a:p>
        </p:txBody>
      </p:sp>
      <p:sp>
        <p:nvSpPr>
          <p:cNvPr id="3" name="code-label">
            <a:extLst>
              <a:ext uri="{FF2B5EF4-FFF2-40B4-BE49-F238E27FC236}">
                <a16:creationId xmlns:a16="http://schemas.microsoft.com/office/drawing/2014/main" id="{4AF688B1-54F1-4373-8157-D5032119E389}"/>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044F38E3-75FC-4C77-A3BF-8C746FE9E72A}"/>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-d --name l10-api-b -e COURSE=CloudDevOps -p 127.0.0.1:8001:8000 csc418/course-api:1.0</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logs l10-api-b</a:t>
            </a:r>
          </a:p>
        </p:txBody>
      </p:sp>
      <p:sp>
        <p:nvSpPr>
          <p:cNvPr id="5" name="editable-bullet-list">
            <a:extLst>
              <a:ext uri="{FF2B5EF4-FFF2-40B4-BE49-F238E27FC236}">
                <a16:creationId xmlns:a16="http://schemas.microsoft.com/office/drawing/2014/main" id="{221A8D81-1B02-4006-97DD-E7885955637F}"/>
              </a:ext>
            </a:extLst>
          </p:cNvPr>
          <p:cNvSpPr>
            <a:spLocks noGrp="1"/>
          </p:cNvSpPr>
          <p:nvPr/>
        </p:nvSpPr>
        <p:spPr>
          <a:xfrm>
            <a:off x="609600" y="3363087"/>
            <a:ext cx="10934700" cy="2532888"/>
          </a:xfrm>
          <a:prstGeom prst="rect">
            <a:avLst/>
          </a:prstGeom>
          <a:noFill/>
          <a:ln w="0">
            <a:noFill/>
          </a:ln>
        </p:spPr>
        <p:txBody>
          <a:bodyPr wrap="square" lIns="0" tIns="0" rIns="0" bIns="0" anchor="t">
            <a:noAutofit/>
          </a:bodyPr>
          <a:lstStyle/>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l10-api uses the default course value</a:t>
            </a:r>
          </a:p>
          <a:p>
            <a:pPr marL="279400" indent="0">
              <a:spcAft>
                <a:spcPts val="1125"/>
              </a:spcAft>
              <a:defRPr sz="2250" b="0">
                <a:solidFill>
                  <a:srgbClr val="12283C"/>
                </a:solidFill>
                <a:latin typeface="Segoe UI"/>
                <a:ea typeface="Segoe UI"/>
                <a:cs typeface="Segoe UI"/>
              </a:defRPr>
            </a:pPr>
            <a:r>
              <a:rPr sz="2025">
                <a:solidFill>
                  <a:srgbClr val="4E6271"/>
                </a:solidFill>
              </a:rPr>
              <a:t>Open http://localhost:8000/ to see COURSE set to CSC418.</a:t>
            </a:r>
          </a:p>
          <a:p>
            <a:pPr marL="279400" indent="-165100">
              <a:spcAft>
                <a:spcPts val="200"/>
              </a:spcAft>
              <a:buChar char="•"/>
              <a:defRPr sz="2250" b="0">
                <a:solidFill>
                  <a:srgbClr val="12283C"/>
                </a:solidFill>
                <a:latin typeface="Segoe UI"/>
                <a:ea typeface="Segoe UI"/>
                <a:cs typeface="Segoe UI"/>
              </a:defRPr>
            </a:pPr>
            <a:r>
              <a:rPr sz="2250" b="1">
                <a:solidFill>
                  <a:srgbClr val="12283C"/>
                </a:solidFill>
              </a:rPr>
              <a:t>l10-api-b uses a runtime override</a:t>
            </a:r>
          </a:p>
          <a:p>
            <a:pPr marL="279400" indent="0">
              <a:spcAft>
                <a:spcPts val="0"/>
              </a:spcAft>
              <a:defRPr sz="2250" b="0">
                <a:solidFill>
                  <a:srgbClr val="12283C"/>
                </a:solidFill>
                <a:latin typeface="Segoe UI"/>
                <a:ea typeface="Segoe UI"/>
                <a:cs typeface="Segoe UI"/>
              </a:defRPr>
            </a:pPr>
            <a:r>
              <a:rPr sz="2025">
                <a:solidFill>
                  <a:srgbClr val="4E6271"/>
                </a:solidFill>
              </a:rPr>
              <a:t>Open http://localhost:8001/ to see COURSE set to CloudDevOps.</a:t>
            </a:r>
          </a:p>
        </p:txBody>
      </p:sp>
      <p:sp>
        <p:nvSpPr>
          <p:cNvPr id="6" name="key-point">
            <a:extLst>
              <a:ext uri="{FF2B5EF4-FFF2-40B4-BE49-F238E27FC236}">
                <a16:creationId xmlns:a16="http://schemas.microsoft.com/office/drawing/2014/main" id="{2DA89BFD-50DE-4801-8D5B-815513C46FEF}"/>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Both containers use the same image. Their names, host ports, and environment values differ.</a:t>
            </a:r>
          </a:p>
        </p:txBody>
      </p:sp>
    </p:spTree>
    <p:extLst>
      <p:ext uri="{BB962C8B-B14F-4D97-AF65-F5344CB8AC3E}">
        <p14:creationId xmlns:p14="http://schemas.microsoft.com/office/powerpoint/2010/main" val="6477118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640B4218-787F-418D-9CEE-A4E93DF9AA38}"/>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and run</a:t>
            </a:r>
          </a:p>
        </p:txBody>
      </p:sp>
      <p:sp>
        <p:nvSpPr>
          <p:cNvPr id="2" name="slide-title">
            <a:extLst>
              <a:ext uri="{FF2B5EF4-FFF2-40B4-BE49-F238E27FC236}">
                <a16:creationId xmlns:a16="http://schemas.microsoft.com/office/drawing/2014/main" id="{C88CBFC5-050C-4D31-A1E2-028B2475DD5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Changing source, rebuilding, and replacing</a:t>
            </a:r>
          </a:p>
        </p:txBody>
      </p:sp>
      <p:sp>
        <p:nvSpPr>
          <p:cNvPr id="3" name="code-label">
            <a:extLst>
              <a:ext uri="{FF2B5EF4-FFF2-40B4-BE49-F238E27FC236}">
                <a16:creationId xmlns:a16="http://schemas.microsoft.com/office/drawing/2014/main" id="{A1068681-E95C-457E-889B-8F76F5BCF013}"/>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Terminal</a:t>
            </a:r>
          </a:p>
        </p:txBody>
      </p:sp>
      <p:sp>
        <p:nvSpPr>
          <p:cNvPr id="4" name="editable-code">
            <a:extLst>
              <a:ext uri="{FF2B5EF4-FFF2-40B4-BE49-F238E27FC236}">
                <a16:creationId xmlns:a16="http://schemas.microsoft.com/office/drawing/2014/main" id="{7E9C881C-9476-4DCF-93E2-9A374E796D95}"/>
              </a:ext>
            </a:extLst>
          </p:cNvPr>
          <p:cNvSpPr>
            <a:spLocks noGrp="1"/>
          </p:cNvSpPr>
          <p:nvPr/>
        </p:nvSpPr>
        <p:spPr>
          <a:xfrm>
            <a:off x="609600" y="2028825"/>
            <a:ext cx="10934700" cy="1482090"/>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build -t csc418/course-api:1.1 .</a:t>
            </a:r>
          </a:p>
          <a:p>
            <a:pPr>
              <a:defRPr sz="1800" b="0">
                <a:solidFill>
                  <a:srgbClr val="12283C"/>
                </a:solidFill>
                <a:latin typeface="Consolas"/>
                <a:ea typeface="Consolas"/>
                <a:cs typeface="Consolas"/>
              </a:defRPr>
            </a:pPr>
            <a:r>
              <a:t>docker stop l10-api</a:t>
            </a:r>
          </a:p>
          <a:p>
            <a:pPr>
              <a:defRPr sz="1800" b="0">
                <a:solidFill>
                  <a:srgbClr val="12283C"/>
                </a:solidFill>
                <a:latin typeface="Consolas"/>
                <a:ea typeface="Consolas"/>
                <a:cs typeface="Consolas"/>
              </a:defRPr>
            </a:pPr>
            <a:r>
              <a:t>docker rm l10-api</a:t>
            </a:r>
          </a:p>
          <a:p>
            <a:pPr>
              <a:defRPr sz="1800" b="0">
                <a:solidFill>
                  <a:srgbClr val="12283C"/>
                </a:solidFill>
                <a:latin typeface="Consolas"/>
                <a:ea typeface="Consolas"/>
                <a:cs typeface="Consolas"/>
              </a:defRPr>
            </a:pPr>
            <a:r>
              <a:t>docker run -d --name l10-api -e APP_VERSION=1.1 -p 127.0.0.1:8000:8000 csc418/course-api:1.1</a:t>
            </a:r>
          </a:p>
        </p:txBody>
      </p:sp>
      <p:sp>
        <p:nvSpPr>
          <p:cNvPr id="5" name="editable-bullet-list">
            <a:extLst>
              <a:ext uri="{FF2B5EF4-FFF2-40B4-BE49-F238E27FC236}">
                <a16:creationId xmlns:a16="http://schemas.microsoft.com/office/drawing/2014/main" id="{DB5A76D7-A5C4-4C14-B116-65A6CF3FE43B}"/>
              </a:ext>
            </a:extLst>
          </p:cNvPr>
          <p:cNvSpPr>
            <a:spLocks noGrp="1"/>
          </p:cNvSpPr>
          <p:nvPr/>
        </p:nvSpPr>
        <p:spPr>
          <a:xfrm>
            <a:off x="609600" y="3644265"/>
            <a:ext cx="10934700" cy="2623185"/>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Edit the response message in app.py.</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Build a new image tag from the updated source.</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Replace the old container with one created from the new image.</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Check the updated HTTP response.</a:t>
            </a:r>
          </a:p>
        </p:txBody>
      </p:sp>
    </p:spTree>
    <p:extLst>
      <p:ext uri="{BB962C8B-B14F-4D97-AF65-F5344CB8AC3E}">
        <p14:creationId xmlns:p14="http://schemas.microsoft.com/office/powerpoint/2010/main" val="13291360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1A2B23E7-B51B-486E-B04E-8E339A6DDEA5}"/>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behavior</a:t>
            </a:r>
          </a:p>
        </p:txBody>
      </p:sp>
      <p:sp>
        <p:nvSpPr>
          <p:cNvPr id="2" name="slide-title">
            <a:extLst>
              <a:ext uri="{FF2B5EF4-FFF2-40B4-BE49-F238E27FC236}">
                <a16:creationId xmlns:a16="http://schemas.microsoft.com/office/drawing/2014/main" id="{4A923A52-E462-4009-A9DF-0370B20FB55B}"/>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Layers can be shared across images</a:t>
            </a:r>
          </a:p>
        </p:txBody>
      </p:sp>
      <p:pic>
        <p:nvPicPr>
          <p:cNvPr id="12" name="Picture 11"/>
          <p:cNvPicPr>
            <a:picLocks noChangeAspect="1"/>
          </p:cNvPicPr>
          <p:nvPr/>
        </p:nvPicPr>
        <p:blipFill>
          <a:blip r:embed="rId3"/>
          <a:stretch/>
        </p:blipFill>
        <p:spPr>
          <a:xfrm>
            <a:off x="920244" y="1724025"/>
            <a:ext cx="5808088" cy="3914775"/>
          </a:xfrm>
          <a:prstGeom prst="rect">
            <a:avLst/>
          </a:prstGeom>
        </p:spPr>
      </p:pic>
      <p:sp>
        <p:nvSpPr>
          <p:cNvPr id="4" name="image-attribution">
            <a:extLst>
              <a:ext uri="{FF2B5EF4-FFF2-40B4-BE49-F238E27FC236}">
                <a16:creationId xmlns:a16="http://schemas.microsoft.com/office/drawing/2014/main" id="{BF71CEC0-AC49-4729-83DA-2BE1E36FB7D9}"/>
              </a:ext>
            </a:extLst>
          </p:cNvPr>
          <p:cNvSpPr>
            <a:spLocks noGrp="1"/>
          </p:cNvSpPr>
          <p:nvPr/>
        </p:nvSpPr>
        <p:spPr>
          <a:xfrm>
            <a:off x="609600" y="5695950"/>
            <a:ext cx="6429375" cy="352425"/>
          </a:xfrm>
          <a:prstGeom prst="rect">
            <a:avLst/>
          </a:prstGeom>
          <a:noFill/>
          <a:ln w="0">
            <a:noFill/>
          </a:ln>
        </p:spPr>
        <p:txBody>
          <a:bodyPr wrap="square" lIns="0" tIns="0" rIns="0" bIns="0" anchor="t">
            <a:noAutofit/>
          </a:bodyPr>
          <a:lstStyle/>
          <a:p>
            <a:pPr>
              <a:defRPr sz="1050" b="0">
                <a:solidFill>
                  <a:srgbClr val="4E6271"/>
                </a:solidFill>
                <a:latin typeface="Segoe UI"/>
                <a:ea typeface="Segoe UI"/>
                <a:cs typeface="Segoe UI"/>
              </a:defRPr>
            </a:pPr>
            <a:r>
              <a:t>Docker documentation: shared base layers across images.</a:t>
            </a:r>
          </a:p>
        </p:txBody>
      </p:sp>
      <p:sp>
        <p:nvSpPr>
          <p:cNvPr id="5" name="code-label">
            <a:extLst>
              <a:ext uri="{FF2B5EF4-FFF2-40B4-BE49-F238E27FC236}">
                <a16:creationId xmlns:a16="http://schemas.microsoft.com/office/drawing/2014/main" id="{664CE454-8070-4466-987F-4859F069EDBD}"/>
              </a:ext>
            </a:extLst>
          </p:cNvPr>
          <p:cNvSpPr>
            <a:spLocks noGrp="1"/>
          </p:cNvSpPr>
          <p:nvPr/>
        </p:nvSpPr>
        <p:spPr>
          <a:xfrm>
            <a:off x="7477125" y="1809750"/>
            <a:ext cx="409575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Inspect the built artifact</a:t>
            </a:r>
          </a:p>
        </p:txBody>
      </p:sp>
      <p:sp>
        <p:nvSpPr>
          <p:cNvPr id="6" name="editable-code">
            <a:extLst>
              <a:ext uri="{FF2B5EF4-FFF2-40B4-BE49-F238E27FC236}">
                <a16:creationId xmlns:a16="http://schemas.microsoft.com/office/drawing/2014/main" id="{6DA9E56F-7876-446D-94DA-822E6EF12267}"/>
              </a:ext>
            </a:extLst>
          </p:cNvPr>
          <p:cNvSpPr>
            <a:spLocks noGrp="1"/>
          </p:cNvSpPr>
          <p:nvPr/>
        </p:nvSpPr>
        <p:spPr>
          <a:xfrm>
            <a:off x="7477125" y="2095500"/>
            <a:ext cx="4095750" cy="1154049"/>
          </a:xfrm>
          <a:prstGeom prst="rect">
            <a:avLst/>
          </a:prstGeom>
          <a:noFill/>
          <a:ln w="0">
            <a:noFill/>
          </a:ln>
        </p:spPr>
        <p:txBody>
          <a:bodyPr wrap="square" lIns="0" tIns="0" rIns="0" bIns="0" anchor="t">
            <a:noAutofit/>
          </a:bodyPr>
          <a:lstStyle/>
          <a:p>
            <a:pPr>
              <a:defRPr sz="1725" b="0">
                <a:solidFill>
                  <a:srgbClr val="12283C"/>
                </a:solidFill>
                <a:latin typeface="Consolas"/>
                <a:ea typeface="Consolas"/>
                <a:cs typeface="Consolas"/>
              </a:defRPr>
            </a:pPr>
            <a:r>
              <a:t>docker image history csc418/course-api:1.1</a:t>
            </a:r>
          </a:p>
          <a:p>
            <a:pPr>
              <a:defRPr sz="1725" b="0">
                <a:solidFill>
                  <a:srgbClr val="12283C"/>
                </a:solidFill>
                <a:latin typeface="Consolas"/>
                <a:ea typeface="Consolas"/>
                <a:cs typeface="Consolas"/>
              </a:defRPr>
            </a:pPr>
            <a:r>
              <a:t>docker image inspect csc418/course-api:1.1</a:t>
            </a:r>
          </a:p>
        </p:txBody>
      </p:sp>
      <p:sp>
        <p:nvSpPr>
          <p:cNvPr id="7" name="editable-bullet-list">
            <a:extLst>
              <a:ext uri="{FF2B5EF4-FFF2-40B4-BE49-F238E27FC236}">
                <a16:creationId xmlns:a16="http://schemas.microsoft.com/office/drawing/2014/main" id="{F3F78661-235E-49BE-B87C-0790FE3DEDE3}"/>
              </a:ext>
            </a:extLst>
          </p:cNvPr>
          <p:cNvSpPr>
            <a:spLocks noGrp="1"/>
          </p:cNvSpPr>
          <p:nvPr/>
        </p:nvSpPr>
        <p:spPr>
          <a:xfrm>
            <a:off x="7477125" y="3440049"/>
            <a:ext cx="4048125" cy="2713101"/>
          </a:xfrm>
          <a:prstGeom prst="rect">
            <a:avLst/>
          </a:prstGeom>
          <a:noFill/>
          <a:ln w="0">
            <a:noFill/>
          </a:ln>
        </p:spPr>
        <p:txBody>
          <a:bodyPr wrap="square" lIns="0" tIns="0" rIns="0" bIns="0" anchor="t">
            <a:noAutofit/>
          </a:bodyPr>
          <a:lstStyle/>
          <a:p>
            <a:pPr marL="279400" indent="-165100">
              <a:spcAft>
                <a:spcPts val="0"/>
              </a:spcAft>
              <a:buChar char="•"/>
              <a:defRPr sz="1950" b="0">
                <a:solidFill>
                  <a:srgbClr val="12283C"/>
                </a:solidFill>
                <a:latin typeface="Segoe UI"/>
                <a:ea typeface="Segoe UI"/>
                <a:cs typeface="Segoe UI"/>
              </a:defRPr>
            </a:pPr>
            <a:r>
              <a:rPr sz="1950" b="0">
                <a:solidFill>
                  <a:srgbClr val="12283C"/>
                </a:solidFill>
              </a:rPr>
              <a:t>History helps explain construction. Inspection shows configuration and layer references.</a:t>
            </a:r>
          </a:p>
        </p:txBody>
      </p:sp>
    </p:spTree>
    <p:extLst>
      <p:ext uri="{BB962C8B-B14F-4D97-AF65-F5344CB8AC3E}">
        <p14:creationId xmlns:p14="http://schemas.microsoft.com/office/powerpoint/2010/main" val="9291585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8FE91BDC-7E58-45C6-B0C4-B5666A9F3BA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behavior</a:t>
            </a:r>
          </a:p>
        </p:txBody>
      </p:sp>
      <p:sp>
        <p:nvSpPr>
          <p:cNvPr id="2" name="slide-title">
            <a:extLst>
              <a:ext uri="{FF2B5EF4-FFF2-40B4-BE49-F238E27FC236}">
                <a16:creationId xmlns:a16="http://schemas.microsoft.com/office/drawing/2014/main" id="{4FFC9B04-D0DB-47DA-A171-0CDB5C3BF8E5}"/>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Build-cache invalidation</a:t>
            </a:r>
          </a:p>
        </p:txBody>
      </p:sp>
      <p:sp>
        <p:nvSpPr>
          <p:cNvPr id="3" name="editable-bullet-list">
            <a:extLst>
              <a:ext uri="{FF2B5EF4-FFF2-40B4-BE49-F238E27FC236}">
                <a16:creationId xmlns:a16="http://schemas.microsoft.com/office/drawing/2014/main" id="{59C1B95D-D6A7-4CD2-99BD-E010EDBEB6B3}"/>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A relevant COPY input changes</a:t>
            </a:r>
          </a:p>
          <a:p>
            <a:pPr marL="279400" indent="0">
              <a:spcAft>
                <a:spcPts val="750"/>
              </a:spcAft>
              <a:defRPr sz="2025" b="0">
                <a:solidFill>
                  <a:srgbClr val="12283C"/>
                </a:solidFill>
                <a:latin typeface="Segoe UI"/>
                <a:ea typeface="Segoe UI"/>
                <a:cs typeface="Segoe UI"/>
              </a:defRPr>
            </a:pPr>
            <a:r>
              <a:rPr sz="1800">
                <a:solidFill>
                  <a:srgbClr val="4E6271"/>
                </a:solidFill>
              </a:rPr>
              <a:t>The copy step and dependent later steps need rebuilding.</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An earlier instruction changes</a:t>
            </a:r>
          </a:p>
          <a:p>
            <a:pPr marL="279400" indent="0">
              <a:spcAft>
                <a:spcPts val="750"/>
              </a:spcAft>
              <a:defRPr sz="2025" b="0">
                <a:solidFill>
                  <a:srgbClr val="12283C"/>
                </a:solidFill>
                <a:latin typeface="Segoe UI"/>
                <a:ea typeface="Segoe UI"/>
                <a:cs typeface="Segoe UI"/>
              </a:defRPr>
            </a:pPr>
            <a:r>
              <a:rPr sz="1800">
                <a:solidFill>
                  <a:srgbClr val="4E6271"/>
                </a:solidFill>
              </a:rPr>
              <a:t>Dependent later build results may no longer be reusable.</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A remote package repository changes</a:t>
            </a:r>
          </a:p>
          <a:p>
            <a:pPr marL="279400" indent="0">
              <a:spcAft>
                <a:spcPts val="750"/>
              </a:spcAft>
              <a:defRPr sz="2025" b="0">
                <a:solidFill>
                  <a:srgbClr val="12283C"/>
                </a:solidFill>
                <a:latin typeface="Segoe UI"/>
                <a:ea typeface="Segoe UI"/>
                <a:cs typeface="Segoe UI"/>
              </a:defRPr>
            </a:pPr>
            <a:r>
              <a:rPr sz="1800">
                <a:solidFill>
                  <a:srgbClr val="4E6271"/>
                </a:solidFill>
              </a:rPr>
              <a:t>An unchanged RUN command may still reuse its cached result.</a:t>
            </a:r>
          </a:p>
          <a:p>
            <a:pPr marL="279400" indent="-165100">
              <a:spcAft>
                <a:spcPts val="200"/>
              </a:spcAft>
              <a:buChar char="•"/>
              <a:defRPr sz="2025" b="0">
                <a:solidFill>
                  <a:srgbClr val="12283C"/>
                </a:solidFill>
                <a:latin typeface="Segoe UI"/>
                <a:ea typeface="Segoe UI"/>
                <a:cs typeface="Segoe UI"/>
              </a:defRPr>
            </a:pPr>
            <a:r>
              <a:rPr sz="2025" b="1">
                <a:solidFill>
                  <a:srgbClr val="12283C"/>
                </a:solidFill>
              </a:rPr>
              <a:t>A secret’s value changes</a:t>
            </a:r>
          </a:p>
          <a:p>
            <a:pPr marL="279400" indent="0">
              <a:spcAft>
                <a:spcPts val="750"/>
              </a:spcAft>
              <a:defRPr sz="2025" b="0">
                <a:solidFill>
                  <a:srgbClr val="12283C"/>
                </a:solidFill>
                <a:latin typeface="Segoe UI"/>
                <a:ea typeface="Segoe UI"/>
                <a:cs typeface="Segoe UI"/>
              </a:defRPr>
            </a:pPr>
            <a:r>
              <a:rPr sz="1800">
                <a:solidFill>
                  <a:srgbClr val="4E6271"/>
                </a:solidFill>
              </a:rPr>
              <a:t>The secret content alone does not automatically invalidate the build cache.</a:t>
            </a:r>
          </a:p>
          <a:p>
            <a:pPr marL="279400" indent="-165100">
              <a:spcAft>
                <a:spcPts val="0"/>
              </a:spcAft>
              <a:buChar char="•"/>
              <a:defRPr sz="2025" b="0">
                <a:solidFill>
                  <a:srgbClr val="12283C"/>
                </a:solidFill>
                <a:latin typeface="Segoe UI"/>
                <a:ea typeface="Segoe UI"/>
                <a:cs typeface="Segoe UI"/>
              </a:defRPr>
            </a:pPr>
            <a:r>
              <a:rPr sz="2025" b="0">
                <a:solidFill>
                  <a:srgbClr val="12283C"/>
                </a:solidFill>
              </a:rPr>
              <a:t>--no-cache skips cached build steps. --pull asks the builder to refresh referenced base images.</a:t>
            </a:r>
          </a:p>
        </p:txBody>
      </p:sp>
    </p:spTree>
    <p:extLst>
      <p:ext uri="{BB962C8B-B14F-4D97-AF65-F5344CB8AC3E}">
        <p14:creationId xmlns:p14="http://schemas.microsoft.com/office/powerpoint/2010/main" val="1210814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77C40FC6-7050-4459-B09D-B66CF7D8664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Build behavior</a:t>
            </a:r>
          </a:p>
        </p:txBody>
      </p:sp>
      <p:sp>
        <p:nvSpPr>
          <p:cNvPr id="2" name="slide-title">
            <a:extLst>
              <a:ext uri="{FF2B5EF4-FFF2-40B4-BE49-F238E27FC236}">
                <a16:creationId xmlns:a16="http://schemas.microsoft.com/office/drawing/2014/main" id="{E27E30B1-B672-46CF-9697-640F5C19D786}"/>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Dependency layers and source changes</a:t>
            </a:r>
          </a:p>
        </p:txBody>
      </p:sp>
      <p:sp>
        <p:nvSpPr>
          <p:cNvPr id="3" name="code-label">
            <a:extLst>
              <a:ext uri="{FF2B5EF4-FFF2-40B4-BE49-F238E27FC236}">
                <a16:creationId xmlns:a16="http://schemas.microsoft.com/office/drawing/2014/main" id="{4C8730DB-42C7-414D-A307-4AF32823FD73}"/>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Illustrative dependency-bearing project, not the supplied Python API</a:t>
            </a:r>
          </a:p>
        </p:txBody>
      </p:sp>
      <p:sp>
        <p:nvSpPr>
          <p:cNvPr id="4" name="editable-code">
            <a:extLst>
              <a:ext uri="{FF2B5EF4-FFF2-40B4-BE49-F238E27FC236}">
                <a16:creationId xmlns:a16="http://schemas.microsoft.com/office/drawing/2014/main" id="{8E7F254F-902E-4820-8B91-254BD6BB8980}"/>
              </a:ext>
            </a:extLst>
          </p:cNvPr>
          <p:cNvSpPr>
            <a:spLocks noGrp="1"/>
          </p:cNvSpPr>
          <p:nvPr/>
        </p:nvSpPr>
        <p:spPr>
          <a:xfrm>
            <a:off x="609600" y="2028825"/>
            <a:ext cx="10934700" cy="176326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FROM node:22-bookworm-slim</a:t>
            </a:r>
          </a:p>
          <a:p>
            <a:pPr>
              <a:defRPr sz="1800" b="0">
                <a:solidFill>
                  <a:srgbClr val="12283C"/>
                </a:solidFill>
                <a:latin typeface="Consolas"/>
                <a:ea typeface="Consolas"/>
                <a:cs typeface="Consolas"/>
              </a:defRPr>
            </a:pPr>
            <a:r>
              <a:t>WORKDIR /app</a:t>
            </a:r>
          </a:p>
          <a:p>
            <a:pPr>
              <a:defRPr sz="1800" b="0">
                <a:solidFill>
                  <a:srgbClr val="12283C"/>
                </a:solidFill>
                <a:latin typeface="Consolas"/>
                <a:ea typeface="Consolas"/>
                <a:cs typeface="Consolas"/>
              </a:defRPr>
            </a:pPr>
            <a:r>
              <a:t>COPY package.json package-lock.json ./</a:t>
            </a:r>
          </a:p>
          <a:p>
            <a:pPr>
              <a:defRPr sz="1800" b="0">
                <a:solidFill>
                  <a:srgbClr val="12283C"/>
                </a:solidFill>
                <a:latin typeface="Consolas"/>
                <a:ea typeface="Consolas"/>
                <a:cs typeface="Consolas"/>
              </a:defRPr>
            </a:pPr>
            <a:r>
              <a:t>RUN npm ci --omit=dev</a:t>
            </a:r>
          </a:p>
          <a:p>
            <a:pPr>
              <a:defRPr sz="1800" b="0">
                <a:solidFill>
                  <a:srgbClr val="12283C"/>
                </a:solidFill>
                <a:latin typeface="Consolas"/>
                <a:ea typeface="Consolas"/>
                <a:cs typeface="Consolas"/>
              </a:defRPr>
            </a:pPr>
            <a:r>
              <a:t>COPY . .</a:t>
            </a:r>
          </a:p>
          <a:p>
            <a:pPr>
              <a:defRPr sz="1800" b="0">
                <a:solidFill>
                  <a:srgbClr val="12283C"/>
                </a:solidFill>
                <a:latin typeface="Consolas"/>
                <a:ea typeface="Consolas"/>
                <a:cs typeface="Consolas"/>
              </a:defRPr>
            </a:pPr>
            <a:r>
              <a:t>CMD ["node", "server.js"]</a:t>
            </a:r>
          </a:p>
        </p:txBody>
      </p:sp>
      <p:sp>
        <p:nvSpPr>
          <p:cNvPr id="5" name="editable-bullet-list">
            <a:extLst>
              <a:ext uri="{FF2B5EF4-FFF2-40B4-BE49-F238E27FC236}">
                <a16:creationId xmlns:a16="http://schemas.microsoft.com/office/drawing/2014/main" id="{16281557-63E4-4187-8BF9-30EECB2101D6}"/>
              </a:ext>
            </a:extLst>
          </p:cNvPr>
          <p:cNvSpPr>
            <a:spLocks noGrp="1"/>
          </p:cNvSpPr>
          <p:nvPr/>
        </p:nvSpPr>
        <p:spPr>
          <a:xfrm>
            <a:off x="609600" y="3925443"/>
            <a:ext cx="10934700" cy="2342007"/>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lockfile determines the intended dependency set.</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An application-only edit can preserve the earlier dependency-install result.</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The project still needs a suitable .dockerignore and the named source files.</a:t>
            </a:r>
          </a:p>
        </p:txBody>
      </p:sp>
    </p:spTree>
    <p:extLst>
      <p:ext uri="{BB962C8B-B14F-4D97-AF65-F5344CB8AC3E}">
        <p14:creationId xmlns:p14="http://schemas.microsoft.com/office/powerpoint/2010/main" val="4692231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C7AD5186-DAE4-4C37-ACD3-4DDAFBE82F1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Image distribution</a:t>
            </a:r>
          </a:p>
        </p:txBody>
      </p:sp>
      <p:sp>
        <p:nvSpPr>
          <p:cNvPr id="2" name="slide-title">
            <a:extLst>
              <a:ext uri="{FF2B5EF4-FFF2-40B4-BE49-F238E27FC236}">
                <a16:creationId xmlns:a16="http://schemas.microsoft.com/office/drawing/2014/main" id="{64B7555A-26FE-4F35-96C6-7E0B023C9443}"/>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Tagging and publishing</a:t>
            </a:r>
          </a:p>
        </p:txBody>
      </p:sp>
      <p:sp>
        <p:nvSpPr>
          <p:cNvPr id="3" name="code-label">
            <a:extLst>
              <a:ext uri="{FF2B5EF4-FFF2-40B4-BE49-F238E27FC236}">
                <a16:creationId xmlns:a16="http://schemas.microsoft.com/office/drawing/2014/main" id="{D5FDA296-0083-496B-8B30-DDBF93405A76}"/>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Illustrative publishing sequence; replace YOUR_NAMESPACE</a:t>
            </a:r>
          </a:p>
        </p:txBody>
      </p:sp>
      <p:sp>
        <p:nvSpPr>
          <p:cNvPr id="4" name="editable-code">
            <a:extLst>
              <a:ext uri="{FF2B5EF4-FFF2-40B4-BE49-F238E27FC236}">
                <a16:creationId xmlns:a16="http://schemas.microsoft.com/office/drawing/2014/main" id="{0780F148-21DC-4B09-8322-A4310747078E}"/>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tag csc418/course-api:1.1 YOUR_NAMESPACE/course-api:1.1</a:t>
            </a:r>
          </a:p>
          <a:p>
            <a:pPr>
              <a:defRPr sz="1800" b="0">
                <a:solidFill>
                  <a:srgbClr val="12283C"/>
                </a:solidFill>
                <a:latin typeface="Consolas"/>
                <a:ea typeface="Consolas"/>
                <a:cs typeface="Consolas"/>
              </a:defRPr>
            </a:pPr>
            <a:r>
              <a:t>docker login</a:t>
            </a:r>
          </a:p>
          <a:p>
            <a:pPr>
              <a:defRPr sz="1800" b="0">
                <a:solidFill>
                  <a:srgbClr val="12283C"/>
                </a:solidFill>
                <a:latin typeface="Consolas"/>
                <a:ea typeface="Consolas"/>
                <a:cs typeface="Consolas"/>
              </a:defRPr>
            </a:pPr>
            <a:r>
              <a:t>docker push YOUR_NAMESPACE/course-api:1.1</a:t>
            </a:r>
          </a:p>
        </p:txBody>
      </p:sp>
      <p:sp>
        <p:nvSpPr>
          <p:cNvPr id="5" name="editable-bullet-list">
            <a:extLst>
              <a:ext uri="{FF2B5EF4-FFF2-40B4-BE49-F238E27FC236}">
                <a16:creationId xmlns:a16="http://schemas.microsoft.com/office/drawing/2014/main" id="{D0D30132-E5D1-4B1D-BF23-F441C1E18202}"/>
              </a:ext>
            </a:extLst>
          </p:cNvPr>
          <p:cNvSpPr>
            <a:spLocks noGrp="1"/>
          </p:cNvSpPr>
          <p:nvPr/>
        </p:nvSpPr>
        <p:spPr>
          <a:xfrm>
            <a:off x="609600" y="3081909"/>
            <a:ext cx="10934700" cy="3185541"/>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tag adds a reference to existing local image content.</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Pushing sends image data to a registry you can write to.</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Record the returned registry digest for the tested release.</a:t>
            </a:r>
          </a:p>
        </p:txBody>
      </p:sp>
    </p:spTree>
    <p:extLst>
      <p:ext uri="{BB962C8B-B14F-4D97-AF65-F5344CB8AC3E}">
        <p14:creationId xmlns:p14="http://schemas.microsoft.com/office/powerpoint/2010/main" val="12555187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0" name="section-label">
            <a:extLst>
              <a:ext uri="{FF2B5EF4-FFF2-40B4-BE49-F238E27FC236}">
                <a16:creationId xmlns:a16="http://schemas.microsoft.com/office/drawing/2014/main" id="{452585C2-D57F-4AF7-8E9D-058541F4F06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Further reading</a:t>
            </a:r>
          </a:p>
        </p:txBody>
      </p:sp>
      <p:sp>
        <p:nvSpPr>
          <p:cNvPr id="2" name="slide-title">
            <a:extLst>
              <a:ext uri="{FF2B5EF4-FFF2-40B4-BE49-F238E27FC236}">
                <a16:creationId xmlns:a16="http://schemas.microsoft.com/office/drawing/2014/main" id="{97BB223E-32D2-4793-B919-23D624359D39}"/>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Health checks and process status</a:t>
            </a:r>
          </a:p>
        </p:txBody>
      </p:sp>
      <p:sp>
        <p:nvSpPr>
          <p:cNvPr id="3" name="code-label">
            <a:extLst>
              <a:ext uri="{FF2B5EF4-FFF2-40B4-BE49-F238E27FC236}">
                <a16:creationId xmlns:a16="http://schemas.microsoft.com/office/drawing/2014/main" id="{73D8FBF5-1BAB-47CB-AEB3-63125E36315D}"/>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examples/course-api/Dockerfile.health</a:t>
            </a:r>
          </a:p>
        </p:txBody>
      </p:sp>
      <p:sp>
        <p:nvSpPr>
          <p:cNvPr id="4" name="editable-code">
            <a:extLst>
              <a:ext uri="{FF2B5EF4-FFF2-40B4-BE49-F238E27FC236}">
                <a16:creationId xmlns:a16="http://schemas.microsoft.com/office/drawing/2014/main" id="{284A670D-48F8-4349-B027-F3924E4871EA}"/>
              </a:ext>
            </a:extLst>
          </p:cNvPr>
          <p:cNvSpPr>
            <a:spLocks noGrp="1"/>
          </p:cNvSpPr>
          <p:nvPr/>
        </p:nvSpPr>
        <p:spPr>
          <a:xfrm>
            <a:off x="609600" y="2028825"/>
            <a:ext cx="10934700" cy="1200912"/>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FROM csc418/course-api:1.0</a:t>
            </a:r>
          </a:p>
          <a:p>
            <a:pPr>
              <a:defRPr sz="1800" b="0">
                <a:solidFill>
                  <a:srgbClr val="12283C"/>
                </a:solidFill>
                <a:latin typeface="Consolas"/>
                <a:ea typeface="Consolas"/>
                <a:cs typeface="Consolas"/>
              </a:defRPr>
            </a:pPr>
            <a:r>
              <a:t>HEALTHCHECK --interval=10s --timeout=3s --start-period=5s --retries=3 \</a:t>
            </a:r>
          </a:p>
          <a:p>
            <a:pPr>
              <a:defRPr sz="1800" b="0">
                <a:solidFill>
                  <a:srgbClr val="12283C"/>
                </a:solidFill>
                <a:latin typeface="Consolas"/>
                <a:ea typeface="Consolas"/>
                <a:cs typeface="Consolas"/>
              </a:defRPr>
            </a:pPr>
            <a:r>
              <a:t>  CMD python -c "import urllib.request; urllib.request.urlopen('http://127.0.0.1:8000/health', timeout=2)"</a:t>
            </a:r>
          </a:p>
        </p:txBody>
      </p:sp>
      <p:sp>
        <p:nvSpPr>
          <p:cNvPr id="5" name="code-label">
            <a:extLst>
              <a:ext uri="{FF2B5EF4-FFF2-40B4-BE49-F238E27FC236}">
                <a16:creationId xmlns:a16="http://schemas.microsoft.com/office/drawing/2014/main" id="{0060D9C3-BB76-4CB2-AC2D-ABDA9766D65B}"/>
              </a:ext>
            </a:extLst>
          </p:cNvPr>
          <p:cNvSpPr>
            <a:spLocks noGrp="1"/>
          </p:cNvSpPr>
          <p:nvPr/>
        </p:nvSpPr>
        <p:spPr>
          <a:xfrm>
            <a:off x="609600" y="3344037"/>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Build after course-api:1.0 exists</a:t>
            </a:r>
          </a:p>
        </p:txBody>
      </p:sp>
      <p:sp>
        <p:nvSpPr>
          <p:cNvPr id="6" name="editable-code">
            <a:extLst>
              <a:ext uri="{FF2B5EF4-FFF2-40B4-BE49-F238E27FC236}">
                <a16:creationId xmlns:a16="http://schemas.microsoft.com/office/drawing/2014/main" id="{D0BBA629-DEF3-4213-A96A-23248A7BAC53}"/>
              </a:ext>
            </a:extLst>
          </p:cNvPr>
          <p:cNvSpPr>
            <a:spLocks noGrp="1"/>
          </p:cNvSpPr>
          <p:nvPr/>
        </p:nvSpPr>
        <p:spPr>
          <a:xfrm>
            <a:off x="609600" y="3629787"/>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build -f Dockerfile.health -t csc418/course-api:health .</a:t>
            </a:r>
          </a:p>
          <a:p>
            <a:pPr>
              <a:defRPr sz="1800" b="0">
                <a:solidFill>
                  <a:srgbClr val="12283C"/>
                </a:solidFill>
                <a:latin typeface="Consolas"/>
                <a:ea typeface="Consolas"/>
                <a:cs typeface="Consolas"/>
              </a:defRPr>
            </a:pPr>
            <a:r>
              <a:t>docker run -d --name l10-health csc418/course-api:health</a:t>
            </a:r>
          </a:p>
          <a:p>
            <a:pPr>
              <a:defRPr sz="1800" b="0">
                <a:solidFill>
                  <a:srgbClr val="12283C"/>
                </a:solidFill>
                <a:latin typeface="Consolas"/>
                <a:ea typeface="Consolas"/>
                <a:cs typeface="Consolas"/>
              </a:defRPr>
            </a:pPr>
            <a:r>
              <a:t>docker inspect l10-health</a:t>
            </a:r>
          </a:p>
        </p:txBody>
      </p:sp>
      <p:sp>
        <p:nvSpPr>
          <p:cNvPr id="7" name="key-point">
            <a:extLst>
              <a:ext uri="{FF2B5EF4-FFF2-40B4-BE49-F238E27FC236}">
                <a16:creationId xmlns:a16="http://schemas.microsoft.com/office/drawing/2014/main" id="{3C488082-C357-41D8-88D5-B1A6234D0734}"/>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An unhealthy status does not, by itself, make Docker Engine restart the container.</a:t>
            </a:r>
          </a:p>
        </p:txBody>
      </p:sp>
    </p:spTree>
    <p:extLst>
      <p:ext uri="{BB962C8B-B14F-4D97-AF65-F5344CB8AC3E}">
        <p14:creationId xmlns:p14="http://schemas.microsoft.com/office/powerpoint/2010/main" val="9434823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F8D59FCB-3A4A-4170-BA72-727291D7CA4E}"/>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Further reading</a:t>
            </a:r>
          </a:p>
        </p:txBody>
      </p:sp>
      <p:sp>
        <p:nvSpPr>
          <p:cNvPr id="2" name="slide-title">
            <a:extLst>
              <a:ext uri="{FF2B5EF4-FFF2-40B4-BE49-F238E27FC236}">
                <a16:creationId xmlns:a16="http://schemas.microsoft.com/office/drawing/2014/main" id="{AFEDE334-1582-41D5-BD27-F5BA60378D15}"/>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Foreground processes and graceful shutdown</a:t>
            </a:r>
          </a:p>
        </p:txBody>
      </p:sp>
      <p:sp>
        <p:nvSpPr>
          <p:cNvPr id="3" name="code-label">
            <a:extLst>
              <a:ext uri="{FF2B5EF4-FFF2-40B4-BE49-F238E27FC236}">
                <a16:creationId xmlns:a16="http://schemas.microsoft.com/office/drawing/2014/main" id="{59F359AB-5B42-4B2A-BB9E-0341CF1D4F01}"/>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Demonstration of a bounded stop request</a:t>
            </a:r>
          </a:p>
        </p:txBody>
      </p:sp>
      <p:sp>
        <p:nvSpPr>
          <p:cNvPr id="4" name="editable-code">
            <a:extLst>
              <a:ext uri="{FF2B5EF4-FFF2-40B4-BE49-F238E27FC236}">
                <a16:creationId xmlns:a16="http://schemas.microsoft.com/office/drawing/2014/main" id="{AA4282AE-8E21-4E36-BC80-4D1523AB56F5}"/>
              </a:ext>
            </a:extLst>
          </p:cNvPr>
          <p:cNvSpPr>
            <a:spLocks noGrp="1"/>
          </p:cNvSpPr>
          <p:nvPr/>
        </p:nvSpPr>
        <p:spPr>
          <a:xfrm>
            <a:off x="609600" y="2028825"/>
            <a:ext cx="10934700" cy="357378"/>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stop --timeout 10 l10-api</a:t>
            </a:r>
          </a:p>
        </p:txBody>
      </p:sp>
      <p:sp>
        <p:nvSpPr>
          <p:cNvPr id="5" name="editable-bullet-list">
            <a:extLst>
              <a:ext uri="{FF2B5EF4-FFF2-40B4-BE49-F238E27FC236}">
                <a16:creationId xmlns:a16="http://schemas.microsoft.com/office/drawing/2014/main" id="{66AA5EBC-DECA-4E38-80F6-D5994A482605}"/>
              </a:ext>
            </a:extLst>
          </p:cNvPr>
          <p:cNvSpPr>
            <a:spLocks noGrp="1"/>
          </p:cNvSpPr>
          <p:nvPr/>
        </p:nvSpPr>
        <p:spPr>
          <a:xfrm>
            <a:off x="609600" y="2519553"/>
            <a:ext cx="10934700" cy="3747897"/>
          </a:xfrm>
          <a:prstGeom prst="rect">
            <a:avLst/>
          </a:prstGeom>
          <a:noFill/>
          <a:ln w="0">
            <a:noFill/>
          </a:ln>
        </p:spPr>
        <p:txBody>
          <a:bodyPr wrap="square" lIns="0" tIns="0" rIns="0" bIns="0" anchor="t">
            <a:noAutofit/>
          </a:bodyPr>
          <a:lstStyle/>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The container’s main process determines whether the container keeps running.</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Exec-form startup helps the application receive signals directly.</a:t>
            </a:r>
          </a:p>
          <a:p>
            <a:pPr marL="279400" indent="-165100">
              <a:spcAft>
                <a:spcPts val="750"/>
              </a:spcAft>
              <a:buChar char="•"/>
              <a:defRPr sz="1950" b="0">
                <a:solidFill>
                  <a:srgbClr val="12283C"/>
                </a:solidFill>
                <a:latin typeface="Segoe UI"/>
                <a:ea typeface="Segoe UI"/>
                <a:cs typeface="Segoe UI"/>
              </a:defRPr>
            </a:pPr>
            <a:r>
              <a:rPr sz="1950" b="0">
                <a:solidFill>
                  <a:srgbClr val="12283C"/>
                </a:solidFill>
              </a:rPr>
              <a:t>The application should react to termination and complete appropriate cleanup.</a:t>
            </a:r>
          </a:p>
          <a:p>
            <a:pPr marL="279400" indent="-165100">
              <a:spcAft>
                <a:spcPts val="0"/>
              </a:spcAft>
              <a:buChar char="•"/>
              <a:defRPr sz="1950" b="0">
                <a:solidFill>
                  <a:srgbClr val="12283C"/>
                </a:solidFill>
                <a:latin typeface="Segoe UI"/>
                <a:ea typeface="Segoe UI"/>
                <a:cs typeface="Segoe UI"/>
              </a:defRPr>
            </a:pPr>
            <a:r>
              <a:rPr sz="1950" b="0">
                <a:solidFill>
                  <a:srgbClr val="12283C"/>
                </a:solidFill>
              </a:rPr>
              <a:t>Docker can force termination if the process exceeds the configured stop timeout.</a:t>
            </a:r>
          </a:p>
        </p:txBody>
      </p:sp>
    </p:spTree>
    <p:extLst>
      <p:ext uri="{BB962C8B-B14F-4D97-AF65-F5344CB8AC3E}">
        <p14:creationId xmlns:p14="http://schemas.microsoft.com/office/powerpoint/2010/main" val="1419219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98455F1C-D743-46FF-A28D-144A96451C92}"/>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Further reading</a:t>
            </a:r>
          </a:p>
        </p:txBody>
      </p:sp>
      <p:sp>
        <p:nvSpPr>
          <p:cNvPr id="2" name="slide-title">
            <a:extLst>
              <a:ext uri="{FF2B5EF4-FFF2-40B4-BE49-F238E27FC236}">
                <a16:creationId xmlns:a16="http://schemas.microsoft.com/office/drawing/2014/main" id="{1A2FF164-9306-4054-B234-A971E58CFB6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Resource limits and read-only filesystems</a:t>
            </a:r>
          </a:p>
        </p:txBody>
      </p:sp>
      <p:sp>
        <p:nvSpPr>
          <p:cNvPr id="3" name="code-label">
            <a:extLst>
              <a:ext uri="{FF2B5EF4-FFF2-40B4-BE49-F238E27FC236}">
                <a16:creationId xmlns:a16="http://schemas.microsoft.com/office/drawing/2014/main" id="{791AC401-5B8E-480D-9461-2E57659B84BA}"/>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A constrained demonstration instance</a:t>
            </a:r>
          </a:p>
        </p:txBody>
      </p:sp>
      <p:sp>
        <p:nvSpPr>
          <p:cNvPr id="4" name="editable-code">
            <a:extLst>
              <a:ext uri="{FF2B5EF4-FFF2-40B4-BE49-F238E27FC236}">
                <a16:creationId xmlns:a16="http://schemas.microsoft.com/office/drawing/2014/main" id="{EA35CED9-B8C4-490D-AFB0-1825724FCDF0}"/>
              </a:ext>
            </a:extLst>
          </p:cNvPr>
          <p:cNvSpPr>
            <a:spLocks noGrp="1"/>
          </p:cNvSpPr>
          <p:nvPr/>
        </p:nvSpPr>
        <p:spPr>
          <a:xfrm>
            <a:off x="609600" y="2028825"/>
            <a:ext cx="10934700" cy="919734"/>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run -d --name l10-limited --memory 128m --cpus 0.5 --read-only --tmpfs /tmp csc418/course-api:1.0</a:t>
            </a:r>
          </a:p>
          <a:p>
            <a:pPr>
              <a:defRPr sz="1800" b="0">
                <a:solidFill>
                  <a:srgbClr val="12283C"/>
                </a:solidFill>
                <a:latin typeface="Consolas"/>
                <a:ea typeface="Consolas"/>
                <a:cs typeface="Consolas"/>
              </a:defRPr>
            </a:pPr>
            <a:r>
              <a:t>docker stats --no-stream l10-limited</a:t>
            </a:r>
          </a:p>
        </p:txBody>
      </p:sp>
      <p:sp>
        <p:nvSpPr>
          <p:cNvPr id="5" name="editable-bullet-list">
            <a:extLst>
              <a:ext uri="{FF2B5EF4-FFF2-40B4-BE49-F238E27FC236}">
                <a16:creationId xmlns:a16="http://schemas.microsoft.com/office/drawing/2014/main" id="{C298CBA9-01FE-45E1-A557-4FCC6E5D0858}"/>
              </a:ext>
            </a:extLst>
          </p:cNvPr>
          <p:cNvSpPr>
            <a:spLocks noGrp="1"/>
          </p:cNvSpPr>
          <p:nvPr/>
        </p:nvSpPr>
        <p:spPr>
          <a:xfrm>
            <a:off x="609600" y="3081909"/>
            <a:ext cx="10934700" cy="3185541"/>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memory setting constrains this container’s memory usage.</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The CPU setting applies a quota, not an exclusive half core.</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The read-only root filesystem still permits writes to the explicitly mounted /tmp.</a:t>
            </a:r>
          </a:p>
        </p:txBody>
      </p:sp>
    </p:spTree>
    <p:extLst>
      <p:ext uri="{BB962C8B-B14F-4D97-AF65-F5344CB8AC3E}">
        <p14:creationId xmlns:p14="http://schemas.microsoft.com/office/powerpoint/2010/main" val="17713482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960BA706-8B7E-4F89-98A1-9163DADF07F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Further reading</a:t>
            </a:r>
          </a:p>
        </p:txBody>
      </p:sp>
      <p:sp>
        <p:nvSpPr>
          <p:cNvPr id="2" name="slide-title">
            <a:extLst>
              <a:ext uri="{FF2B5EF4-FFF2-40B4-BE49-F238E27FC236}">
                <a16:creationId xmlns:a16="http://schemas.microsoft.com/office/drawing/2014/main" id="{D02CF5FF-26FD-49BE-B20F-2CA2015BE808}"/>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Secrets belong outside image contents</a:t>
            </a:r>
          </a:p>
        </p:txBody>
      </p:sp>
      <p:sp>
        <p:nvSpPr>
          <p:cNvPr id="3" name="editable-bullet-list">
            <a:extLst>
              <a:ext uri="{FF2B5EF4-FFF2-40B4-BE49-F238E27FC236}">
                <a16:creationId xmlns:a16="http://schemas.microsoft.com/office/drawing/2014/main" id="{997B82C2-747C-4291-8035-68A33B691FF2}"/>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Copying a credential and deleting it later can leave it in an earlier layer</a:t>
            </a:r>
          </a:p>
          <a:p>
            <a:pPr marL="279400" indent="0">
              <a:spcAft>
                <a:spcPts val="1425"/>
              </a:spcAft>
              <a:defRPr sz="2325" b="0">
                <a:solidFill>
                  <a:srgbClr val="12283C"/>
                </a:solidFill>
                <a:latin typeface="Segoe UI"/>
                <a:ea typeface="Segoe UI"/>
                <a:cs typeface="Segoe UI"/>
              </a:defRPr>
            </a:pPr>
            <a:r>
              <a:rPr sz="2100">
                <a:solidFill>
                  <a:srgbClr val="4E6271"/>
                </a:solidFill>
              </a:rPr>
              <a:t>Exclude it from the image and provide credentials through a dedicated secret mechanism.</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ARG and ENV can reveal tokens through metadata or configuration</a:t>
            </a:r>
          </a:p>
          <a:p>
            <a:pPr marL="279400" indent="0">
              <a:spcAft>
                <a:spcPts val="1425"/>
              </a:spcAft>
              <a:defRPr sz="2325" b="0">
                <a:solidFill>
                  <a:srgbClr val="12283C"/>
                </a:solidFill>
                <a:latin typeface="Segoe UI"/>
                <a:ea typeface="Segoe UI"/>
                <a:cs typeface="Segoe UI"/>
              </a:defRPr>
            </a:pPr>
            <a:r>
              <a:rPr sz="2100">
                <a:solidFill>
                  <a:srgbClr val="4E6271"/>
                </a:solidFill>
              </a:rPr>
              <a:t>Use BuildKit secret mounts for credentials required during a build.</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Source history can retain a committed .env file</a:t>
            </a:r>
          </a:p>
          <a:p>
            <a:pPr marL="279400" indent="0">
              <a:spcAft>
                <a:spcPts val="0"/>
              </a:spcAft>
              <a:defRPr sz="2325" b="0">
                <a:solidFill>
                  <a:srgbClr val="12283C"/>
                </a:solidFill>
                <a:latin typeface="Segoe UI"/>
                <a:ea typeface="Segoe UI"/>
                <a:cs typeface="Segoe UI"/>
              </a:defRPr>
            </a:pPr>
            <a:r>
              <a:rPr sz="2100">
                <a:solidFill>
                  <a:srgbClr val="4E6271"/>
                </a:solidFill>
              </a:rPr>
              <a:t>Keep real secret values outside source control and rotate any exposed credentials.</a:t>
            </a:r>
          </a:p>
        </p:txBody>
      </p:sp>
    </p:spTree>
    <p:extLst>
      <p:ext uri="{BB962C8B-B14F-4D97-AF65-F5344CB8AC3E}">
        <p14:creationId xmlns:p14="http://schemas.microsoft.com/office/powerpoint/2010/main" val="18158678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EF7FEB7A-D42F-4A4E-8DA3-62D2ED130794}"/>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Further reading</a:t>
            </a:r>
          </a:p>
        </p:txBody>
      </p:sp>
      <p:sp>
        <p:nvSpPr>
          <p:cNvPr id="2" name="slide-title">
            <a:extLst>
              <a:ext uri="{FF2B5EF4-FFF2-40B4-BE49-F238E27FC236}">
                <a16:creationId xmlns:a16="http://schemas.microsoft.com/office/drawing/2014/main" id="{77C09115-2682-4261-88DC-A25A5B38D2BD}"/>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multi-stage build separates compiler and runtime</a:t>
            </a:r>
          </a:p>
        </p:txBody>
      </p:sp>
      <p:sp>
        <p:nvSpPr>
          <p:cNvPr id="3" name="code-label">
            <a:extLst>
              <a:ext uri="{FF2B5EF4-FFF2-40B4-BE49-F238E27FC236}">
                <a16:creationId xmlns:a16="http://schemas.microsoft.com/office/drawing/2014/main" id="{6A20FDD5-4D3A-465F-89A0-B97F1477794D}"/>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examples/multistage/Dockerfile</a:t>
            </a:r>
          </a:p>
        </p:txBody>
      </p:sp>
      <p:sp>
        <p:nvSpPr>
          <p:cNvPr id="4" name="editable-code">
            <a:extLst>
              <a:ext uri="{FF2B5EF4-FFF2-40B4-BE49-F238E27FC236}">
                <a16:creationId xmlns:a16="http://schemas.microsoft.com/office/drawing/2014/main" id="{7B77F281-138C-4639-9985-95A462D20F4D}"/>
              </a:ext>
            </a:extLst>
          </p:cNvPr>
          <p:cNvSpPr>
            <a:spLocks noGrp="1"/>
          </p:cNvSpPr>
          <p:nvPr/>
        </p:nvSpPr>
        <p:spPr>
          <a:xfrm>
            <a:off x="609600" y="2028825"/>
            <a:ext cx="10934700" cy="2887980"/>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 syntax=docker/dockerfile:1</a:t>
            </a:r>
          </a:p>
          <a:p>
            <a:pPr>
              <a:defRPr sz="1800" b="0">
                <a:solidFill>
                  <a:srgbClr val="12283C"/>
                </a:solidFill>
                <a:latin typeface="Consolas"/>
                <a:ea typeface="Consolas"/>
                <a:cs typeface="Consolas"/>
              </a:defRPr>
            </a:pPr>
            <a:r>
              <a:t>FROM golang:1.26-alpine AS build</a:t>
            </a:r>
          </a:p>
          <a:p>
            <a:pPr>
              <a:defRPr sz="1800" b="0">
                <a:solidFill>
                  <a:srgbClr val="12283C"/>
                </a:solidFill>
                <a:latin typeface="Consolas"/>
                <a:ea typeface="Consolas"/>
                <a:cs typeface="Consolas"/>
              </a:defRPr>
            </a:pPr>
            <a:r>
              <a:t>WORKDIR /src</a:t>
            </a:r>
          </a:p>
          <a:p>
            <a:pPr>
              <a:defRPr sz="1800" b="0">
                <a:solidFill>
                  <a:srgbClr val="12283C"/>
                </a:solidFill>
                <a:latin typeface="Consolas"/>
                <a:ea typeface="Consolas"/>
                <a:cs typeface="Consolas"/>
              </a:defRPr>
            </a:pPr>
            <a:r>
              <a:t>COPY main.go .</a:t>
            </a:r>
          </a:p>
          <a:p>
            <a:pPr>
              <a:defRPr sz="1800" b="0">
                <a:solidFill>
                  <a:srgbClr val="12283C"/>
                </a:solidFill>
                <a:latin typeface="Consolas"/>
                <a:ea typeface="Consolas"/>
                <a:cs typeface="Consolas"/>
              </a:defRPr>
            </a:pPr>
            <a:r>
              <a:t>RUN CGO_ENABLED=0 go build -o /out/hello main.go</a:t>
            </a:r>
          </a:p>
          <a:p>
            <a:pPr>
              <a:defRPr sz="1800" b="0">
                <a:solidFill>
                  <a:srgbClr val="12283C"/>
                </a:solidFill>
                <a:latin typeface="Consolas"/>
                <a:ea typeface="Consolas"/>
                <a:cs typeface="Consolas"/>
              </a:defRPr>
            </a:pPr>
            <a:endParaRPr/>
          </a:p>
          <a:p>
            <a:pPr>
              <a:defRPr sz="1800" b="0">
                <a:solidFill>
                  <a:srgbClr val="12283C"/>
                </a:solidFill>
                <a:latin typeface="Consolas"/>
                <a:ea typeface="Consolas"/>
                <a:cs typeface="Consolas"/>
              </a:defRPr>
            </a:pPr>
            <a:r>
              <a:t>FROM scratch</a:t>
            </a:r>
          </a:p>
          <a:p>
            <a:pPr>
              <a:defRPr sz="1800" b="0">
                <a:solidFill>
                  <a:srgbClr val="12283C"/>
                </a:solidFill>
                <a:latin typeface="Consolas"/>
                <a:ea typeface="Consolas"/>
                <a:cs typeface="Consolas"/>
              </a:defRPr>
            </a:pPr>
            <a:r>
              <a:t>COPY --from=build /out/hello /hello</a:t>
            </a:r>
          </a:p>
          <a:p>
            <a:pPr>
              <a:defRPr sz="1800" b="0">
                <a:solidFill>
                  <a:srgbClr val="12283C"/>
                </a:solidFill>
                <a:latin typeface="Consolas"/>
                <a:ea typeface="Consolas"/>
                <a:cs typeface="Consolas"/>
              </a:defRPr>
            </a:pPr>
            <a:r>
              <a:t>USER 10001:10001</a:t>
            </a:r>
          </a:p>
          <a:p>
            <a:pPr>
              <a:defRPr sz="1800" b="0">
                <a:solidFill>
                  <a:srgbClr val="12283C"/>
                </a:solidFill>
                <a:latin typeface="Consolas"/>
                <a:ea typeface="Consolas"/>
                <a:cs typeface="Consolas"/>
              </a:defRPr>
            </a:pPr>
            <a:r>
              <a:t>ENTRYPOINT ["/hello"]</a:t>
            </a:r>
          </a:p>
        </p:txBody>
      </p:sp>
      <p:sp>
        <p:nvSpPr>
          <p:cNvPr id="5" name="editable-bullet-list">
            <a:extLst>
              <a:ext uri="{FF2B5EF4-FFF2-40B4-BE49-F238E27FC236}">
                <a16:creationId xmlns:a16="http://schemas.microsoft.com/office/drawing/2014/main" id="{A9E4C43A-039B-4A9A-864A-A748D653BF75}"/>
              </a:ext>
            </a:extLst>
          </p:cNvPr>
          <p:cNvSpPr>
            <a:spLocks noGrp="1"/>
          </p:cNvSpPr>
          <p:nvPr/>
        </p:nvSpPr>
        <p:spPr>
          <a:xfrm>
            <a:off x="609600" y="5050155"/>
            <a:ext cx="10934700" cy="1217295"/>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The final image contains the compiled program. The compiler remains in the build stage.</a:t>
            </a:r>
          </a:p>
        </p:txBody>
      </p:sp>
    </p:spTree>
    <p:extLst>
      <p:ext uri="{BB962C8B-B14F-4D97-AF65-F5344CB8AC3E}">
        <p14:creationId xmlns:p14="http://schemas.microsoft.com/office/powerpoint/2010/main" val="18365424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F352FE94-AE5E-4375-8E77-CC261546BA27}"/>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Troubleshooting</a:t>
            </a:r>
          </a:p>
        </p:txBody>
      </p:sp>
      <p:sp>
        <p:nvSpPr>
          <p:cNvPr id="2" name="slide-title">
            <a:extLst>
              <a:ext uri="{FF2B5EF4-FFF2-40B4-BE49-F238E27FC236}">
                <a16:creationId xmlns:a16="http://schemas.microsoft.com/office/drawing/2014/main" id="{19203025-1344-40B9-B0D6-6C44B2DEEEA0}"/>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Symptoms and useful first checks</a:t>
            </a:r>
          </a:p>
        </p:txBody>
      </p:sp>
      <p:sp>
        <p:nvSpPr>
          <p:cNvPr id="3" name="editable-bullet-list">
            <a:extLst>
              <a:ext uri="{FF2B5EF4-FFF2-40B4-BE49-F238E27FC236}">
                <a16:creationId xmlns:a16="http://schemas.microsoft.com/office/drawing/2014/main" id="{C315BB53-2764-4794-B5EA-DB35EEF29636}"/>
              </a:ext>
            </a:extLst>
          </p:cNvPr>
          <p:cNvSpPr>
            <a:spLocks noGrp="1"/>
          </p:cNvSpPr>
          <p:nvPr/>
        </p:nvSpPr>
        <p:spPr>
          <a:xfrm>
            <a:off x="609600" y="1762125"/>
            <a:ext cx="5143500" cy="4362450"/>
          </a:xfrm>
          <a:prstGeom prst="rect">
            <a:avLst/>
          </a:prstGeom>
          <a:noFill/>
          <a:ln w="0">
            <a:noFill/>
          </a:ln>
        </p:spPr>
        <p:txBody>
          <a:bodyPr wrap="square" lIns="0" tIns="0" rIns="0" bIns="0" anchor="t">
            <a:noAutofit/>
          </a:bodyPr>
          <a:lstStyle/>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Cannot connect to the daemon</a:t>
            </a:r>
          </a:p>
          <a:p>
            <a:pPr marL="279400" indent="0">
              <a:spcAft>
                <a:spcPts val="750"/>
              </a:spcAft>
              <a:defRPr sz="1950" b="0">
                <a:solidFill>
                  <a:srgbClr val="12283C"/>
                </a:solidFill>
                <a:latin typeface="Segoe UI"/>
                <a:ea typeface="Segoe UI"/>
                <a:cs typeface="Segoe UI"/>
              </a:defRPr>
            </a:pPr>
            <a:r>
              <a:rPr sz="1800">
                <a:solidFill>
                  <a:srgbClr val="4E6271"/>
                </a:solidFill>
              </a:rPr>
              <a:t>Check docker version and docker context ls. The engine may be stopped or the context wrong.</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Container name already in use</a:t>
            </a:r>
          </a:p>
          <a:p>
            <a:pPr marL="279400" indent="0">
              <a:spcAft>
                <a:spcPts val="750"/>
              </a:spcAft>
              <a:defRPr sz="1950" b="0">
                <a:solidFill>
                  <a:srgbClr val="12283C"/>
                </a:solidFill>
                <a:latin typeface="Segoe UI"/>
                <a:ea typeface="Segoe UI"/>
                <a:cs typeface="Segoe UI"/>
              </a:defRPr>
            </a:pPr>
            <a:r>
              <a:rPr sz="1800">
                <a:solidFill>
                  <a:srgbClr val="4E6271"/>
                </a:solidFill>
              </a:rPr>
              <a:t>Run docker ps -a to find the previous container.</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Port already allocated</a:t>
            </a:r>
          </a:p>
          <a:p>
            <a:pPr marL="279400" indent="0">
              <a:spcAft>
                <a:spcPts val="0"/>
              </a:spcAft>
              <a:defRPr sz="1950" b="0">
                <a:solidFill>
                  <a:srgbClr val="12283C"/>
                </a:solidFill>
                <a:latin typeface="Segoe UI"/>
                <a:ea typeface="Segoe UI"/>
                <a:cs typeface="Segoe UI"/>
              </a:defRPr>
            </a:pPr>
            <a:r>
              <a:rPr sz="1800">
                <a:solidFill>
                  <a:srgbClr val="4E6271"/>
                </a:solidFill>
              </a:rPr>
              <a:t>Check existing containers and host listeners for an occupied address and port.</a:t>
            </a:r>
          </a:p>
        </p:txBody>
      </p:sp>
      <p:sp>
        <p:nvSpPr>
          <p:cNvPr id="4" name="editable-bullet-list">
            <a:extLst>
              <a:ext uri="{FF2B5EF4-FFF2-40B4-BE49-F238E27FC236}">
                <a16:creationId xmlns:a16="http://schemas.microsoft.com/office/drawing/2014/main" id="{235752BE-2CC5-4034-9419-87C3FBAF09EE}"/>
              </a:ext>
            </a:extLst>
          </p:cNvPr>
          <p:cNvSpPr>
            <a:spLocks noGrp="1"/>
          </p:cNvSpPr>
          <p:nvPr/>
        </p:nvSpPr>
        <p:spPr>
          <a:xfrm>
            <a:off x="6362700" y="1762125"/>
            <a:ext cx="5181600" cy="4362450"/>
          </a:xfrm>
          <a:prstGeom prst="rect">
            <a:avLst/>
          </a:prstGeom>
          <a:noFill/>
          <a:ln w="0">
            <a:noFill/>
          </a:ln>
        </p:spPr>
        <p:txBody>
          <a:bodyPr wrap="square" lIns="0" tIns="0" rIns="0" bIns="0" anchor="t">
            <a:noAutofit/>
          </a:bodyPr>
          <a:lstStyle/>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Container exits immediately</a:t>
            </a:r>
          </a:p>
          <a:p>
            <a:pPr marL="279400" indent="0">
              <a:spcAft>
                <a:spcPts val="750"/>
              </a:spcAft>
              <a:defRPr sz="1950" b="0">
                <a:solidFill>
                  <a:srgbClr val="12283C"/>
                </a:solidFill>
                <a:latin typeface="Segoe UI"/>
                <a:ea typeface="Segoe UI"/>
                <a:cs typeface="Segoe UI"/>
              </a:defRPr>
            </a:pPr>
            <a:r>
              <a:rPr sz="1800">
                <a:solidFill>
                  <a:srgbClr val="4E6271"/>
                </a:solidFill>
              </a:rPr>
              <a:t>Check logs and exit status. The command may have completed or startup may have failed.</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COPY source missing</a:t>
            </a:r>
          </a:p>
          <a:p>
            <a:pPr marL="279400" indent="0">
              <a:spcAft>
                <a:spcPts val="750"/>
              </a:spcAft>
              <a:defRPr sz="1950" b="0">
                <a:solidFill>
                  <a:srgbClr val="12283C"/>
                </a:solidFill>
                <a:latin typeface="Segoe UI"/>
                <a:ea typeface="Segoe UI"/>
                <a:cs typeface="Segoe UI"/>
              </a:defRPr>
            </a:pPr>
            <a:r>
              <a:rPr sz="1800">
                <a:solidFill>
                  <a:srgbClr val="4E6271"/>
                </a:solidFill>
              </a:rPr>
              <a:t>Check the context directory, source path, and .dockerignore rules.</a:t>
            </a:r>
          </a:p>
          <a:p>
            <a:pPr marL="279400" indent="-165100">
              <a:spcAft>
                <a:spcPts val="200"/>
              </a:spcAft>
              <a:buChar char="•"/>
              <a:defRPr sz="1950" b="0">
                <a:solidFill>
                  <a:srgbClr val="12283C"/>
                </a:solidFill>
                <a:latin typeface="Segoe UI"/>
                <a:ea typeface="Segoe UI"/>
                <a:cs typeface="Segoe UI"/>
              </a:defRPr>
            </a:pPr>
            <a:r>
              <a:rPr sz="1950" b="1">
                <a:solidFill>
                  <a:srgbClr val="12283C"/>
                </a:solidFill>
              </a:rPr>
              <a:t>Old content after a rebuild</a:t>
            </a:r>
          </a:p>
          <a:p>
            <a:pPr marL="279400" indent="0">
              <a:spcAft>
                <a:spcPts val="0"/>
              </a:spcAft>
              <a:defRPr sz="1950" b="0">
                <a:solidFill>
                  <a:srgbClr val="12283C"/>
                </a:solidFill>
                <a:latin typeface="Segoe UI"/>
                <a:ea typeface="Segoe UI"/>
                <a:cs typeface="Segoe UI"/>
              </a:defRPr>
            </a:pPr>
            <a:r>
              <a:rPr sz="1800">
                <a:solidFill>
                  <a:srgbClr val="4E6271"/>
                </a:solidFill>
              </a:rPr>
              <a:t>Check the image reference, mounts, and replacement step. An old container or bind mount may explain it.</a:t>
            </a:r>
          </a:p>
        </p:txBody>
      </p:sp>
    </p:spTree>
    <p:extLst>
      <p:ext uri="{BB962C8B-B14F-4D97-AF65-F5344CB8AC3E}">
        <p14:creationId xmlns:p14="http://schemas.microsoft.com/office/powerpoint/2010/main" val="15663512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9" name="section-label">
            <a:extLst>
              <a:ext uri="{FF2B5EF4-FFF2-40B4-BE49-F238E27FC236}">
                <a16:creationId xmlns:a16="http://schemas.microsoft.com/office/drawing/2014/main" id="{958F103D-4714-4BAA-90F5-414ED7EC7529}"/>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Worked sequence</a:t>
            </a:r>
          </a:p>
        </p:txBody>
      </p:sp>
      <p:sp>
        <p:nvSpPr>
          <p:cNvPr id="2" name="slide-title">
            <a:extLst>
              <a:ext uri="{FF2B5EF4-FFF2-40B4-BE49-F238E27FC236}">
                <a16:creationId xmlns:a16="http://schemas.microsoft.com/office/drawing/2014/main" id="{B14DEC50-32AD-4066-82C0-820461CE5B20}"/>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A complete local build-and-run cycle</a:t>
            </a:r>
          </a:p>
        </p:txBody>
      </p:sp>
      <p:sp>
        <p:nvSpPr>
          <p:cNvPr id="3" name="code-label">
            <a:extLst>
              <a:ext uri="{FF2B5EF4-FFF2-40B4-BE49-F238E27FC236}">
                <a16:creationId xmlns:a16="http://schemas.microsoft.com/office/drawing/2014/main" id="{6E96A3B6-7A9A-43BB-BB7A-2CC3646148FC}"/>
              </a:ext>
            </a:extLst>
          </p:cNvPr>
          <p:cNvSpPr>
            <a:spLocks noGrp="1"/>
          </p:cNvSpPr>
          <p:nvPr/>
        </p:nvSpPr>
        <p:spPr>
          <a:xfrm>
            <a:off x="609600" y="1743075"/>
            <a:ext cx="10934700" cy="247650"/>
          </a:xfrm>
          <a:prstGeom prst="rect">
            <a:avLst/>
          </a:prstGeom>
          <a:noFill/>
          <a:ln w="0">
            <a:noFill/>
          </a:ln>
        </p:spPr>
        <p:txBody>
          <a:bodyPr wrap="square" lIns="0" tIns="0" rIns="0" bIns="0" anchor="t">
            <a:noAutofit/>
          </a:bodyPr>
          <a:lstStyle/>
          <a:p>
            <a:pPr>
              <a:defRPr sz="1275" b="1">
                <a:solidFill>
                  <a:srgbClr val="007A75"/>
                </a:solidFill>
                <a:latin typeface="Segoe UI"/>
                <a:ea typeface="Segoe UI"/>
                <a:cs typeface="Segoe UI"/>
              </a:defRPr>
            </a:pPr>
            <a:r>
              <a:t>Run from examples/course-api</a:t>
            </a:r>
          </a:p>
        </p:txBody>
      </p:sp>
      <p:sp>
        <p:nvSpPr>
          <p:cNvPr id="4" name="editable-code">
            <a:extLst>
              <a:ext uri="{FF2B5EF4-FFF2-40B4-BE49-F238E27FC236}">
                <a16:creationId xmlns:a16="http://schemas.microsoft.com/office/drawing/2014/main" id="{E3758CDF-8367-4C14-8D67-A2D86B20E9A8}"/>
              </a:ext>
            </a:extLst>
          </p:cNvPr>
          <p:cNvSpPr>
            <a:spLocks noGrp="1"/>
          </p:cNvSpPr>
          <p:nvPr/>
        </p:nvSpPr>
        <p:spPr>
          <a:xfrm>
            <a:off x="609600" y="2028825"/>
            <a:ext cx="10934700" cy="2044446"/>
          </a:xfrm>
          <a:prstGeom prst="rect">
            <a:avLst/>
          </a:prstGeom>
          <a:noFill/>
          <a:ln w="0">
            <a:noFill/>
          </a:ln>
        </p:spPr>
        <p:txBody>
          <a:bodyPr wrap="square" lIns="0" tIns="0" rIns="0" bIns="0" anchor="t">
            <a:noAutofit/>
          </a:bodyPr>
          <a:lstStyle/>
          <a:p>
            <a:pPr>
              <a:defRPr sz="1800" b="0">
                <a:solidFill>
                  <a:srgbClr val="12283C"/>
                </a:solidFill>
                <a:latin typeface="Consolas"/>
                <a:ea typeface="Consolas"/>
                <a:cs typeface="Consolas"/>
              </a:defRPr>
            </a:pPr>
            <a:r>
              <a:t>docker version</a:t>
            </a:r>
          </a:p>
          <a:p>
            <a:pPr>
              <a:defRPr sz="1800" b="0">
                <a:solidFill>
                  <a:srgbClr val="12283C"/>
                </a:solidFill>
                <a:latin typeface="Consolas"/>
                <a:ea typeface="Consolas"/>
                <a:cs typeface="Consolas"/>
              </a:defRPr>
            </a:pPr>
            <a:r>
              <a:t>docker build -t csc418/course-api:1.0 .</a:t>
            </a:r>
          </a:p>
          <a:p>
            <a:pPr>
              <a:defRPr sz="1800" b="0">
                <a:solidFill>
                  <a:srgbClr val="12283C"/>
                </a:solidFill>
                <a:latin typeface="Consolas"/>
                <a:ea typeface="Consolas"/>
                <a:cs typeface="Consolas"/>
              </a:defRPr>
            </a:pPr>
            <a:r>
              <a:t>docker run -d --name l10-api-final -p 127.0.0.1:8010:8000 csc418/course-api:1.0</a:t>
            </a:r>
          </a:p>
          <a:p>
            <a:pPr>
              <a:defRPr sz="1800" b="0">
                <a:solidFill>
                  <a:srgbClr val="12283C"/>
                </a:solidFill>
                <a:latin typeface="Consolas"/>
                <a:ea typeface="Consolas"/>
                <a:cs typeface="Consolas"/>
              </a:defRPr>
            </a:pPr>
            <a:r>
              <a:t>docker ps</a:t>
            </a:r>
          </a:p>
          <a:p>
            <a:pPr>
              <a:defRPr sz="1800" b="0">
                <a:solidFill>
                  <a:srgbClr val="12283C"/>
                </a:solidFill>
                <a:latin typeface="Consolas"/>
                <a:ea typeface="Consolas"/>
                <a:cs typeface="Consolas"/>
              </a:defRPr>
            </a:pPr>
            <a:r>
              <a:t>docker logs l10-api-final</a:t>
            </a:r>
          </a:p>
          <a:p>
            <a:pPr>
              <a:defRPr sz="1800" b="0">
                <a:solidFill>
                  <a:srgbClr val="12283C"/>
                </a:solidFill>
                <a:latin typeface="Consolas"/>
                <a:ea typeface="Consolas"/>
                <a:cs typeface="Consolas"/>
              </a:defRPr>
            </a:pPr>
            <a:r>
              <a:t>docker stop l10-api-final</a:t>
            </a:r>
          </a:p>
          <a:p>
            <a:pPr>
              <a:defRPr sz="1800" b="0">
                <a:solidFill>
                  <a:srgbClr val="12283C"/>
                </a:solidFill>
                <a:latin typeface="Consolas"/>
                <a:ea typeface="Consolas"/>
                <a:cs typeface="Consolas"/>
              </a:defRPr>
            </a:pPr>
            <a:r>
              <a:t>docker rm l10-api-final</a:t>
            </a:r>
          </a:p>
        </p:txBody>
      </p:sp>
      <p:sp>
        <p:nvSpPr>
          <p:cNvPr id="5" name="editable-bullet-list">
            <a:extLst>
              <a:ext uri="{FF2B5EF4-FFF2-40B4-BE49-F238E27FC236}">
                <a16:creationId xmlns:a16="http://schemas.microsoft.com/office/drawing/2014/main" id="{AA378C2F-1785-41CE-8792-F100EE4AC2AB}"/>
              </a:ext>
            </a:extLst>
          </p:cNvPr>
          <p:cNvSpPr>
            <a:spLocks noGrp="1"/>
          </p:cNvSpPr>
          <p:nvPr/>
        </p:nvSpPr>
        <p:spPr>
          <a:xfrm>
            <a:off x="609600" y="4206621"/>
            <a:ext cx="10934700" cy="1689354"/>
          </a:xfrm>
          <a:prstGeom prst="rect">
            <a:avLst/>
          </a:prstGeom>
          <a:noFill/>
          <a:ln w="0">
            <a:noFill/>
          </a:ln>
        </p:spPr>
        <p:txBody>
          <a:bodyPr wrap="square" lIns="0" tIns="0" rIns="0" bIns="0" anchor="t">
            <a:noAutofit/>
          </a:bodyPr>
          <a:lstStyle/>
          <a:p>
            <a:pPr marL="279400" indent="-165100">
              <a:spcAft>
                <a:spcPts val="0"/>
              </a:spcAft>
              <a:buChar char="•"/>
              <a:defRPr sz="2250" b="0">
                <a:solidFill>
                  <a:srgbClr val="12283C"/>
                </a:solidFill>
                <a:latin typeface="Segoe UI"/>
                <a:ea typeface="Segoe UI"/>
                <a:cs typeface="Segoe UI"/>
              </a:defRPr>
            </a:pPr>
            <a:r>
              <a:rPr sz="2250" b="0">
                <a:solidFill>
                  <a:srgbClr val="12283C"/>
                </a:solidFill>
              </a:rPr>
              <a:t>Before stopping the container, open http://localhost:8010/ and /health.</a:t>
            </a:r>
          </a:p>
        </p:txBody>
      </p:sp>
      <p:sp>
        <p:nvSpPr>
          <p:cNvPr id="6" name="key-point">
            <a:extLst>
              <a:ext uri="{FF2B5EF4-FFF2-40B4-BE49-F238E27FC236}">
                <a16:creationId xmlns:a16="http://schemas.microsoft.com/office/drawing/2014/main" id="{195EA12F-0EBB-45AD-B5FA-4F588CE4F036}"/>
              </a:ext>
            </a:extLst>
          </p:cNvPr>
          <p:cNvSpPr>
            <a:spLocks noGrp="1"/>
          </p:cNvSpPr>
          <p:nvPr/>
        </p:nvSpPr>
        <p:spPr>
          <a:xfrm>
            <a:off x="628650" y="5876925"/>
            <a:ext cx="10896600" cy="37147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Evidence: a built image, a running instance, an HTTP response, and deliberate cleanup.</a:t>
            </a:r>
          </a:p>
        </p:txBody>
      </p:sp>
    </p:spTree>
    <p:extLst>
      <p:ext uri="{BB962C8B-B14F-4D97-AF65-F5344CB8AC3E}">
        <p14:creationId xmlns:p14="http://schemas.microsoft.com/office/powerpoint/2010/main" val="5643808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28F0E010-B52C-4232-BF72-17BC259835F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Next lecture</a:t>
            </a:r>
          </a:p>
        </p:txBody>
      </p:sp>
      <p:sp>
        <p:nvSpPr>
          <p:cNvPr id="2" name="slide-title">
            <a:extLst>
              <a:ext uri="{FF2B5EF4-FFF2-40B4-BE49-F238E27FC236}">
                <a16:creationId xmlns:a16="http://schemas.microsoft.com/office/drawing/2014/main" id="{628CD6B0-D1D6-4C64-9DF9-BCEB78475D67}"/>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Preparing for Docker Compose</a:t>
            </a:r>
          </a:p>
        </p:txBody>
      </p:sp>
      <p:sp>
        <p:nvSpPr>
          <p:cNvPr id="3" name="editable-bullet-list">
            <a:extLst>
              <a:ext uri="{FF2B5EF4-FFF2-40B4-BE49-F238E27FC236}">
                <a16:creationId xmlns:a16="http://schemas.microsoft.com/office/drawing/2014/main" id="{7B933CDB-A76F-4452-9E27-8AB0A32F3DB7}"/>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Dockerfile defines how one image is built.</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Runtime settings connect a container to ports, configuration, networks, and storage.</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A multi-container application needs these settings coordinated across services.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The next lecture introduces Docker Compose for describing that environment.</a:t>
            </a:r>
          </a:p>
        </p:txBody>
      </p:sp>
    </p:spTree>
    <p:extLst>
      <p:ext uri="{BB962C8B-B14F-4D97-AF65-F5344CB8AC3E}">
        <p14:creationId xmlns:p14="http://schemas.microsoft.com/office/powerpoint/2010/main" val="18100408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6" name="section-label">
            <a:extLst>
              <a:ext uri="{FF2B5EF4-FFF2-40B4-BE49-F238E27FC236}">
                <a16:creationId xmlns:a16="http://schemas.microsoft.com/office/drawing/2014/main" id="{D6C5FBB0-5008-4832-9AE5-9D71E626268D}"/>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Reading</a:t>
            </a:r>
          </a:p>
        </p:txBody>
      </p:sp>
      <p:sp>
        <p:nvSpPr>
          <p:cNvPr id="2" name="slide-title">
            <a:extLst>
              <a:ext uri="{FF2B5EF4-FFF2-40B4-BE49-F238E27FC236}">
                <a16:creationId xmlns:a16="http://schemas.microsoft.com/office/drawing/2014/main" id="{6FA18382-CCA3-4EFE-B8D6-71E3A6F14D9C}"/>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Docker documentation for this lecture</a:t>
            </a:r>
          </a:p>
        </p:txBody>
      </p:sp>
      <p:sp>
        <p:nvSpPr>
          <p:cNvPr id="3" name="editable-bullet-list">
            <a:extLst>
              <a:ext uri="{FF2B5EF4-FFF2-40B4-BE49-F238E27FC236}">
                <a16:creationId xmlns:a16="http://schemas.microsoft.com/office/drawing/2014/main" id="{F809E274-C5B2-4E2B-BB03-6EE1FD4F81E1}"/>
              </a:ext>
            </a:extLst>
          </p:cNvPr>
          <p:cNvSpPr>
            <a:spLocks noGrp="1"/>
          </p:cNvSpPr>
          <p:nvPr/>
        </p:nvSpPr>
        <p:spPr>
          <a:xfrm>
            <a:off x="609600" y="1771650"/>
            <a:ext cx="10934700" cy="4429125"/>
          </a:xfrm>
          <a:prstGeom prst="rect">
            <a:avLst/>
          </a:prstGeom>
          <a:noFill/>
          <a:ln w="0">
            <a:noFill/>
          </a:ln>
        </p:spPr>
        <p:txBody>
          <a:bodyPr wrap="square" lIns="0" tIns="0" rIns="0" bIns="0" anchor="t">
            <a:noAutofit/>
          </a:bodyPr>
          <a:lstStyle/>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Command references: run, exec, stop, logs, inspect, image pull, tag, and push.</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Image construction: Dockerfile reference, build context, build cache, and best practices.</a:t>
            </a:r>
          </a:p>
          <a:p>
            <a:pPr marL="279400" indent="-165100">
              <a:spcAft>
                <a:spcPts val="1125"/>
              </a:spcAft>
              <a:buChar char="•"/>
              <a:defRPr sz="2250" b="0">
                <a:solidFill>
                  <a:srgbClr val="12283C"/>
                </a:solidFill>
                <a:latin typeface="Segoe UI"/>
                <a:ea typeface="Segoe UI"/>
                <a:cs typeface="Segoe UI"/>
              </a:defRPr>
            </a:pPr>
            <a:r>
              <a:rPr sz="2250" b="0">
                <a:solidFill>
                  <a:srgbClr val="12283C"/>
                </a:solidFill>
              </a:rPr>
              <a:t>Runtime behavior: networking, storage, resource constraints, and restart policies.</a:t>
            </a:r>
          </a:p>
          <a:p>
            <a:pPr marL="279400" indent="-165100">
              <a:spcAft>
                <a:spcPts val="0"/>
              </a:spcAft>
              <a:buChar char="•"/>
              <a:defRPr sz="2250" b="0">
                <a:solidFill>
                  <a:srgbClr val="12283C"/>
                </a:solidFill>
                <a:latin typeface="Segoe UI"/>
                <a:ea typeface="Segoe UI"/>
                <a:cs typeface="Segoe UI"/>
              </a:defRPr>
            </a:pPr>
            <a:r>
              <a:rPr sz="2250" b="0">
                <a:solidFill>
                  <a:srgbClr val="12283C"/>
                </a:solidFill>
              </a:rPr>
              <a:t>Extensions: multi-stage builds, build secrets, and the official image catalogs.</a:t>
            </a:r>
          </a:p>
        </p:txBody>
      </p:sp>
    </p:spTree>
    <p:extLst>
      <p:ext uri="{BB962C8B-B14F-4D97-AF65-F5344CB8AC3E}">
        <p14:creationId xmlns:p14="http://schemas.microsoft.com/office/powerpoint/2010/main" val="683117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7" name="section-label">
            <a:extLst>
              <a:ext uri="{FF2B5EF4-FFF2-40B4-BE49-F238E27FC236}">
                <a16:creationId xmlns:a16="http://schemas.microsoft.com/office/drawing/2014/main" id="{2F3960CA-EAA6-441D-B8C4-B9E85114B62A}"/>
              </a:ext>
            </a:extLst>
          </p:cNvPr>
          <p:cNvSpPr>
            <a:spLocks noGrp="1"/>
          </p:cNvSpPr>
          <p:nvPr/>
        </p:nvSpPr>
        <p:spPr>
          <a:xfrm>
            <a:off x="609600" y="323850"/>
            <a:ext cx="10896600" cy="247650"/>
          </a:xfrm>
          <a:prstGeom prst="rect">
            <a:avLst/>
          </a:prstGeom>
          <a:noFill/>
          <a:ln w="0">
            <a:noFill/>
          </a:ln>
        </p:spPr>
        <p:txBody>
          <a:bodyPr wrap="square" lIns="0" tIns="0" rIns="0" bIns="0" anchor="t">
            <a:noAutofit/>
          </a:bodyPr>
          <a:lstStyle/>
          <a:p>
            <a:pPr>
              <a:defRPr sz="1350" b="1">
                <a:solidFill>
                  <a:srgbClr val="007A75"/>
                </a:solidFill>
                <a:latin typeface="Segoe UI"/>
                <a:ea typeface="Segoe UI"/>
                <a:cs typeface="Segoe UI"/>
              </a:defRPr>
            </a:pPr>
            <a:r>
              <a:t>Part 2 / Book reference</a:t>
            </a:r>
          </a:p>
        </p:txBody>
      </p:sp>
      <p:sp>
        <p:nvSpPr>
          <p:cNvPr id="2" name="slide-title">
            <a:extLst>
              <a:ext uri="{FF2B5EF4-FFF2-40B4-BE49-F238E27FC236}">
                <a16:creationId xmlns:a16="http://schemas.microsoft.com/office/drawing/2014/main" id="{B3C90C72-C177-4D1A-AED9-2F4C8946C96D}"/>
              </a:ext>
            </a:extLst>
          </p:cNvPr>
          <p:cNvSpPr>
            <a:spLocks noGrp="1"/>
          </p:cNvSpPr>
          <p:nvPr/>
        </p:nvSpPr>
        <p:spPr>
          <a:xfrm>
            <a:off x="590550" y="714375"/>
            <a:ext cx="10953750" cy="981075"/>
          </a:xfrm>
          <a:prstGeom prst="rect">
            <a:avLst/>
          </a:prstGeom>
          <a:noFill/>
          <a:ln w="0">
            <a:noFill/>
          </a:ln>
        </p:spPr>
        <p:txBody>
          <a:bodyPr wrap="square" lIns="0" tIns="0" rIns="0" bIns="0" anchor="t">
            <a:noAutofit/>
          </a:bodyPr>
          <a:lstStyle/>
          <a:p>
            <a:pPr>
              <a:defRPr sz="3450" b="1">
                <a:solidFill>
                  <a:srgbClr val="12283C"/>
                </a:solidFill>
                <a:latin typeface="Segoe UI"/>
                <a:ea typeface="Segoe UI"/>
                <a:cs typeface="Segoe UI"/>
              </a:defRPr>
            </a:pPr>
            <a:r>
              <a:t>Practical DevOps</a:t>
            </a:r>
          </a:p>
        </p:txBody>
      </p:sp>
      <p:sp>
        <p:nvSpPr>
          <p:cNvPr id="3" name="editable-bullet-list">
            <a:extLst>
              <a:ext uri="{FF2B5EF4-FFF2-40B4-BE49-F238E27FC236}">
                <a16:creationId xmlns:a16="http://schemas.microsoft.com/office/drawing/2014/main" id="{4C4321AC-D129-4571-B7BD-FA899FF80D5C}"/>
              </a:ext>
            </a:extLst>
          </p:cNvPr>
          <p:cNvSpPr>
            <a:spLocks noGrp="1"/>
          </p:cNvSpPr>
          <p:nvPr/>
        </p:nvSpPr>
        <p:spPr>
          <a:xfrm>
            <a:off x="609600" y="1771650"/>
            <a:ext cx="10934700" cy="4000500"/>
          </a:xfrm>
          <a:prstGeom prst="rect">
            <a:avLst/>
          </a:prstGeom>
          <a:noFill/>
          <a:ln w="0">
            <a:noFill/>
          </a:ln>
        </p:spPr>
        <p:txBody>
          <a:bodyPr wrap="square" lIns="0" tIns="0" rIns="0" bIns="0" anchor="t">
            <a:noAutofit/>
          </a:bodyPr>
          <a:lstStyle/>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Joakim Verona</a:t>
            </a:r>
          </a:p>
          <a:p>
            <a:pPr marL="279400" indent="0">
              <a:spcAft>
                <a:spcPts val="1425"/>
              </a:spcAft>
              <a:defRPr sz="2325" b="0">
                <a:solidFill>
                  <a:srgbClr val="12283C"/>
                </a:solidFill>
                <a:latin typeface="Segoe UI"/>
                <a:ea typeface="Segoe UI"/>
                <a:cs typeface="Segoe UI"/>
              </a:defRPr>
            </a:pPr>
            <a:r>
              <a:rPr sz="2100">
                <a:solidFill>
                  <a:srgbClr val="4E6271"/>
                </a:solidFill>
              </a:rPr>
              <a:t>Packt Publishing, first edition, February 2016</a:t>
            </a:r>
          </a:p>
          <a:p>
            <a:pPr marL="279400" indent="-165100">
              <a:spcAft>
                <a:spcPts val="200"/>
              </a:spcAft>
              <a:buChar char="•"/>
              <a:defRPr sz="2325" b="0">
                <a:solidFill>
                  <a:srgbClr val="12283C"/>
                </a:solidFill>
                <a:latin typeface="Segoe UI"/>
                <a:ea typeface="Segoe UI"/>
                <a:cs typeface="Segoe UI"/>
              </a:defRPr>
            </a:pPr>
            <a:r>
              <a:rPr sz="2325" b="1">
                <a:solidFill>
                  <a:srgbClr val="12283C"/>
                </a:solidFill>
              </a:rPr>
              <a:t>Supporting sections</a:t>
            </a:r>
          </a:p>
          <a:p>
            <a:pPr marL="279400" indent="0">
              <a:spcAft>
                <a:spcPts val="1425"/>
              </a:spcAft>
              <a:defRPr sz="2325" b="0">
                <a:solidFill>
                  <a:srgbClr val="12283C"/>
                </a:solidFill>
                <a:latin typeface="Segoe UI"/>
                <a:ea typeface="Segoe UI"/>
                <a:cs typeface="Segoe UI"/>
              </a:defRPr>
            </a:pPr>
            <a:r>
              <a:rPr sz="2100">
                <a:solidFill>
                  <a:srgbClr val="4E6271"/>
                </a:solidFill>
              </a:rPr>
              <a:t>Chapter 4, “Docker intermission,” pp. 52–53, and Chapter 7, “Deploying with Docker,” p. 130.</a:t>
            </a:r>
          </a:p>
          <a:p>
            <a:pPr marL="279400" indent="-165100">
              <a:spcAft>
                <a:spcPts val="0"/>
              </a:spcAft>
              <a:buChar char="•"/>
              <a:defRPr sz="2325" b="0">
                <a:solidFill>
                  <a:srgbClr val="12283C"/>
                </a:solidFill>
                <a:latin typeface="Segoe UI"/>
                <a:ea typeface="Segoe UI"/>
                <a:cs typeface="Segoe UI"/>
              </a:defRPr>
            </a:pPr>
            <a:r>
              <a:rPr sz="2325" b="0">
                <a:solidFill>
                  <a:srgbClr val="12283C"/>
                </a:solidFill>
              </a:rPr>
              <a:t>Chapter 3, pp. 21–37, supplies the architectural rationale for repeatable, independently manageable deployments.</a:t>
            </a:r>
          </a:p>
        </p:txBody>
      </p:sp>
      <p:sp>
        <p:nvSpPr>
          <p:cNvPr id="4" name="key-point">
            <a:extLst>
              <a:ext uri="{FF2B5EF4-FFF2-40B4-BE49-F238E27FC236}">
                <a16:creationId xmlns:a16="http://schemas.microsoft.com/office/drawing/2014/main" id="{60236F2F-27A3-4041-8F6E-33A670646B31}"/>
              </a:ext>
            </a:extLst>
          </p:cNvPr>
          <p:cNvSpPr>
            <a:spLocks noGrp="1"/>
          </p:cNvSpPr>
          <p:nvPr/>
        </p:nvSpPr>
        <p:spPr>
          <a:xfrm>
            <a:off x="628650" y="5819775"/>
            <a:ext cx="10896600" cy="428625"/>
          </a:xfrm>
          <a:prstGeom prst="rect">
            <a:avLst/>
          </a:prstGeom>
          <a:noFill/>
          <a:ln w="0">
            <a:noFill/>
          </a:ln>
        </p:spPr>
        <p:txBody>
          <a:bodyPr wrap="square" lIns="0" tIns="0" rIns="0" bIns="0" anchor="t">
            <a:noAutofit/>
          </a:bodyPr>
          <a:lstStyle/>
          <a:p>
            <a:pPr>
              <a:defRPr sz="1800" b="1">
                <a:solidFill>
                  <a:srgbClr val="007A75"/>
                </a:solidFill>
                <a:latin typeface="Segoe UI"/>
                <a:ea typeface="Segoe UI"/>
                <a:cs typeface="Segoe UI"/>
              </a:defRPr>
            </a:pPr>
            <a:r>
              <a:t>Docker commands and Dockerfile behavior in this lecture follow the current official documentation.</a:t>
            </a:r>
          </a:p>
        </p:txBody>
      </p:sp>
    </p:spTree>
    <p:extLst>
      <p:ext uri="{BB962C8B-B14F-4D97-AF65-F5344CB8AC3E}">
        <p14:creationId xmlns:p14="http://schemas.microsoft.com/office/powerpoint/2010/main" val="10146617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20269</Words>
  <Application>Microsoft Office PowerPoint</Application>
  <DocSecurity>0</DocSecurity>
  <PresentationFormat>Widescreen</PresentationFormat>
  <Paragraphs>2053</Paragraphs>
  <Slides>74</Slides>
  <Notes>74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74</vt:i4>
      </vt:variant>
    </vt:vector>
  </HeadingPairs>
  <TitlesOfParts>
    <vt:vector size="7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Mr.Muhammad Kamran</cp:lastModifiedBy>
  <cp:revision>2</cp:revision>
  <dcterms:created xsi:type="dcterms:W3CDTF">2026-09-26T13:06:32Z</dcterms:created>
  <dcterms:modified xsi:type="dcterms:W3CDTF">2026-09-29T04:03:23Z</dcterms:modified>
</cp:coreProperties>
</file>